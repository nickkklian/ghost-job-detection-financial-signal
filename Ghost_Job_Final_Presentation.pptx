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?>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0" roundtripDataSignature="AMtx7mg5yVDt9okFJ7ohBZQOileWFwTD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2005600-F0F1-4CD3-83A6-77999014D7D3}">
  <a:tblStyle styleId="{92005600-F0F1-4CD3-83A6-77999014D7D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customschemas.google.com/relationships/presentationmetadata" Target="metadata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slide" Target="slides/slide33.xml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3" name="Google Shape;16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d93e1c57a8_3_47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d93e1c57a8_3_47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g3d93e1c57a8_3_47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93e1c57a8_3_1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g3d93e1c57a8_3_1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2" name="Google Shape;26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4" name="Google Shape;30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5" name="Google Shape;31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0" name="Google Shape;390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1" name="Google Shape;45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5" name="Google Shape;46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3" name="Google Shape;48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1" name="Google Shape;501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" name="Google Shape;502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g3d93e1c57a8_2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2" name="Google Shape;512;g3d93e1c57a8_2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g3d93e1c57a8_2_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1" name="Google Shape;541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" name="Google Shape;542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d93e1c57a8_3_5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0" name="Google Shape;560;g3d93e1c57a8_3_52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g3d93e1c57a8_3_52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3d93e1c57a8_3_50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0" name="Google Shape;580;g3d93e1c57a8_3_50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1" name="Google Shape;581;g3d93e1c57a8_3_50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0" name="Google Shape;600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1" name="Google Shape;601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9" name="Google Shape;629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0" name="Google Shape;630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1" name="Google Shape;64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2" name="Google Shape;642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5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3d93e1c57a8_2_5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7" name="Google Shape;657;g3d93e1c57a8_2_5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8" name="Google Shape;658;g3d93e1c57a8_2_5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9" name="Google Shape;66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d93e1c57a8_3_32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g3d93e1c57a8_3_3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3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g3d93e1c57a8_3_4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5" name="Google Shape;705;g3d93e1c57a8_3_4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3" name="Google Shape;7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4" name="Google Shape;72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3" name="Google Shape;763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4" name="Google Shape;764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2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4" name="Google Shape;774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5" name="Google Shape;775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8" name="Google Shape;818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9" name="Google Shape;819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8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0" name="Google Shape;840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1" name="Google Shape;841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1" name="Google Shape;851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2" name="Google Shape;852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3d93e1c57a8_3_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5" name="Google Shape;15;g3d93e1c57a8_3_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6" name="Google Shape;16;g3d93e1c57a8_3_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3d93e1c57a8_3_9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g3d93e1c57a8_3_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3d93e1c57a8_3_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g3d93e1c57a8_3_1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g3d93e1c57a8_3_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g3d93e1c57a8_3_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6" name="Google Shape;26;g3d93e1c57a8_3_1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g3d93e1c57a8_3_1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g3d93e1c57a8_3_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g3d93e1c57a8_3_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1" name="Google Shape;31;g3d93e1c57a8_3_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d93e1c57a8_3_24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" name="Google Shape;34;g3d93e1c57a8_3_24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g3d93e1c57a8_3_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d93e1c57a8_3_2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g3d93e1c57a8_3_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d93e1c57a8_3_3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g3d93e1c57a8_3_3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g3d93e1c57a8_3_3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g3d93e1c57a8_3_3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4" name="Google Shape;44;g3d93e1c57a8_3_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3d93e1c57a8_3_37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7" name="Google Shape;47;g3d93e1c57a8_3_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d93e1c57a8_3_40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0" name="Google Shape;50;g3d93e1c57a8_3_40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1" name="Google Shape;51;g3d93e1c57a8_3_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d93e1c57a8_3_4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d93e1c57a8_3_43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62" name="Google Shape;62;g3d93e1c57a8_3_43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63" name="Google Shape;63;g3d93e1c57a8_3_4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d93e1c57a8_3_440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6" name="Google Shape;66;g3d93e1c57a8_3_4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93e1c57a8_3_4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9" name="Google Shape;69;g3d93e1c57a8_3_44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0" name="Google Shape;70;g3d93e1c57a8_3_44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d93e1c57a8_3_4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3" name="Google Shape;73;g3d93e1c57a8_3_44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4" name="Google Shape;74;g3d93e1c57a8_3_44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5" name="Google Shape;75;g3d93e1c57a8_3_44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d93e1c57a8_3_4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8" name="Google Shape;78;g3d93e1c57a8_3_45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d93e1c57a8_3_45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81" name="Google Shape;81;g3d93e1c57a8_3_45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2" name="Google Shape;82;g3d93e1c57a8_3_45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d93e1c57a8_3_45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5" name="Google Shape;85;g3d93e1c57a8_3_45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93e1c57a8_3_46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93e1c57a8_3_46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9" name="Google Shape;89;g3d93e1c57a8_3_46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90" name="Google Shape;90;g3d93e1c57a8_3_46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1" name="Google Shape;91;g3d93e1c57a8_3_4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93e1c57a8_3_46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94" name="Google Shape;94;g3d93e1c57a8_3_46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d93e1c57a8_3_47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7" name="Google Shape;97;g3d93e1c57a8_3_47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8" name="Google Shape;98;g3d93e1c57a8_3_47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93e1c57a8_3_47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?><Relationships xmlns="http://schemas.openxmlformats.org/package/2006/relationships"><Relationship Id="rId11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2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d93e1c57a8_3_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" name="Google Shape;11;g3d93e1c57a8_3_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2" name="Google Shape;12;g3d93e1c57a8_3_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93e1c57a8_3_4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g3d93e1c57a8_3_43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g3d93e1c57a8_3_4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jpg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Relationship Id="rId4" Type="http://schemas.openxmlformats.org/officeDocument/2006/relationships/image" Target="../media/image1.jp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jpg"/><Relationship Id="rId4" Type="http://schemas.openxmlformats.org/officeDocument/2006/relationships/image" Target="../media/image2.jp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png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6.xml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7.xml"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.jpg"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5C3B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"/>
          <p:cNvSpPr/>
          <p:nvPr/>
        </p:nvSpPr>
        <p:spPr>
          <a:xfrm>
            <a:off x="6126480" y="0"/>
            <a:ext cx="3017400" cy="5143500"/>
          </a:xfrm>
          <a:prstGeom prst="rect">
            <a:avLst/>
          </a:prstGeom>
          <a:solidFill>
            <a:srgbClr val="002145"/>
          </a:solidFill>
          <a:ln cap="flat" cmpd="sng" w="1270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"/>
          <p:cNvSpPr/>
          <p:nvPr/>
        </p:nvSpPr>
        <p:spPr>
          <a:xfrm>
            <a:off x="6080760" y="0"/>
            <a:ext cx="73152" cy="5143500"/>
          </a:xfrm>
          <a:prstGeom prst="rect">
            <a:avLst/>
          </a:prstGeom>
          <a:solidFill>
            <a:srgbClr val="007A52"/>
          </a:solidFill>
          <a:ln cap="flat" cmpd="sng" w="12700">
            <a:solidFill>
              <a:srgbClr val="007A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"/>
          <p:cNvSpPr/>
          <p:nvPr/>
        </p:nvSpPr>
        <p:spPr>
          <a:xfrm>
            <a:off x="502920" y="548640"/>
            <a:ext cx="539496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Cambria"/>
              <a:buNone/>
            </a:pPr>
            <a:r>
              <a:rPr b="1" i="0" lang="en-US" sz="5000" u="none" cap="none" strike="noStrike">
                <a:solidFill>
                  <a:srgbClr val="FFFFFF"/>
                </a:solidFill>
              </a:rPr>
              <a:t>GHOST JOB</a:t>
            </a:r>
            <a:endParaRPr i="0" sz="5000" u="none" cap="none" strike="noStrike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000"/>
              <a:buFont typeface="Cambria"/>
              <a:buNone/>
            </a:pPr>
            <a:r>
              <a:rPr b="1" i="0" lang="en-US" sz="5000" u="none" cap="none" strike="noStrike">
                <a:solidFill>
                  <a:srgbClr val="FFFFFF"/>
                </a:solidFill>
              </a:rPr>
              <a:t>DETECTION</a:t>
            </a:r>
            <a:endParaRPr i="0" sz="5000" u="none" cap="none" strike="noStrike">
              <a:solidFill>
                <a:schemeClr val="dk1"/>
              </a:solidFill>
            </a:endParaRPr>
          </a:p>
        </p:txBody>
      </p:sp>
      <p:sp>
        <p:nvSpPr>
          <p:cNvPr id="109" name="Google Shape;109;p1"/>
          <p:cNvSpPr/>
          <p:nvPr/>
        </p:nvSpPr>
        <p:spPr>
          <a:xfrm>
            <a:off x="502920" y="2651760"/>
            <a:ext cx="53035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1800"/>
              <a:buFont typeface="Cambria"/>
              <a:buNone/>
            </a:pPr>
            <a:r>
              <a:rPr i="0" lang="en-US" sz="1800" u="none" cap="none" strike="noStrike">
                <a:solidFill>
                  <a:srgbClr val="D4EDE2"/>
                </a:solidFill>
              </a:rPr>
              <a:t>A Labor Market Mispricing Signal</a:t>
            </a:r>
            <a:endParaRPr i="0" sz="1800" u="none" cap="none" strike="noStrike">
              <a:solidFill>
                <a:schemeClr val="dk1"/>
              </a:solidFill>
            </a:endParaRPr>
          </a:p>
        </p:txBody>
      </p:sp>
      <p:cxnSp>
        <p:nvCxnSpPr>
          <p:cNvPr id="110" name="Google Shape;110;p1"/>
          <p:cNvCxnSpPr/>
          <p:nvPr/>
        </p:nvCxnSpPr>
        <p:spPr>
          <a:xfrm>
            <a:off x="502920" y="3246120"/>
            <a:ext cx="4937760" cy="0"/>
          </a:xfrm>
          <a:prstGeom prst="straightConnector1">
            <a:avLst/>
          </a:prstGeom>
          <a:noFill/>
          <a:ln cap="flat" cmpd="sng" w="15225">
            <a:solidFill>
              <a:srgbClr val="007A5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1" name="Google Shape;111;p1"/>
          <p:cNvSpPr/>
          <p:nvPr/>
        </p:nvSpPr>
        <p:spPr>
          <a:xfrm>
            <a:off x="502920" y="3383280"/>
            <a:ext cx="5120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1200"/>
              <a:buFont typeface="Cambria"/>
              <a:buNone/>
            </a:pPr>
            <a:r>
              <a:rPr i="0" lang="en-US" sz="1200" u="none" cap="none" strike="noStrike">
                <a:solidFill>
                  <a:srgbClr val="7BAF96"/>
                </a:solidFill>
              </a:rPr>
              <a:t>COMM 486I  ·  UBC Sauder School of Business</a:t>
            </a:r>
            <a:endParaRPr i="0" sz="1200" u="none" cap="none" strike="noStrike">
              <a:solidFill>
                <a:schemeClr val="dk1"/>
              </a:solidFill>
            </a:endParaRPr>
          </a:p>
        </p:txBody>
      </p:sp>
      <p:sp>
        <p:nvSpPr>
          <p:cNvPr id="112" name="Google Shape;112;p1"/>
          <p:cNvSpPr/>
          <p:nvPr/>
        </p:nvSpPr>
        <p:spPr>
          <a:xfrm>
            <a:off x="502920" y="3703320"/>
            <a:ext cx="51206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1200"/>
              <a:buFont typeface="Cambria"/>
              <a:buNone/>
            </a:pPr>
            <a:r>
              <a:rPr i="0" lang="en-US" sz="1200" u="none" cap="none" strike="noStrike">
                <a:solidFill>
                  <a:srgbClr val="7BAF96"/>
                </a:solidFill>
              </a:rPr>
              <a:t>Nilabh Agrawal  ·  Carter Jaquette  ·  Zixi Lian</a:t>
            </a:r>
            <a:endParaRPr i="0" sz="1200" u="none" cap="none" strike="noStrike">
              <a:solidFill>
                <a:schemeClr val="dk1"/>
              </a:solidFill>
            </a:endParaRPr>
          </a:p>
        </p:txBody>
      </p:sp>
      <p:sp>
        <p:nvSpPr>
          <p:cNvPr id="113" name="Google Shape;113;p1"/>
          <p:cNvSpPr/>
          <p:nvPr/>
        </p:nvSpPr>
        <p:spPr>
          <a:xfrm>
            <a:off x="502920" y="402336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1100"/>
              <a:buFont typeface="Cambria"/>
              <a:buNone/>
            </a:pPr>
            <a:r>
              <a:rPr i="0" lang="en-US" sz="1100" u="none" cap="none" strike="noStrike">
                <a:solidFill>
                  <a:srgbClr val="7BAF96"/>
                </a:solidFill>
              </a:rPr>
              <a:t>Group 6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114" name="Google Shape;114;p1"/>
          <p:cNvSpPr/>
          <p:nvPr/>
        </p:nvSpPr>
        <p:spPr>
          <a:xfrm>
            <a:off x="6675015" y="1611595"/>
            <a:ext cx="1920300" cy="1920300"/>
          </a:xfrm>
          <a:prstGeom prst="ellipse">
            <a:avLst/>
          </a:prstGeom>
          <a:solidFill>
            <a:srgbClr val="1B2A3B"/>
          </a:solidFill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5" name="Google Shape;11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03615" y="1767043"/>
            <a:ext cx="1463040" cy="14630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2"/>
          <p:cNvSpPr/>
          <p:nvPr/>
        </p:nvSpPr>
        <p:spPr>
          <a:xfrm>
            <a:off x="457200" y="155448"/>
            <a:ext cx="82296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005C3B"/>
                </a:solidFill>
              </a:rPr>
              <a:t>AGENDA</a:t>
            </a:r>
            <a:endParaRPr i="0" sz="2100" u="none" cap="none" strike="noStrike">
              <a:solidFill>
                <a:schemeClr val="dk1"/>
              </a:solidFill>
            </a:endParaRPr>
          </a:p>
        </p:txBody>
      </p:sp>
      <p:sp>
        <p:nvSpPr>
          <p:cNvPr id="123" name="Google Shape;123;p2"/>
          <p:cNvSpPr/>
          <p:nvPr/>
        </p:nvSpPr>
        <p:spPr>
          <a:xfrm>
            <a:off x="457200" y="809445"/>
            <a:ext cx="8229600" cy="7131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2"/>
          <p:cNvSpPr/>
          <p:nvPr/>
        </p:nvSpPr>
        <p:spPr>
          <a:xfrm>
            <a:off x="457200" y="809445"/>
            <a:ext cx="502800" cy="7131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457200" y="937461"/>
            <a:ext cx="502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Times New Roman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</a:rPr>
              <a:t>01</a:t>
            </a:r>
            <a:endParaRPr i="0" sz="1700" u="none" cap="none" strike="noStrike">
              <a:solidFill>
                <a:schemeClr val="dk1"/>
              </a:solidFill>
            </a:endParaRPr>
          </a:p>
        </p:txBody>
      </p:sp>
      <p:sp>
        <p:nvSpPr>
          <p:cNvPr id="126" name="Google Shape;126;p2"/>
          <p:cNvSpPr/>
          <p:nvPr/>
        </p:nvSpPr>
        <p:spPr>
          <a:xfrm>
            <a:off x="1078992" y="864309"/>
            <a:ext cx="7041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005C3B"/>
                </a:solidFill>
              </a:rPr>
              <a:t>Theoretical Framework &amp; Motivation</a:t>
            </a:r>
            <a:endParaRPr i="0" sz="1350" u="none" cap="none" strike="noStrike">
              <a:solidFill>
                <a:schemeClr val="dk1"/>
              </a:solidFill>
            </a:endParaRPr>
          </a:p>
        </p:txBody>
      </p:sp>
      <p:sp>
        <p:nvSpPr>
          <p:cNvPr id="127" name="Google Shape;127;p2"/>
          <p:cNvSpPr/>
          <p:nvPr/>
        </p:nvSpPr>
        <p:spPr>
          <a:xfrm>
            <a:off x="1078992" y="1193493"/>
            <a:ext cx="70410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4E6057"/>
                </a:solidFill>
              </a:rPr>
              <a:t>Ghost jobs: literature, theory, financial relevance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128" name="Google Shape;128;p2"/>
          <p:cNvSpPr/>
          <p:nvPr/>
        </p:nvSpPr>
        <p:spPr>
          <a:xfrm>
            <a:off x="457200" y="1604973"/>
            <a:ext cx="8229600" cy="7131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2"/>
          <p:cNvSpPr/>
          <p:nvPr/>
        </p:nvSpPr>
        <p:spPr>
          <a:xfrm>
            <a:off x="457200" y="1604973"/>
            <a:ext cx="502800" cy="7131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2"/>
          <p:cNvSpPr/>
          <p:nvPr/>
        </p:nvSpPr>
        <p:spPr>
          <a:xfrm>
            <a:off x="457200" y="1732989"/>
            <a:ext cx="502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Times New Roman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</a:rPr>
              <a:t>02</a:t>
            </a:r>
            <a:endParaRPr i="0" sz="1700" u="none" cap="none" strike="noStrike">
              <a:solidFill>
                <a:schemeClr val="dk1"/>
              </a:solidFill>
            </a:endParaRPr>
          </a:p>
        </p:txBody>
      </p:sp>
      <p:sp>
        <p:nvSpPr>
          <p:cNvPr id="131" name="Google Shape;131;p2"/>
          <p:cNvSpPr/>
          <p:nvPr/>
        </p:nvSpPr>
        <p:spPr>
          <a:xfrm>
            <a:off x="1078992" y="1659837"/>
            <a:ext cx="7041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005C3B"/>
                </a:solidFill>
              </a:rPr>
              <a:t>Model Design &amp; Implementation</a:t>
            </a:r>
            <a:endParaRPr i="0" sz="1350" u="none" cap="none" strike="noStrike">
              <a:solidFill>
                <a:schemeClr val="dk1"/>
              </a:solidFill>
            </a:endParaRPr>
          </a:p>
        </p:txBody>
      </p:sp>
      <p:sp>
        <p:nvSpPr>
          <p:cNvPr id="132" name="Google Shape;132;p2"/>
          <p:cNvSpPr/>
          <p:nvPr/>
        </p:nvSpPr>
        <p:spPr>
          <a:xfrm>
            <a:off x="1078992" y="1989021"/>
            <a:ext cx="70410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4E6057"/>
                </a:solidFill>
              </a:rPr>
              <a:t>XGBoost + SHAP + GMM pipeline; feature engineering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133" name="Google Shape;133;p2"/>
          <p:cNvSpPr/>
          <p:nvPr/>
        </p:nvSpPr>
        <p:spPr>
          <a:xfrm>
            <a:off x="457200" y="2400501"/>
            <a:ext cx="8229600" cy="7131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"/>
          <p:cNvSpPr/>
          <p:nvPr/>
        </p:nvSpPr>
        <p:spPr>
          <a:xfrm>
            <a:off x="457200" y="2400501"/>
            <a:ext cx="502800" cy="7131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"/>
          <p:cNvSpPr/>
          <p:nvPr/>
        </p:nvSpPr>
        <p:spPr>
          <a:xfrm>
            <a:off x="457200" y="2528517"/>
            <a:ext cx="502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Times New Roman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</a:rPr>
              <a:t>03</a:t>
            </a:r>
            <a:endParaRPr i="0" sz="1700" u="none" cap="none" strike="noStrike">
              <a:solidFill>
                <a:schemeClr val="dk1"/>
              </a:solidFill>
            </a:endParaRPr>
          </a:p>
        </p:txBody>
      </p:sp>
      <p:sp>
        <p:nvSpPr>
          <p:cNvPr id="136" name="Google Shape;136;p2"/>
          <p:cNvSpPr/>
          <p:nvPr/>
        </p:nvSpPr>
        <p:spPr>
          <a:xfrm>
            <a:off x="1078992" y="2455365"/>
            <a:ext cx="7041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005C3B"/>
                </a:solidFill>
              </a:rPr>
              <a:t>Empirical Results</a:t>
            </a:r>
            <a:endParaRPr i="0" sz="1350" u="none" cap="none" strike="noStrike">
              <a:solidFill>
                <a:schemeClr val="dk1"/>
              </a:solidFill>
            </a:endParaRPr>
          </a:p>
        </p:txBody>
      </p:sp>
      <p:sp>
        <p:nvSpPr>
          <p:cNvPr id="137" name="Google Shape;137;p2"/>
          <p:cNvSpPr/>
          <p:nvPr/>
        </p:nvSpPr>
        <p:spPr>
          <a:xfrm>
            <a:off x="1078992" y="2784549"/>
            <a:ext cx="70410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4E6057"/>
                </a:solidFill>
              </a:rPr>
              <a:t>Walk-forward backtest; strategy performance; concentration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138" name="Google Shape;138;p2"/>
          <p:cNvSpPr/>
          <p:nvPr/>
        </p:nvSpPr>
        <p:spPr>
          <a:xfrm>
            <a:off x="457200" y="3196029"/>
            <a:ext cx="8229600" cy="7131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2"/>
          <p:cNvSpPr/>
          <p:nvPr/>
        </p:nvSpPr>
        <p:spPr>
          <a:xfrm>
            <a:off x="457200" y="3196029"/>
            <a:ext cx="502800" cy="7131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2"/>
          <p:cNvSpPr/>
          <p:nvPr/>
        </p:nvSpPr>
        <p:spPr>
          <a:xfrm>
            <a:off x="457200" y="3324045"/>
            <a:ext cx="502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Times New Roman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</a:rPr>
              <a:t>04</a:t>
            </a:r>
            <a:endParaRPr i="0" sz="1700" u="none" cap="none" strike="noStrike">
              <a:solidFill>
                <a:schemeClr val="dk1"/>
              </a:solidFill>
            </a:endParaRPr>
          </a:p>
        </p:txBody>
      </p:sp>
      <p:sp>
        <p:nvSpPr>
          <p:cNvPr id="141" name="Google Shape;141;p2"/>
          <p:cNvSpPr/>
          <p:nvPr/>
        </p:nvSpPr>
        <p:spPr>
          <a:xfrm>
            <a:off x="1078992" y="3250893"/>
            <a:ext cx="7041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005C3B"/>
                </a:solidFill>
              </a:rPr>
              <a:t>Robustness, Stability &amp; Limitations</a:t>
            </a:r>
            <a:endParaRPr i="0" sz="1350" u="none" cap="none" strike="noStrike">
              <a:solidFill>
                <a:schemeClr val="dk1"/>
              </a:solidFill>
            </a:endParaRPr>
          </a:p>
        </p:txBody>
      </p:sp>
      <p:sp>
        <p:nvSpPr>
          <p:cNvPr id="142" name="Google Shape;142;p2"/>
          <p:cNvSpPr/>
          <p:nvPr/>
        </p:nvSpPr>
        <p:spPr>
          <a:xfrm>
            <a:off x="1078992" y="3580077"/>
            <a:ext cx="70410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4E6057"/>
                </a:solidFill>
              </a:rPr>
              <a:t>Failure modes, data constraints, out-of-sample caveats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143" name="Google Shape;143;p2"/>
          <p:cNvSpPr/>
          <p:nvPr/>
        </p:nvSpPr>
        <p:spPr>
          <a:xfrm>
            <a:off x="457200" y="3991557"/>
            <a:ext cx="8229600" cy="7131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2"/>
          <p:cNvSpPr/>
          <p:nvPr/>
        </p:nvSpPr>
        <p:spPr>
          <a:xfrm>
            <a:off x="457200" y="3991557"/>
            <a:ext cx="502800" cy="7131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2"/>
          <p:cNvSpPr/>
          <p:nvPr/>
        </p:nvSpPr>
        <p:spPr>
          <a:xfrm>
            <a:off x="457200" y="4119573"/>
            <a:ext cx="502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Times New Roman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</a:rPr>
              <a:t>05</a:t>
            </a:r>
            <a:endParaRPr i="0" sz="1700" u="none" cap="none" strike="noStrike">
              <a:solidFill>
                <a:schemeClr val="dk1"/>
              </a:solidFill>
            </a:endParaRPr>
          </a:p>
        </p:txBody>
      </p:sp>
      <p:sp>
        <p:nvSpPr>
          <p:cNvPr id="146" name="Google Shape;146;p2"/>
          <p:cNvSpPr/>
          <p:nvPr/>
        </p:nvSpPr>
        <p:spPr>
          <a:xfrm>
            <a:off x="1078992" y="4046421"/>
            <a:ext cx="7041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005C3B"/>
                </a:solidFill>
              </a:rPr>
              <a:t>Implications for Financial Decision-Making</a:t>
            </a:r>
            <a:endParaRPr i="0" sz="1350" u="none" cap="none" strike="noStrike">
              <a:solidFill>
                <a:schemeClr val="dk1"/>
              </a:solidFill>
            </a:endParaRPr>
          </a:p>
        </p:txBody>
      </p:sp>
      <p:sp>
        <p:nvSpPr>
          <p:cNvPr id="147" name="Google Shape;147;p2"/>
          <p:cNvSpPr/>
          <p:nvPr/>
        </p:nvSpPr>
        <p:spPr>
          <a:xfrm>
            <a:off x="1078992" y="4375605"/>
            <a:ext cx="70410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4E6057"/>
                </a:solidFill>
              </a:rPr>
              <a:t>Trading signals, investor relevance, next steps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148" name="Google Shape;148;p2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2"/>
          <p:cNvSpPr/>
          <p:nvPr/>
        </p:nvSpPr>
        <p:spPr>
          <a:xfrm>
            <a:off x="365760" y="5001768"/>
            <a:ext cx="84124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b="0" i="0" lang="en-US" sz="800" u="none" cap="none" strike="noStrike">
                <a:solidFill>
                  <a:srgbClr val="7BAF96"/>
                </a:solidFill>
                <a:latin typeface="Cambria"/>
                <a:ea typeface="Cambria"/>
                <a:cs typeface="Cambria"/>
                <a:sym typeface="Cambria"/>
              </a:rPr>
              <a:t>UBC SAUDER  ·  COMM 486I  ·  GROUP 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D28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3"/>
          <p:cNvSpPr/>
          <p:nvPr/>
        </p:nvSpPr>
        <p:spPr>
          <a:xfrm>
            <a:off x="457200" y="457200"/>
            <a:ext cx="18288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8000"/>
              <a:buFont typeface="Times New Roman"/>
              <a:buNone/>
            </a:pPr>
            <a:r>
              <a:rPr b="1" i="0" lang="en-US" sz="8000" u="none" cap="none" strike="noStrike">
                <a:solidFill>
                  <a:srgbClr val="005C3B"/>
                </a:solidFill>
              </a:rPr>
              <a:t>01</a:t>
            </a:r>
            <a:endParaRPr i="0" sz="8000" u="none" cap="none" strike="noStrike">
              <a:solidFill>
                <a:schemeClr val="dk1"/>
              </a:solidFill>
            </a:endParaRPr>
          </a:p>
        </p:txBody>
      </p:sp>
      <p:sp>
        <p:nvSpPr>
          <p:cNvPr id="157" name="Google Shape;157;p3"/>
          <p:cNvSpPr/>
          <p:nvPr/>
        </p:nvSpPr>
        <p:spPr>
          <a:xfrm>
            <a:off x="457200" y="1920240"/>
            <a:ext cx="80467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</a:rPr>
              <a:t>Theoretical Framework</a:t>
            </a:r>
            <a:endParaRPr i="0" sz="3600" u="none" cap="none" strike="noStrike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</a:rPr>
              <a:t>&amp; Motivation</a:t>
            </a:r>
            <a:endParaRPr i="0" sz="3600" u="none" cap="none" strike="noStrike">
              <a:solidFill>
                <a:schemeClr val="dk1"/>
              </a:solidFill>
            </a:endParaRPr>
          </a:p>
        </p:txBody>
      </p:sp>
      <p:cxnSp>
        <p:nvCxnSpPr>
          <p:cNvPr id="158" name="Google Shape;158;p3"/>
          <p:cNvCxnSpPr/>
          <p:nvPr/>
        </p:nvCxnSpPr>
        <p:spPr>
          <a:xfrm>
            <a:off x="457200" y="3090672"/>
            <a:ext cx="7772400" cy="0"/>
          </a:xfrm>
          <a:prstGeom prst="straightConnector1">
            <a:avLst/>
          </a:prstGeom>
          <a:noFill/>
          <a:ln cap="flat" cmpd="sng" w="15225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" name="Google Shape;159;p3"/>
          <p:cNvSpPr/>
          <p:nvPr/>
        </p:nvSpPr>
        <p:spPr>
          <a:xfrm>
            <a:off x="457200" y="3218688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1400"/>
              <a:buFont typeface="Cambria"/>
              <a:buNone/>
            </a:pPr>
            <a:r>
              <a:rPr i="0" lang="en-US" sz="1400" u="none" cap="none" strike="noStrike">
                <a:solidFill>
                  <a:srgbClr val="7BAF96"/>
                </a:solidFill>
              </a:rPr>
              <a:t>Ghost jobs in context: what the research says and why it matters for finance</a:t>
            </a:r>
            <a:endParaRPr i="0" sz="1400" u="none" cap="none" strike="noStrike">
              <a:solidFill>
                <a:schemeClr val="dk1"/>
              </a:solidFill>
            </a:endParaRPr>
          </a:p>
        </p:txBody>
      </p:sp>
      <p:sp>
        <p:nvSpPr>
          <p:cNvPr id="160" name="Google Shape;160;p3"/>
          <p:cNvSpPr/>
          <p:nvPr/>
        </p:nvSpPr>
        <p:spPr>
          <a:xfrm>
            <a:off x="5029200" y="466344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7BAF96"/>
                </a:solidFill>
              </a:rPr>
              <a:t>UBC SAUDER  ·  COMM 486I  ·  GROUP 6</a:t>
            </a:r>
            <a:endParaRPr i="0" sz="85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4"/>
          <p:cNvSpPr/>
          <p:nvPr/>
        </p:nvSpPr>
        <p:spPr>
          <a:xfrm>
            <a:off x="457200" y="228623"/>
            <a:ext cx="80466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005C3B"/>
                </a:solidFill>
              </a:rPr>
              <a:t>WHAT ARE GHOST JOBS?</a:t>
            </a:r>
            <a:endParaRPr i="0" sz="2100" u="none" cap="none" strike="noStrike">
              <a:solidFill>
                <a:schemeClr val="dk1"/>
              </a:solidFill>
            </a:endParaRPr>
          </a:p>
        </p:txBody>
      </p:sp>
      <p:sp>
        <p:nvSpPr>
          <p:cNvPr id="168" name="Google Shape;168;p4"/>
          <p:cNvSpPr/>
          <p:nvPr/>
        </p:nvSpPr>
        <p:spPr>
          <a:xfrm>
            <a:off x="457200" y="640080"/>
            <a:ext cx="804672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4E6057"/>
                </a:solidFill>
              </a:rPr>
              <a:t>Job listings posted by real companies with no present intention to hire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169" name="Google Shape;169;p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4"/>
          <p:cNvSpPr/>
          <p:nvPr/>
        </p:nvSpPr>
        <p:spPr>
          <a:xfrm>
            <a:off x="365760" y="5001768"/>
            <a:ext cx="84124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b="0" i="0" lang="en-US" sz="800" u="none" cap="none" strike="noStrike">
                <a:solidFill>
                  <a:srgbClr val="7BAF96"/>
                </a:solidFill>
                <a:latin typeface="Cambria"/>
                <a:ea typeface="Cambria"/>
                <a:cs typeface="Cambria"/>
                <a:sym typeface="Cambria"/>
              </a:rPr>
              <a:t>UBC SAUDER  ·  COMM 486I  ·  GROUP 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/>
          <p:nvPr/>
        </p:nvSpPr>
        <p:spPr>
          <a:xfrm>
            <a:off x="457200" y="1196040"/>
            <a:ext cx="2560200" cy="1417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AD1520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4"/>
          <p:cNvSpPr/>
          <p:nvPr/>
        </p:nvSpPr>
        <p:spPr>
          <a:xfrm>
            <a:off x="457200" y="1196040"/>
            <a:ext cx="2560200" cy="54900"/>
          </a:xfrm>
          <a:prstGeom prst="rect">
            <a:avLst/>
          </a:prstGeom>
          <a:solidFill>
            <a:srgbClr val="AD1520"/>
          </a:solidFill>
          <a:ln cap="flat" cmpd="sng" w="12700">
            <a:solidFill>
              <a:srgbClr val="AD15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4"/>
          <p:cNvSpPr/>
          <p:nvPr/>
        </p:nvSpPr>
        <p:spPr>
          <a:xfrm>
            <a:off x="517475" y="1337709"/>
            <a:ext cx="2560200" cy="73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D1520"/>
              </a:buClr>
              <a:buSzPts val="2800"/>
              <a:buFont typeface="Times New Roman"/>
              <a:buNone/>
            </a:pPr>
            <a:r>
              <a:rPr b="1" i="0" lang="en-US" sz="4100" u="none" cap="none" strike="noStrike">
                <a:solidFill>
                  <a:srgbClr val="AD1520"/>
                </a:solidFill>
              </a:rPr>
              <a:t>21%</a:t>
            </a:r>
            <a:endParaRPr b="1" i="0" sz="4100" u="none" cap="none" strike="noStrike">
              <a:solidFill>
                <a:schemeClr val="dk1"/>
              </a:solidFill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548640" y="2046432"/>
            <a:ext cx="23775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of postings may be ghost jobs</a:t>
            </a:r>
            <a:endParaRPr i="0" sz="10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(Ng 2024)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175" name="Google Shape;175;p4"/>
          <p:cNvSpPr/>
          <p:nvPr/>
        </p:nvSpPr>
        <p:spPr>
          <a:xfrm>
            <a:off x="3291840" y="1196040"/>
            <a:ext cx="2560200" cy="1417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1F6095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4"/>
          <p:cNvSpPr/>
          <p:nvPr/>
        </p:nvSpPr>
        <p:spPr>
          <a:xfrm>
            <a:off x="3291840" y="1196040"/>
            <a:ext cx="2560200" cy="54900"/>
          </a:xfrm>
          <a:prstGeom prst="rect">
            <a:avLst/>
          </a:prstGeom>
          <a:solidFill>
            <a:srgbClr val="1F6095"/>
          </a:solidFill>
          <a:ln cap="flat" cmpd="sng" w="12700">
            <a:solidFill>
              <a:srgbClr val="1F60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4"/>
          <p:cNvSpPr/>
          <p:nvPr/>
        </p:nvSpPr>
        <p:spPr>
          <a:xfrm>
            <a:off x="3352115" y="1337709"/>
            <a:ext cx="2560200" cy="73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6095"/>
              </a:buClr>
              <a:buSzPts val="2800"/>
              <a:buFont typeface="Times New Roman"/>
              <a:buNone/>
            </a:pPr>
            <a:r>
              <a:rPr b="1" i="0" lang="en-US" sz="4100" u="none" cap="none" strike="noStrike">
                <a:solidFill>
                  <a:srgbClr val="1F6095"/>
                </a:solidFill>
              </a:rPr>
              <a:t>40%</a:t>
            </a:r>
            <a:endParaRPr b="1" i="0" sz="4100" u="none" cap="none" strike="noStrike">
              <a:solidFill>
                <a:schemeClr val="dk1"/>
              </a:solidFill>
            </a:endParaRPr>
          </a:p>
        </p:txBody>
      </p:sp>
      <p:sp>
        <p:nvSpPr>
          <p:cNvPr id="178" name="Google Shape;178;p4"/>
          <p:cNvSpPr/>
          <p:nvPr/>
        </p:nvSpPr>
        <p:spPr>
          <a:xfrm>
            <a:off x="3383280" y="2046432"/>
            <a:ext cx="23775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of companies admit</a:t>
            </a:r>
            <a:endParaRPr i="0" sz="10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posting ghost jobs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179" name="Google Shape;179;p4"/>
          <p:cNvSpPr/>
          <p:nvPr/>
        </p:nvSpPr>
        <p:spPr>
          <a:xfrm>
            <a:off x="6126480" y="1196040"/>
            <a:ext cx="2560200" cy="1417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4"/>
          <p:cNvSpPr/>
          <p:nvPr/>
        </p:nvSpPr>
        <p:spPr>
          <a:xfrm>
            <a:off x="6126480" y="1196040"/>
            <a:ext cx="2560200" cy="54900"/>
          </a:xfrm>
          <a:prstGeom prst="rect">
            <a:avLst/>
          </a:prstGeom>
          <a:solidFill>
            <a:srgbClr val="002145"/>
          </a:solidFill>
          <a:ln cap="flat" cmpd="sng" w="1270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4"/>
          <p:cNvSpPr/>
          <p:nvPr/>
        </p:nvSpPr>
        <p:spPr>
          <a:xfrm>
            <a:off x="6186755" y="1337709"/>
            <a:ext cx="2560200" cy="73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2800"/>
              <a:buFont typeface="Times New Roman"/>
              <a:buNone/>
            </a:pPr>
            <a:r>
              <a:rPr b="1" i="0" lang="en-US" sz="4100" u="none" cap="none" strike="noStrike">
                <a:solidFill>
                  <a:srgbClr val="002145"/>
                </a:solidFill>
              </a:rPr>
              <a:t>50%</a:t>
            </a:r>
            <a:endParaRPr b="1" i="0" sz="4100" u="none" cap="none" strike="noStrike">
              <a:solidFill>
                <a:schemeClr val="dk1"/>
              </a:solidFill>
            </a:endParaRPr>
          </a:p>
        </p:txBody>
      </p:sp>
      <p:sp>
        <p:nvSpPr>
          <p:cNvPr id="182" name="Google Shape;182;p4"/>
          <p:cNvSpPr/>
          <p:nvPr/>
        </p:nvSpPr>
        <p:spPr>
          <a:xfrm>
            <a:off x="6217920" y="2046432"/>
            <a:ext cx="23775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of postings now lead</a:t>
            </a:r>
            <a:endParaRPr i="0" sz="10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to no hire (vs 20% in 2018)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183" name="Google Shape;183;p4"/>
          <p:cNvSpPr/>
          <p:nvPr/>
        </p:nvSpPr>
        <p:spPr>
          <a:xfrm>
            <a:off x="457200" y="2796248"/>
            <a:ext cx="8229600" cy="1713600"/>
          </a:xfrm>
          <a:prstGeom prst="rect">
            <a:avLst/>
          </a:prstGeom>
          <a:solidFill>
            <a:srgbClr val="D4EDE2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4"/>
          <p:cNvSpPr/>
          <p:nvPr/>
        </p:nvSpPr>
        <p:spPr>
          <a:xfrm>
            <a:off x="457200" y="2796248"/>
            <a:ext cx="91500" cy="17136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4"/>
          <p:cNvSpPr/>
          <p:nvPr/>
        </p:nvSpPr>
        <p:spPr>
          <a:xfrm>
            <a:off x="658368" y="2915112"/>
            <a:ext cx="7818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350"/>
              <a:buFont typeface="Cambria"/>
              <a:buNone/>
            </a:pPr>
            <a:r>
              <a:rPr b="1" i="0" lang="en-US" sz="1350" u="none" cap="none" strike="noStrike">
                <a:solidFill>
                  <a:srgbClr val="005C3B"/>
                </a:solidFill>
              </a:rPr>
              <a:t>Why Ghost Jobs Matter for Finance</a:t>
            </a:r>
            <a:endParaRPr i="0" sz="1350" u="none" cap="none" strike="noStrike">
              <a:solidFill>
                <a:schemeClr val="dk1"/>
              </a:solidFill>
            </a:endParaRPr>
          </a:p>
        </p:txBody>
      </p:sp>
      <p:sp>
        <p:nvSpPr>
          <p:cNvPr id="186" name="Google Shape;186;p4"/>
          <p:cNvSpPr/>
          <p:nvPr/>
        </p:nvSpPr>
        <p:spPr>
          <a:xfrm>
            <a:off x="658375" y="3280874"/>
            <a:ext cx="7818000" cy="111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200"/>
              <a:buChar char="●"/>
            </a:pPr>
            <a:r>
              <a:rPr i="0" lang="en-US" sz="1200" u="none" cap="none" strike="noStrike">
                <a:solidFill>
                  <a:srgbClr val="1A2618"/>
                </a:solidFill>
              </a:rPr>
              <a:t>Investors read job postings as growth signals (Gutiérrez et al. 2020, Management Science)</a:t>
            </a:r>
            <a:endParaRPr i="0" sz="1200" u="none" cap="none" strike="noStrike">
              <a:solidFill>
                <a:schemeClr val="dk1"/>
              </a:solidFill>
            </a:endParaRPr>
          </a:p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200"/>
              <a:buChar char="●"/>
            </a:pPr>
            <a:r>
              <a:rPr i="0" lang="en-US" sz="1200" u="none" cap="none" strike="noStrike">
                <a:solidFill>
                  <a:srgbClr val="1A2618"/>
                </a:solidFill>
              </a:rPr>
              <a:t>Ghost postings inflate vacancy counts → distort the Beveridge Curve and aggregate labor statistics</a:t>
            </a:r>
            <a:endParaRPr i="0" sz="1200" u="none" cap="none" strike="noStrike">
              <a:solidFill>
                <a:schemeClr val="dk1"/>
              </a:solidFill>
            </a:endParaRPr>
          </a:p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200"/>
              <a:buChar char="●"/>
            </a:pPr>
            <a:r>
              <a:rPr i="0" lang="en-US" sz="1200" u="none" cap="none" strike="noStrike">
                <a:solidFill>
                  <a:srgbClr val="1A2618"/>
                </a:solidFill>
              </a:rPr>
              <a:t>If ghost-heavy firms appear stronger than they are, a ghost-adjusted measure could predict underperformance</a:t>
            </a:r>
            <a:endParaRPr i="0" sz="120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g3d93e1c57a8_3_477"/>
          <p:cNvPicPr preferRelativeResize="0"/>
          <p:nvPr/>
        </p:nvPicPr>
        <p:blipFill rotWithShape="1">
          <a:blip r:embed="rId3">
            <a:alphaModFix/>
          </a:blip>
          <a:srcRect b="11285" l="0" r="0" t="0"/>
          <a:stretch/>
        </p:blipFill>
        <p:spPr>
          <a:xfrm>
            <a:off x="1749336" y="76200"/>
            <a:ext cx="6563739" cy="4991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d93e1c57a8_3_123"/>
          <p:cNvSpPr/>
          <p:nvPr/>
        </p:nvSpPr>
        <p:spPr>
          <a:xfrm>
            <a:off x="0" y="0"/>
            <a:ext cx="9144000" cy="82200"/>
          </a:xfrm>
          <a:prstGeom prst="rect">
            <a:avLst/>
          </a:prstGeom>
          <a:solidFill>
            <a:srgbClr val="005C3B"/>
          </a:solidFill>
          <a:ln cap="flat" cmpd="sng" w="9525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g3d93e1c57a8_3_123"/>
          <p:cNvSpPr/>
          <p:nvPr/>
        </p:nvSpPr>
        <p:spPr>
          <a:xfrm>
            <a:off x="457200" y="228623"/>
            <a:ext cx="80466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05C3B"/>
                </a:solidFill>
                <a:latin typeface="Arial"/>
                <a:ea typeface="Arial"/>
                <a:cs typeface="Arial"/>
                <a:sym typeface="Arial"/>
              </a:rPr>
              <a:t>THE POSTING vs HIRING GAP</a:t>
            </a:r>
            <a:endParaRPr/>
          </a:p>
        </p:txBody>
      </p:sp>
      <p:sp>
        <p:nvSpPr>
          <p:cNvPr id="199" name="Google Shape;199;g3d93e1c57a8_3_123"/>
          <p:cNvSpPr/>
          <p:nvPr/>
        </p:nvSpPr>
        <p:spPr>
          <a:xfrm>
            <a:off x="457200" y="620000"/>
            <a:ext cx="80466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4E6057"/>
                </a:solidFill>
                <a:latin typeface="Arial"/>
                <a:ea typeface="Arial"/>
                <a:cs typeface="Arial"/>
                <a:sym typeface="Arial"/>
              </a:rPr>
              <a:t>Investors see postings. Revelio lets us see what actually happened. The gap is the signal.</a:t>
            </a:r>
            <a:endParaRPr/>
          </a:p>
        </p:txBody>
      </p:sp>
      <p:sp>
        <p:nvSpPr>
          <p:cNvPr id="200" name="Google Shape;200;g3d93e1c57a8_3_123"/>
          <p:cNvSpPr/>
          <p:nvPr/>
        </p:nvSpPr>
        <p:spPr>
          <a:xfrm>
            <a:off x="457200" y="1000000"/>
            <a:ext cx="3900000" cy="1599900"/>
          </a:xfrm>
          <a:prstGeom prst="rect">
            <a:avLst/>
          </a:prstGeom>
          <a:solidFill>
            <a:srgbClr val="003D28"/>
          </a:solidFill>
          <a:ln cap="flat" cmpd="sng" w="9525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g3d93e1c57a8_3_123"/>
          <p:cNvSpPr/>
          <p:nvPr/>
        </p:nvSpPr>
        <p:spPr>
          <a:xfrm>
            <a:off x="457200" y="1050000"/>
            <a:ext cx="39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Arial"/>
              <a:buNone/>
            </a:pPr>
            <a:r>
              <a:rPr b="1" i="0" lang="en-US" sz="5600" u="none" cap="none" strike="noStrike">
                <a:solidFill>
                  <a:srgbClr val="5EC996"/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  <a:endParaRPr/>
          </a:p>
        </p:txBody>
      </p:sp>
      <p:sp>
        <p:nvSpPr>
          <p:cNvPr id="202" name="Google Shape;202;g3d93e1c57a8_3_123"/>
          <p:cNvSpPr/>
          <p:nvPr/>
        </p:nvSpPr>
        <p:spPr>
          <a:xfrm>
            <a:off x="457200" y="1960000"/>
            <a:ext cx="3900000" cy="5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jobs posted per quarter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5EC996"/>
                </a:solidFill>
                <a:latin typeface="Arial"/>
                <a:ea typeface="Arial"/>
                <a:cs typeface="Arial"/>
                <a:sym typeface="Arial"/>
              </a:rPr>
              <a:t>AutoZone (AZO)</a:t>
            </a:r>
            <a:endParaRPr/>
          </a:p>
        </p:txBody>
      </p:sp>
      <p:sp>
        <p:nvSpPr>
          <p:cNvPr id="203" name="Google Shape;203;g3d93e1c57a8_3_123"/>
          <p:cNvSpPr/>
          <p:nvPr/>
        </p:nvSpPr>
        <p:spPr>
          <a:xfrm>
            <a:off x="4786800" y="1000000"/>
            <a:ext cx="3900000" cy="1599900"/>
          </a:xfrm>
          <a:prstGeom prst="rect">
            <a:avLst/>
          </a:prstGeom>
          <a:solidFill>
            <a:srgbClr val="AD1520"/>
          </a:solidFill>
          <a:ln cap="flat" cmpd="sng" w="9525">
            <a:solidFill>
              <a:srgbClr val="AD15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g3d93e1c57a8_3_123"/>
          <p:cNvSpPr/>
          <p:nvPr/>
        </p:nvSpPr>
        <p:spPr>
          <a:xfrm>
            <a:off x="4786800" y="1050000"/>
            <a:ext cx="39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Arial"/>
              <a:buNone/>
            </a:pPr>
            <a:r>
              <a:rPr b="1" i="0" lang="en-US" sz="5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3.9%</a:t>
            </a:r>
            <a:endParaRPr/>
          </a:p>
        </p:txBody>
      </p:sp>
      <p:sp>
        <p:nvSpPr>
          <p:cNvPr id="205" name="Google Shape;205;g3d93e1c57a8_3_123"/>
          <p:cNvSpPr/>
          <p:nvPr/>
        </p:nvSpPr>
        <p:spPr>
          <a:xfrm>
            <a:off x="4786800" y="1960000"/>
            <a:ext cx="3900000" cy="56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actually lead to a hire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CCCC"/>
                </a:solidFill>
                <a:latin typeface="Arial"/>
                <a:ea typeface="Arial"/>
                <a:cs typeface="Arial"/>
                <a:sym typeface="Arial"/>
              </a:rPr>
              <a:t>96 of 100 postings = noise</a:t>
            </a:r>
            <a:endParaRPr/>
          </a:p>
        </p:txBody>
      </p:sp>
      <p:sp>
        <p:nvSpPr>
          <p:cNvPr id="206" name="Google Shape;206;g3d93e1c57a8_3_123"/>
          <p:cNvSpPr/>
          <p:nvPr/>
        </p:nvSpPr>
        <p:spPr>
          <a:xfrm>
            <a:off x="457200" y="2800000"/>
            <a:ext cx="8229600" cy="1800000"/>
          </a:xfrm>
          <a:prstGeom prst="rect">
            <a:avLst/>
          </a:prstGeom>
          <a:solidFill>
            <a:srgbClr val="D4EDE2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g3d93e1c57a8_3_123"/>
          <p:cNvSpPr/>
          <p:nvPr/>
        </p:nvSpPr>
        <p:spPr>
          <a:xfrm>
            <a:off x="457200" y="2800000"/>
            <a:ext cx="91500" cy="1800000"/>
          </a:xfrm>
          <a:prstGeom prst="rect">
            <a:avLst/>
          </a:prstGeom>
          <a:solidFill>
            <a:srgbClr val="005C3B"/>
          </a:solidFill>
          <a:ln cap="flat" cmpd="sng" w="9525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g3d93e1c57a8_3_123"/>
          <p:cNvSpPr/>
          <p:nvPr/>
        </p:nvSpPr>
        <p:spPr>
          <a:xfrm>
            <a:off x="658368" y="2850000"/>
            <a:ext cx="7818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005C3B"/>
                </a:solidFill>
                <a:latin typeface="Arial"/>
                <a:ea typeface="Arial"/>
                <a:cs typeface="Arial"/>
                <a:sym typeface="Arial"/>
              </a:rPr>
              <a:t>Why This Gap Exists and Why It Matters for Finance</a:t>
            </a:r>
            <a:endParaRPr/>
          </a:p>
        </p:txBody>
      </p:sp>
      <p:sp>
        <p:nvSpPr>
          <p:cNvPr id="209" name="Google Shape;209;g3d93e1c57a8_3_123"/>
          <p:cNvSpPr/>
          <p:nvPr/>
        </p:nvSpPr>
        <p:spPr>
          <a:xfrm>
            <a:off x="658375" y="3180000"/>
            <a:ext cx="78180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11150" lvl="0" marL="4572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Investors treat posting volume as a growth signal -- Gutierrez et al. (2020) show hiring announcements move stock prices</a:t>
            </a:r>
            <a:endParaRPr sz="1100"/>
          </a:p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If 96 of 100 postings are never filled, the signal investors are reading is largely noise -- creating a systematic mispricing opportunity</a:t>
            </a:r>
            <a:endParaRPr sz="1100"/>
          </a:p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Our model quantifies that gap for 204 public firms across 15 years -- turning a qualitative observation into a tradeable signal</a:t>
            </a:r>
            <a:endParaRPr sz="1100"/>
          </a:p>
        </p:txBody>
      </p:sp>
      <p:sp>
        <p:nvSpPr>
          <p:cNvPr id="210" name="Google Shape;210;g3d93e1c57a8_3_123"/>
          <p:cNvSpPr/>
          <p:nvPr/>
        </p:nvSpPr>
        <p:spPr>
          <a:xfrm>
            <a:off x="0" y="4983480"/>
            <a:ext cx="9144000" cy="159900"/>
          </a:xfrm>
          <a:prstGeom prst="rect">
            <a:avLst/>
          </a:prstGeom>
          <a:solidFill>
            <a:srgbClr val="003D28"/>
          </a:solidFill>
          <a:ln cap="flat" cmpd="sng" w="9525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g3d93e1c57a8_3_123"/>
          <p:cNvSpPr/>
          <p:nvPr/>
        </p:nvSpPr>
        <p:spPr>
          <a:xfrm>
            <a:off x="365760" y="5001768"/>
            <a:ext cx="8412600" cy="12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7BAF96"/>
                </a:solidFill>
                <a:latin typeface="Cambria"/>
                <a:ea typeface="Cambria"/>
                <a:cs typeface="Cambria"/>
                <a:sym typeface="Cambria"/>
              </a:rPr>
              <a:t>UBC SAUDER  ·  COMM 486I  ·  GROUP 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5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5"/>
          <p:cNvSpPr/>
          <p:nvPr/>
        </p:nvSpPr>
        <p:spPr>
          <a:xfrm>
            <a:off x="457200" y="155448"/>
            <a:ext cx="8046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005C3B"/>
                </a:solidFill>
              </a:rPr>
              <a:t>KEY LITERATURE</a:t>
            </a:r>
            <a:endParaRPr i="0" sz="2100" u="none" cap="none" strike="noStrike">
              <a:solidFill>
                <a:schemeClr val="dk1"/>
              </a:solidFill>
            </a:endParaRPr>
          </a:p>
        </p:txBody>
      </p:sp>
      <p:sp>
        <p:nvSpPr>
          <p:cNvPr id="219" name="Google Shape;219;p5"/>
          <p:cNvSpPr/>
          <p:nvPr/>
        </p:nvSpPr>
        <p:spPr>
          <a:xfrm>
            <a:off x="457200" y="557780"/>
            <a:ext cx="80466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4E6057"/>
                </a:solidFill>
              </a:rPr>
              <a:t>Three papers that frame our work — findings, gaps, and our contribution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220" name="Google Shape;220;p5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5"/>
          <p:cNvSpPr/>
          <p:nvPr/>
        </p:nvSpPr>
        <p:spPr>
          <a:xfrm>
            <a:off x="365760" y="5001768"/>
            <a:ext cx="84124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b="0" i="0" lang="en-US" sz="800" u="none" cap="none" strike="noStrike">
                <a:solidFill>
                  <a:srgbClr val="7BAF96"/>
                </a:solidFill>
                <a:latin typeface="Cambria"/>
                <a:ea typeface="Cambria"/>
                <a:cs typeface="Cambria"/>
                <a:sym typeface="Cambria"/>
              </a:rPr>
              <a:t>UBC SAUDER  ·  COMM 486I  ·  GROUP 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5"/>
          <p:cNvSpPr/>
          <p:nvPr/>
        </p:nvSpPr>
        <p:spPr>
          <a:xfrm>
            <a:off x="457200" y="881070"/>
            <a:ext cx="8229600" cy="1199162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5"/>
          <p:cNvSpPr/>
          <p:nvPr/>
        </p:nvSpPr>
        <p:spPr>
          <a:xfrm>
            <a:off x="457200" y="881070"/>
            <a:ext cx="109728" cy="1199162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5"/>
          <p:cNvSpPr/>
          <p:nvPr/>
        </p:nvSpPr>
        <p:spPr>
          <a:xfrm>
            <a:off x="658368" y="962831"/>
            <a:ext cx="530352" cy="236199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5"/>
          <p:cNvSpPr/>
          <p:nvPr/>
        </p:nvSpPr>
        <p:spPr>
          <a:xfrm>
            <a:off x="658368" y="962831"/>
            <a:ext cx="530352" cy="2361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Times New Roman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2024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226" name="Google Shape;226;p5"/>
          <p:cNvSpPr/>
          <p:nvPr/>
        </p:nvSpPr>
        <p:spPr>
          <a:xfrm>
            <a:off x="1280160" y="953746"/>
            <a:ext cx="4663440" cy="254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100"/>
              <a:buFont typeface="Cambria"/>
              <a:buNone/>
            </a:pPr>
            <a:r>
              <a:rPr b="1" i="0" lang="en-US" sz="1100" u="none" cap="none" strike="noStrike">
                <a:solidFill>
                  <a:srgbClr val="005C3B"/>
                </a:solidFill>
              </a:rPr>
              <a:t>Ng  —  Ghost Job Detection via BERT on Glassdoor Reviews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227" name="Google Shape;227;p5"/>
          <p:cNvSpPr/>
          <p:nvPr/>
        </p:nvSpPr>
        <p:spPr>
          <a:xfrm>
            <a:off x="676234" y="1269338"/>
            <a:ext cx="5871300" cy="2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1050"/>
              <a:buFont typeface="Cambria"/>
              <a:buNone/>
            </a:pPr>
            <a:r>
              <a:rPr b="1" i="0" lang="en-US" sz="1050" u="none" cap="none" strike="noStrike">
                <a:solidFill>
                  <a:srgbClr val="002145"/>
                </a:solidFill>
              </a:rPr>
              <a:t xml:space="preserve">Finding: </a:t>
            </a:r>
            <a:r>
              <a:rPr i="0" lang="en-US" sz="1050" u="none" cap="none" strike="noStrike">
                <a:solidFill>
                  <a:srgbClr val="1A2618"/>
                </a:solidFill>
              </a:rPr>
              <a:t>~21% of postings are ghost jobs; mid-sized tech firms peak at 25%. BERT classifier trained on Glassdoor reviews.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228" name="Google Shape;228;p5"/>
          <p:cNvSpPr/>
          <p:nvPr/>
        </p:nvSpPr>
        <p:spPr>
          <a:xfrm>
            <a:off x="676076" y="1571546"/>
            <a:ext cx="5871600" cy="23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1050"/>
              <a:buFont typeface="Cambria"/>
              <a:buNone/>
            </a:pPr>
            <a:r>
              <a:rPr b="1" i="0" lang="en-US" sz="1050" u="none" cap="none" strike="noStrike">
                <a:solidFill>
                  <a:srgbClr val="002145"/>
                </a:solidFill>
              </a:rPr>
              <a:t xml:space="preserve">Gap: </a:t>
            </a:r>
            <a:r>
              <a:rPr i="1" lang="en-US" sz="1050" u="none" cap="none" strike="noStrike">
                <a:solidFill>
                  <a:srgbClr val="4E6057"/>
                </a:solidFill>
              </a:rPr>
              <a:t>Labels confounded by sentiment — negative reviews ≠ ghost intent.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229" name="Google Shape;229;p5"/>
          <p:cNvSpPr/>
          <p:nvPr/>
        </p:nvSpPr>
        <p:spPr>
          <a:xfrm>
            <a:off x="658384" y="1780450"/>
            <a:ext cx="58971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950"/>
              <a:buFont typeface="Cambria"/>
              <a:buNone/>
            </a:pPr>
            <a:r>
              <a:rPr i="1" lang="en-US" sz="650" u="none" cap="none" strike="noStrike">
                <a:solidFill>
                  <a:srgbClr val="005C3B"/>
                </a:solidFill>
              </a:rPr>
              <a:t>↳ Outcome-anchored labels from actual hire data; XGBoost on behavioral features</a:t>
            </a:r>
            <a:endParaRPr i="0" sz="650" u="none" cap="none" strike="noStrike">
              <a:solidFill>
                <a:schemeClr val="dk1"/>
              </a:solidFill>
            </a:endParaRPr>
          </a:p>
        </p:txBody>
      </p:sp>
      <p:sp>
        <p:nvSpPr>
          <p:cNvPr id="230" name="Google Shape;230;p5"/>
          <p:cNvSpPr/>
          <p:nvPr/>
        </p:nvSpPr>
        <p:spPr>
          <a:xfrm>
            <a:off x="6656826" y="953750"/>
            <a:ext cx="1911000" cy="1053900"/>
          </a:xfrm>
          <a:prstGeom prst="rect">
            <a:avLst/>
          </a:prstGeom>
          <a:solidFill>
            <a:srgbClr val="D4EDE2"/>
          </a:solidFill>
          <a:ln cap="flat" cmpd="sng" w="1015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5"/>
          <p:cNvSpPr/>
          <p:nvPr/>
        </p:nvSpPr>
        <p:spPr>
          <a:xfrm>
            <a:off x="6740219" y="1008257"/>
            <a:ext cx="1744200" cy="19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800"/>
              <a:buFont typeface="Cambria"/>
              <a:buNone/>
            </a:pPr>
            <a:r>
              <a:rPr i="0" lang="en-US" sz="800" u="none" cap="none" strike="noStrike">
                <a:solidFill>
                  <a:srgbClr val="4E6057"/>
                </a:solidFill>
              </a:rPr>
              <a:t>KEY NUMBER</a:t>
            </a:r>
            <a:endParaRPr i="0" sz="800" u="none" cap="none" strike="noStrike">
              <a:solidFill>
                <a:schemeClr val="dk1"/>
              </a:solidFill>
            </a:endParaRPr>
          </a:p>
        </p:txBody>
      </p:sp>
      <p:sp>
        <p:nvSpPr>
          <p:cNvPr id="232" name="Google Shape;232;p5"/>
          <p:cNvSpPr/>
          <p:nvPr/>
        </p:nvSpPr>
        <p:spPr>
          <a:xfrm>
            <a:off x="6740219" y="1199033"/>
            <a:ext cx="1744200" cy="43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2200"/>
              <a:buFont typeface="Times New Roman"/>
              <a:buNone/>
            </a:pPr>
            <a:r>
              <a:rPr b="1" i="0" lang="en-US" sz="2700" u="none" cap="none" strike="noStrike">
                <a:solidFill>
                  <a:srgbClr val="005C3B"/>
                </a:solidFill>
              </a:rPr>
              <a:t>21%</a:t>
            </a:r>
            <a:endParaRPr i="0" sz="2700" u="none" cap="none" strike="noStrike">
              <a:solidFill>
                <a:schemeClr val="dk1"/>
              </a:solidFill>
            </a:endParaRPr>
          </a:p>
        </p:txBody>
      </p:sp>
      <p:sp>
        <p:nvSpPr>
          <p:cNvPr id="233" name="Google Shape;233;p5"/>
          <p:cNvSpPr/>
          <p:nvPr/>
        </p:nvSpPr>
        <p:spPr>
          <a:xfrm>
            <a:off x="6740219" y="1644175"/>
            <a:ext cx="1744200" cy="32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00"/>
              <a:buFont typeface="Cambria"/>
              <a:buNone/>
            </a:pPr>
            <a:r>
              <a:rPr i="0" lang="en-US" sz="900" u="none" cap="none" strike="noStrike">
                <a:solidFill>
                  <a:srgbClr val="1A2618"/>
                </a:solidFill>
              </a:rPr>
              <a:t>ghost rate → our percentile cutoff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234" name="Google Shape;234;p5"/>
          <p:cNvSpPr/>
          <p:nvPr/>
        </p:nvSpPr>
        <p:spPr>
          <a:xfrm>
            <a:off x="457200" y="2180162"/>
            <a:ext cx="8229600" cy="1199162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5"/>
          <p:cNvSpPr/>
          <p:nvPr/>
        </p:nvSpPr>
        <p:spPr>
          <a:xfrm>
            <a:off x="457200" y="2180162"/>
            <a:ext cx="109728" cy="1199162"/>
          </a:xfrm>
          <a:prstGeom prst="rect">
            <a:avLst/>
          </a:prstGeom>
          <a:solidFill>
            <a:srgbClr val="9A6F00"/>
          </a:solidFill>
          <a:ln cap="flat" cmpd="sng" w="12700">
            <a:solidFill>
              <a:srgbClr val="9A6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5"/>
          <p:cNvSpPr/>
          <p:nvPr/>
        </p:nvSpPr>
        <p:spPr>
          <a:xfrm>
            <a:off x="658368" y="2261923"/>
            <a:ext cx="530352" cy="236199"/>
          </a:xfrm>
          <a:prstGeom prst="rect">
            <a:avLst/>
          </a:prstGeom>
          <a:solidFill>
            <a:srgbClr val="9A6F00"/>
          </a:solidFill>
          <a:ln cap="flat" cmpd="sng" w="12700">
            <a:solidFill>
              <a:srgbClr val="9A6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5"/>
          <p:cNvSpPr/>
          <p:nvPr/>
        </p:nvSpPr>
        <p:spPr>
          <a:xfrm>
            <a:off x="658368" y="2261923"/>
            <a:ext cx="530352" cy="2361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Times New Roman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2022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238" name="Google Shape;238;p5"/>
          <p:cNvSpPr/>
          <p:nvPr/>
        </p:nvSpPr>
        <p:spPr>
          <a:xfrm>
            <a:off x="1280160" y="2252839"/>
            <a:ext cx="4663440" cy="254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F00"/>
              </a:buClr>
              <a:buSzPts val="1100"/>
              <a:buFont typeface="Cambria"/>
              <a:buNone/>
            </a:pPr>
            <a:r>
              <a:rPr b="1" i="0" lang="en-US" sz="1100" u="none" cap="none" strike="noStrike">
                <a:solidFill>
                  <a:srgbClr val="9A6F00"/>
                </a:solidFill>
              </a:rPr>
              <a:t>Amaar et al.  —  Fake Job Detection with TF-IDF + ML Classifiers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239" name="Google Shape;239;p5"/>
          <p:cNvSpPr/>
          <p:nvPr/>
        </p:nvSpPr>
        <p:spPr>
          <a:xfrm>
            <a:off x="658376" y="2543545"/>
            <a:ext cx="5871600" cy="2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1050"/>
              <a:buFont typeface="Cambria"/>
              <a:buNone/>
            </a:pPr>
            <a:r>
              <a:rPr b="1" i="0" lang="en-US" sz="1050" u="none" cap="none" strike="noStrike">
                <a:solidFill>
                  <a:srgbClr val="002145"/>
                </a:solidFill>
              </a:rPr>
              <a:t xml:space="preserve">Finding: </a:t>
            </a:r>
            <a:r>
              <a:rPr i="0" lang="en-US" sz="1050" u="none" cap="none" strike="noStrike">
                <a:solidFill>
                  <a:srgbClr val="1A2618"/>
                </a:solidFill>
              </a:rPr>
              <a:t>99.9% accuracy with Extra Trees on Kaggle scam job dataset.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240" name="Google Shape;240;p5"/>
          <p:cNvSpPr/>
          <p:nvPr/>
        </p:nvSpPr>
        <p:spPr>
          <a:xfrm>
            <a:off x="658376" y="2834251"/>
            <a:ext cx="5871600" cy="23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1050"/>
              <a:buFont typeface="Cambria"/>
              <a:buNone/>
            </a:pPr>
            <a:r>
              <a:rPr b="1" i="0" lang="en-US" sz="1050" u="none" cap="none" strike="noStrike">
                <a:solidFill>
                  <a:srgbClr val="002145"/>
                </a:solidFill>
              </a:rPr>
              <a:t xml:space="preserve">Gap: </a:t>
            </a:r>
            <a:r>
              <a:rPr i="1" lang="en-US" sz="1050" u="none" cap="none" strike="noStrike">
                <a:solidFill>
                  <a:srgbClr val="4E6057"/>
                </a:solidFill>
              </a:rPr>
              <a:t>Detects fraudulent scam postings — not ghost jobs posted by real firms</a:t>
            </a:r>
            <a:r>
              <a:rPr i="1" lang="en-US" sz="1050">
                <a:solidFill>
                  <a:srgbClr val="4E6057"/>
                </a:solidFill>
              </a:rPr>
              <a:t>.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241" name="Google Shape;241;p5"/>
          <p:cNvSpPr/>
          <p:nvPr/>
        </p:nvSpPr>
        <p:spPr>
          <a:xfrm>
            <a:off x="658376" y="3079534"/>
            <a:ext cx="5871600" cy="23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F00"/>
              </a:buClr>
              <a:buSzPts val="950"/>
              <a:buFont typeface="Cambria"/>
              <a:buNone/>
            </a:pPr>
            <a:r>
              <a:rPr i="1" lang="en-US" sz="650" u="none" cap="none" strike="noStrike">
                <a:solidFill>
                  <a:srgbClr val="9A6F00"/>
                </a:solidFill>
              </a:rPr>
              <a:t>↳ Ghost jobs are a distinct phenomenon: real firms, real postings, zero hiring intent.</a:t>
            </a:r>
            <a:endParaRPr i="0" sz="650" u="none" cap="none" strike="noStrike">
              <a:solidFill>
                <a:schemeClr val="dk1"/>
              </a:solidFill>
            </a:endParaRPr>
          </a:p>
        </p:txBody>
      </p:sp>
      <p:sp>
        <p:nvSpPr>
          <p:cNvPr id="242" name="Google Shape;242;p5"/>
          <p:cNvSpPr/>
          <p:nvPr/>
        </p:nvSpPr>
        <p:spPr>
          <a:xfrm>
            <a:off x="6656826" y="2252839"/>
            <a:ext cx="1911000" cy="1053900"/>
          </a:xfrm>
          <a:prstGeom prst="rect">
            <a:avLst/>
          </a:prstGeom>
          <a:solidFill>
            <a:srgbClr val="D4EDE2"/>
          </a:solidFill>
          <a:ln cap="flat" cmpd="sng" w="10150">
            <a:solidFill>
              <a:srgbClr val="9A6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5"/>
          <p:cNvSpPr/>
          <p:nvPr/>
        </p:nvSpPr>
        <p:spPr>
          <a:xfrm>
            <a:off x="6740219" y="2307346"/>
            <a:ext cx="1744200" cy="19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800"/>
              <a:buFont typeface="Cambria"/>
              <a:buNone/>
            </a:pPr>
            <a:r>
              <a:rPr i="0" lang="en-US" sz="800" u="none" cap="none" strike="noStrike">
                <a:solidFill>
                  <a:srgbClr val="4E6057"/>
                </a:solidFill>
              </a:rPr>
              <a:t>ACCURACY</a:t>
            </a:r>
            <a:endParaRPr i="0" sz="800" u="none" cap="none" strike="noStrike">
              <a:solidFill>
                <a:schemeClr val="dk1"/>
              </a:solidFill>
            </a:endParaRPr>
          </a:p>
        </p:txBody>
      </p:sp>
      <p:sp>
        <p:nvSpPr>
          <p:cNvPr id="244" name="Google Shape;244;p5"/>
          <p:cNvSpPr/>
          <p:nvPr/>
        </p:nvSpPr>
        <p:spPr>
          <a:xfrm>
            <a:off x="6740219" y="2498122"/>
            <a:ext cx="1744200" cy="43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6F00"/>
              </a:buClr>
              <a:buSzPts val="2200"/>
              <a:buFont typeface="Times New Roman"/>
              <a:buNone/>
            </a:pPr>
            <a:r>
              <a:rPr b="1" i="0" lang="en-US" sz="2700" u="none" cap="none" strike="noStrike">
                <a:solidFill>
                  <a:srgbClr val="9A6F00"/>
                </a:solidFill>
              </a:rPr>
              <a:t>99.9%</a:t>
            </a:r>
            <a:endParaRPr i="0" sz="2700" u="none" cap="none" strike="noStrike">
              <a:solidFill>
                <a:schemeClr val="dk1"/>
              </a:solidFill>
            </a:endParaRPr>
          </a:p>
        </p:txBody>
      </p:sp>
      <p:sp>
        <p:nvSpPr>
          <p:cNvPr id="245" name="Google Shape;245;p5"/>
          <p:cNvSpPr/>
          <p:nvPr/>
        </p:nvSpPr>
        <p:spPr>
          <a:xfrm>
            <a:off x="6740219" y="2943264"/>
            <a:ext cx="1744200" cy="32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00"/>
              <a:buFont typeface="Cambria"/>
              <a:buNone/>
            </a:pPr>
            <a:r>
              <a:rPr i="0" lang="en-US" sz="900" u="none" cap="none" strike="noStrike">
                <a:solidFill>
                  <a:srgbClr val="1A2618"/>
                </a:solidFill>
              </a:rPr>
              <a:t>on scams — not</a:t>
            </a:r>
            <a:endParaRPr i="0" sz="9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00"/>
              <a:buFont typeface="Cambria"/>
              <a:buNone/>
            </a:pPr>
            <a:r>
              <a:rPr i="0" lang="en-US" sz="900" u="none" cap="none" strike="noStrike">
                <a:solidFill>
                  <a:srgbClr val="1A2618"/>
                </a:solidFill>
              </a:rPr>
              <a:t>ghost jobs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246" name="Google Shape;246;p5"/>
          <p:cNvSpPr/>
          <p:nvPr/>
        </p:nvSpPr>
        <p:spPr>
          <a:xfrm>
            <a:off x="457200" y="3479255"/>
            <a:ext cx="8229600" cy="1199162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5"/>
          <p:cNvSpPr/>
          <p:nvPr/>
        </p:nvSpPr>
        <p:spPr>
          <a:xfrm>
            <a:off x="457200" y="3479255"/>
            <a:ext cx="109728" cy="1199162"/>
          </a:xfrm>
          <a:prstGeom prst="rect">
            <a:avLst/>
          </a:prstGeom>
          <a:solidFill>
            <a:srgbClr val="1F6095"/>
          </a:solidFill>
          <a:ln cap="flat" cmpd="sng" w="12700">
            <a:solidFill>
              <a:srgbClr val="1F60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5"/>
          <p:cNvSpPr/>
          <p:nvPr/>
        </p:nvSpPr>
        <p:spPr>
          <a:xfrm>
            <a:off x="658368" y="3561016"/>
            <a:ext cx="530352" cy="236199"/>
          </a:xfrm>
          <a:prstGeom prst="rect">
            <a:avLst/>
          </a:prstGeom>
          <a:solidFill>
            <a:srgbClr val="1F6095"/>
          </a:solidFill>
          <a:ln cap="flat" cmpd="sng" w="12700">
            <a:solidFill>
              <a:srgbClr val="1F60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5"/>
          <p:cNvSpPr/>
          <p:nvPr/>
        </p:nvSpPr>
        <p:spPr>
          <a:xfrm>
            <a:off x="658368" y="3561016"/>
            <a:ext cx="530352" cy="23619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Times New Roman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2025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250" name="Google Shape;250;p5"/>
          <p:cNvSpPr/>
          <p:nvPr/>
        </p:nvSpPr>
        <p:spPr>
          <a:xfrm>
            <a:off x="1280150" y="3551925"/>
            <a:ext cx="5135100" cy="23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6095"/>
              </a:buClr>
              <a:buSzPts val="1100"/>
              <a:buFont typeface="Cambria"/>
              <a:buNone/>
            </a:pPr>
            <a:r>
              <a:rPr b="1" i="0" lang="en-US" sz="1100" u="none" cap="none" strike="noStrike">
                <a:solidFill>
                  <a:srgbClr val="1F6095"/>
                </a:solidFill>
              </a:rPr>
              <a:t>Singer &amp; Oktay  —  Framework for Ghost Posting ID from Behavioral Data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251" name="Google Shape;251;p5"/>
          <p:cNvSpPr/>
          <p:nvPr/>
        </p:nvSpPr>
        <p:spPr>
          <a:xfrm>
            <a:off x="658376" y="3864534"/>
            <a:ext cx="5871600" cy="27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1050"/>
              <a:buFont typeface="Cambria"/>
              <a:buNone/>
            </a:pPr>
            <a:r>
              <a:rPr b="1" i="0" lang="en-US" sz="1050" u="none" cap="none" strike="noStrike">
                <a:solidFill>
                  <a:srgbClr val="002145"/>
                </a:solidFill>
              </a:rPr>
              <a:t xml:space="preserve">Finding: </a:t>
            </a:r>
            <a:r>
              <a:rPr i="0" lang="en-US" sz="1050" u="none" cap="none" strike="noStrike">
                <a:solidFill>
                  <a:srgbClr val="1A2618"/>
                </a:solidFill>
              </a:rPr>
              <a:t>Behavioral features (duration, still-active rate, salary) can identify ghost postings from CoreSignal data.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252" name="Google Shape;252;p5"/>
          <p:cNvSpPr/>
          <p:nvPr/>
        </p:nvSpPr>
        <p:spPr>
          <a:xfrm>
            <a:off x="676076" y="4168915"/>
            <a:ext cx="5871600" cy="23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1050"/>
              <a:buFont typeface="Cambria"/>
              <a:buNone/>
            </a:pPr>
            <a:r>
              <a:rPr b="1" i="0" lang="en-US" sz="1050" u="none" cap="none" strike="noStrike">
                <a:solidFill>
                  <a:srgbClr val="002145"/>
                </a:solidFill>
              </a:rPr>
              <a:t xml:space="preserve">Gap: </a:t>
            </a:r>
            <a:r>
              <a:rPr i="1" lang="en-US" sz="1050" u="none" cap="none" strike="noStrike">
                <a:solidFill>
                  <a:srgbClr val="4E6057"/>
                </a:solidFill>
              </a:rPr>
              <a:t>Framework only — no model, no validated measure, no link to financial outcomes.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253" name="Google Shape;253;p5"/>
          <p:cNvSpPr/>
          <p:nvPr/>
        </p:nvSpPr>
        <p:spPr>
          <a:xfrm>
            <a:off x="658376" y="4378626"/>
            <a:ext cx="5871600" cy="23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6095"/>
              </a:buClr>
              <a:buSzPts val="950"/>
              <a:buFont typeface="Cambria"/>
              <a:buNone/>
            </a:pPr>
            <a:r>
              <a:rPr i="1" lang="en-US" sz="650" u="none" cap="none" strike="noStrike">
                <a:solidFill>
                  <a:srgbClr val="1F6095"/>
                </a:solidFill>
              </a:rPr>
              <a:t>↳ Implement end-to-end: XGBoost + SHAP; extend to portfolio construction and walk-forward backtesting.</a:t>
            </a:r>
            <a:endParaRPr i="0" sz="650" u="none" cap="none" strike="noStrike">
              <a:solidFill>
                <a:schemeClr val="dk1"/>
              </a:solidFill>
            </a:endParaRPr>
          </a:p>
        </p:txBody>
      </p:sp>
      <p:sp>
        <p:nvSpPr>
          <p:cNvPr id="254" name="Google Shape;254;p5"/>
          <p:cNvSpPr/>
          <p:nvPr/>
        </p:nvSpPr>
        <p:spPr>
          <a:xfrm>
            <a:off x="6656826" y="3551928"/>
            <a:ext cx="1911000" cy="1053900"/>
          </a:xfrm>
          <a:prstGeom prst="rect">
            <a:avLst/>
          </a:prstGeom>
          <a:solidFill>
            <a:srgbClr val="D4EDE2"/>
          </a:solidFill>
          <a:ln cap="flat" cmpd="sng" w="10150">
            <a:solidFill>
              <a:srgbClr val="1F60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5"/>
          <p:cNvSpPr/>
          <p:nvPr/>
        </p:nvSpPr>
        <p:spPr>
          <a:xfrm>
            <a:off x="6740219" y="3606435"/>
            <a:ext cx="1744200" cy="19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800"/>
              <a:buFont typeface="Cambria"/>
              <a:buNone/>
            </a:pPr>
            <a:r>
              <a:rPr i="0" lang="en-US" sz="800" u="none" cap="none" strike="noStrike">
                <a:solidFill>
                  <a:srgbClr val="4E6057"/>
                </a:solidFill>
              </a:rPr>
              <a:t>KEY INSIGHT</a:t>
            </a:r>
            <a:endParaRPr i="0" sz="800" u="none" cap="none" strike="noStrike">
              <a:solidFill>
                <a:schemeClr val="dk1"/>
              </a:solidFill>
            </a:endParaRPr>
          </a:p>
        </p:txBody>
      </p:sp>
      <p:sp>
        <p:nvSpPr>
          <p:cNvPr id="256" name="Google Shape;256;p5"/>
          <p:cNvSpPr/>
          <p:nvPr/>
        </p:nvSpPr>
        <p:spPr>
          <a:xfrm>
            <a:off x="6740219" y="3797211"/>
            <a:ext cx="1744200" cy="43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6095"/>
              </a:buClr>
              <a:buSzPts val="2200"/>
              <a:buFont typeface="Times New Roman"/>
              <a:buNone/>
            </a:pPr>
            <a:r>
              <a:rPr b="1" i="0" lang="en-US" sz="1500" u="none" cap="none" strike="noStrike">
                <a:solidFill>
                  <a:srgbClr val="1F6095"/>
                </a:solidFill>
              </a:rPr>
              <a:t>Behavioral</a:t>
            </a:r>
            <a:endParaRPr i="0" sz="15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6095"/>
              </a:buClr>
              <a:buSzPts val="2200"/>
              <a:buFont typeface="Times New Roman"/>
              <a:buNone/>
            </a:pPr>
            <a:r>
              <a:rPr b="1" i="0" lang="en-US" sz="1500" u="none" cap="none" strike="noStrike">
                <a:solidFill>
                  <a:srgbClr val="1F6095"/>
                </a:solidFill>
              </a:rPr>
              <a:t>features</a:t>
            </a:r>
            <a:endParaRPr i="0" sz="1500" u="none" cap="none" strike="noStrike">
              <a:solidFill>
                <a:schemeClr val="dk1"/>
              </a:solidFill>
            </a:endParaRPr>
          </a:p>
        </p:txBody>
      </p:sp>
      <p:sp>
        <p:nvSpPr>
          <p:cNvPr id="257" name="Google Shape;257;p5"/>
          <p:cNvSpPr/>
          <p:nvPr/>
        </p:nvSpPr>
        <p:spPr>
          <a:xfrm>
            <a:off x="6740219" y="4242353"/>
            <a:ext cx="1744200" cy="32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00"/>
              <a:buFont typeface="Cambria"/>
              <a:buNone/>
            </a:pPr>
            <a:r>
              <a:rPr i="0" lang="en-US" sz="900" u="none" cap="none" strike="noStrike">
                <a:solidFill>
                  <a:srgbClr val="1A2618"/>
                </a:solidFill>
              </a:rPr>
              <a:t>right signal — not text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258" name="Google Shape;258;p5"/>
          <p:cNvSpPr/>
          <p:nvPr/>
        </p:nvSpPr>
        <p:spPr>
          <a:xfrm>
            <a:off x="457200" y="4723840"/>
            <a:ext cx="8229600" cy="163522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5"/>
          <p:cNvSpPr/>
          <p:nvPr/>
        </p:nvSpPr>
        <p:spPr>
          <a:xfrm>
            <a:off x="594360" y="4732925"/>
            <a:ext cx="7955280" cy="1362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None of these papers produces a validated, outcome-linked ghost measure with financial return implications — this is our contribution.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6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6"/>
          <p:cNvSpPr/>
          <p:nvPr/>
        </p:nvSpPr>
        <p:spPr>
          <a:xfrm>
            <a:off x="457200" y="155448"/>
            <a:ext cx="8046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005C3B"/>
                </a:solidFill>
              </a:rPr>
              <a:t>HYPOTHESES &amp; THEORETICAL FRAMEWORK</a:t>
            </a:r>
            <a:endParaRPr i="0" sz="2100" u="none" cap="none" strike="noStrike">
              <a:solidFill>
                <a:schemeClr val="dk1"/>
              </a:solidFill>
            </a:endParaRPr>
          </a:p>
        </p:txBody>
      </p:sp>
      <p:sp>
        <p:nvSpPr>
          <p:cNvPr id="267" name="Google Shape;267;p6"/>
          <p:cNvSpPr/>
          <p:nvPr/>
        </p:nvSpPr>
        <p:spPr>
          <a:xfrm>
            <a:off x="457200" y="640080"/>
            <a:ext cx="804672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4E6057"/>
                </a:solidFill>
              </a:rPr>
              <a:t>Bridging the literature to our empirical design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268" name="Google Shape;268;p6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6"/>
          <p:cNvSpPr/>
          <p:nvPr/>
        </p:nvSpPr>
        <p:spPr>
          <a:xfrm>
            <a:off x="365760" y="5001768"/>
            <a:ext cx="84124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b="0" i="0" lang="en-US" sz="800" u="none" cap="none" strike="noStrike">
                <a:solidFill>
                  <a:srgbClr val="7BAF96"/>
                </a:solidFill>
                <a:latin typeface="Cambria"/>
                <a:ea typeface="Cambria"/>
                <a:cs typeface="Cambria"/>
                <a:sym typeface="Cambria"/>
              </a:rPr>
              <a:t>UBC SAUDER  ·  COMM 486I  ·  GROUP 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6"/>
          <p:cNvSpPr/>
          <p:nvPr/>
        </p:nvSpPr>
        <p:spPr>
          <a:xfrm>
            <a:off x="457200" y="960125"/>
            <a:ext cx="3977700" cy="15987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6"/>
          <p:cNvSpPr/>
          <p:nvPr/>
        </p:nvSpPr>
        <p:spPr>
          <a:xfrm>
            <a:off x="457200" y="960120"/>
            <a:ext cx="3977640" cy="347472"/>
          </a:xfrm>
          <a:prstGeom prst="rect">
            <a:avLst/>
          </a:prstGeom>
          <a:solidFill>
            <a:srgbClr val="002145"/>
          </a:solidFill>
          <a:ln cap="flat" cmpd="sng" w="1270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6"/>
          <p:cNvSpPr/>
          <p:nvPr/>
        </p:nvSpPr>
        <p:spPr>
          <a:xfrm>
            <a:off x="594360" y="987552"/>
            <a:ext cx="3703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</a:rPr>
              <a:t>H1  —  Fundamental Mispricing</a:t>
            </a:r>
            <a:endParaRPr i="0" sz="1200" u="none" cap="none" strike="noStrike">
              <a:solidFill>
                <a:schemeClr val="dk1"/>
              </a:solidFill>
            </a:endParaRPr>
          </a:p>
        </p:txBody>
      </p:sp>
      <p:sp>
        <p:nvSpPr>
          <p:cNvPr id="273" name="Google Shape;273;p6"/>
          <p:cNvSpPr/>
          <p:nvPr/>
        </p:nvSpPr>
        <p:spPr>
          <a:xfrm>
            <a:off x="594360" y="1271000"/>
            <a:ext cx="3703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1A2618"/>
                </a:solidFill>
              </a:rPr>
              <a:t>Ghost postings inflate perceived growth. Investors over-extrapolate hiring signals into future earnings. Once the fundamental gap is revealed — through missed earnings or hiring stalls — prices correct downward.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274" name="Google Shape;274;p6"/>
          <p:cNvSpPr/>
          <p:nvPr/>
        </p:nvSpPr>
        <p:spPr>
          <a:xfrm>
            <a:off x="594360" y="2231120"/>
            <a:ext cx="3749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950"/>
              <a:buFont typeface="Cambria"/>
              <a:buNone/>
            </a:pPr>
            <a:r>
              <a:rPr b="1" i="0" lang="en-US" sz="950" u="none" cap="none" strike="noStrike">
                <a:solidFill>
                  <a:srgbClr val="002145"/>
                </a:solidFill>
              </a:rPr>
              <a:t>→  Prediction: Ghost firms earn negative long-run abnormal returns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275" name="Google Shape;275;p6"/>
          <p:cNvSpPr/>
          <p:nvPr/>
        </p:nvSpPr>
        <p:spPr>
          <a:xfrm>
            <a:off x="4709160" y="960125"/>
            <a:ext cx="3977700" cy="15987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6"/>
          <p:cNvSpPr/>
          <p:nvPr/>
        </p:nvSpPr>
        <p:spPr>
          <a:xfrm>
            <a:off x="4709160" y="960120"/>
            <a:ext cx="3977640" cy="347472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6"/>
          <p:cNvSpPr/>
          <p:nvPr/>
        </p:nvSpPr>
        <p:spPr>
          <a:xfrm>
            <a:off x="4846320" y="987552"/>
            <a:ext cx="3703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</a:rPr>
              <a:t>H2  —  Attention &amp; Behavioural Premium</a:t>
            </a:r>
            <a:endParaRPr i="0" sz="1200" u="none" cap="none" strike="noStrike">
              <a:solidFill>
                <a:schemeClr val="dk1"/>
              </a:solidFill>
            </a:endParaRPr>
          </a:p>
        </p:txBody>
      </p:sp>
      <p:sp>
        <p:nvSpPr>
          <p:cNvPr id="278" name="Google Shape;278;p6"/>
          <p:cNvSpPr/>
          <p:nvPr/>
        </p:nvSpPr>
        <p:spPr>
          <a:xfrm>
            <a:off x="4846320" y="1271000"/>
            <a:ext cx="3703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1A2618"/>
                </a:solidFill>
              </a:rPr>
              <a:t>High posting volume attracts investor attention and signals growth ambition. Sentiment-driven demand can persist even without fundamental support, and limits to arbitrage prevent rapid correction of the resulting mispricing.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279" name="Google Shape;279;p6"/>
          <p:cNvSpPr/>
          <p:nvPr/>
        </p:nvSpPr>
        <p:spPr>
          <a:xfrm>
            <a:off x="4846320" y="2231120"/>
            <a:ext cx="3749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950"/>
              <a:buFont typeface="Cambria"/>
              <a:buNone/>
            </a:pPr>
            <a:r>
              <a:rPr b="1" i="0" lang="en-US" sz="950" u="none" cap="none" strike="noStrike">
                <a:solidFill>
                  <a:srgbClr val="005C3B"/>
                </a:solidFill>
              </a:rPr>
              <a:t>→  Prediction: Ghost firms earn a near-to-medium-term attention premium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280" name="Google Shape;280;p6"/>
          <p:cNvSpPr/>
          <p:nvPr/>
        </p:nvSpPr>
        <p:spPr>
          <a:xfrm>
            <a:off x="4233672" y="1417320"/>
            <a:ext cx="67665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vs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6"/>
          <p:cNvSpPr/>
          <p:nvPr/>
        </p:nvSpPr>
        <p:spPr>
          <a:xfrm>
            <a:off x="457200" y="2633472"/>
            <a:ext cx="8229600" cy="566928"/>
          </a:xfrm>
          <a:prstGeom prst="rect">
            <a:avLst/>
          </a:prstGeom>
          <a:solidFill>
            <a:srgbClr val="D4EDE2"/>
          </a:solidFill>
          <a:ln cap="flat" cmpd="sng" w="12700">
            <a:solidFill>
              <a:srgbClr val="D4EDE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6"/>
          <p:cNvSpPr/>
          <p:nvPr/>
        </p:nvSpPr>
        <p:spPr>
          <a:xfrm>
            <a:off x="502920" y="2688336"/>
            <a:ext cx="1554480" cy="457200"/>
          </a:xfrm>
          <a:prstGeom prst="rect">
            <a:avLst/>
          </a:prstGeom>
          <a:solidFill>
            <a:srgbClr val="002145"/>
          </a:solidFill>
          <a:ln cap="flat" cmpd="sng" w="1270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6"/>
          <p:cNvSpPr/>
          <p:nvPr/>
        </p:nvSpPr>
        <p:spPr>
          <a:xfrm>
            <a:off x="502920" y="2688336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Ghost Posting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cxnSp>
        <p:nvCxnSpPr>
          <p:cNvPr id="284" name="Google Shape;284;p6"/>
          <p:cNvCxnSpPr/>
          <p:nvPr/>
        </p:nvCxnSpPr>
        <p:spPr>
          <a:xfrm>
            <a:off x="2057400" y="2916936"/>
            <a:ext cx="137160" cy="0"/>
          </a:xfrm>
          <a:prstGeom prst="straightConnector1">
            <a:avLst/>
          </a:prstGeom>
          <a:noFill/>
          <a:ln cap="flat" cmpd="sng" w="19050">
            <a:solidFill>
              <a:srgbClr val="4E605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5" name="Google Shape;285;p6"/>
          <p:cNvSpPr/>
          <p:nvPr/>
        </p:nvSpPr>
        <p:spPr>
          <a:xfrm>
            <a:off x="2148840" y="2688336"/>
            <a:ext cx="1554480" cy="457200"/>
          </a:xfrm>
          <a:prstGeom prst="rect">
            <a:avLst/>
          </a:prstGeom>
          <a:solidFill>
            <a:srgbClr val="1F6095"/>
          </a:solidFill>
          <a:ln cap="flat" cmpd="sng" w="12700">
            <a:solidFill>
              <a:srgbClr val="1F60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6"/>
          <p:cNvSpPr/>
          <p:nvPr/>
        </p:nvSpPr>
        <p:spPr>
          <a:xfrm>
            <a:off x="2148840" y="2688336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Inflated Growth</a:t>
            </a:r>
            <a:endParaRPr i="0" sz="9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Signal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cxnSp>
        <p:nvCxnSpPr>
          <p:cNvPr id="287" name="Google Shape;287;p6"/>
          <p:cNvCxnSpPr/>
          <p:nvPr/>
        </p:nvCxnSpPr>
        <p:spPr>
          <a:xfrm>
            <a:off x="3703320" y="2916936"/>
            <a:ext cx="137160" cy="0"/>
          </a:xfrm>
          <a:prstGeom prst="straightConnector1">
            <a:avLst/>
          </a:prstGeom>
          <a:noFill/>
          <a:ln cap="flat" cmpd="sng" w="19050">
            <a:solidFill>
              <a:srgbClr val="4E605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" name="Google Shape;288;p6"/>
          <p:cNvSpPr/>
          <p:nvPr/>
        </p:nvSpPr>
        <p:spPr>
          <a:xfrm>
            <a:off x="3794760" y="2688336"/>
            <a:ext cx="1554480" cy="457200"/>
          </a:xfrm>
          <a:prstGeom prst="rect">
            <a:avLst/>
          </a:prstGeom>
          <a:solidFill>
            <a:srgbClr val="1F6095"/>
          </a:solidFill>
          <a:ln cap="flat" cmpd="sng" w="12700">
            <a:solidFill>
              <a:srgbClr val="1F60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6"/>
          <p:cNvSpPr/>
          <p:nvPr/>
        </p:nvSpPr>
        <p:spPr>
          <a:xfrm>
            <a:off x="3794760" y="2688336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Investor</a:t>
            </a:r>
            <a:endParaRPr i="0" sz="9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Perception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cxnSp>
        <p:nvCxnSpPr>
          <p:cNvPr id="290" name="Google Shape;290;p6"/>
          <p:cNvCxnSpPr/>
          <p:nvPr/>
        </p:nvCxnSpPr>
        <p:spPr>
          <a:xfrm>
            <a:off x="5349240" y="2916936"/>
            <a:ext cx="137160" cy="0"/>
          </a:xfrm>
          <a:prstGeom prst="straightConnector1">
            <a:avLst/>
          </a:prstGeom>
          <a:noFill/>
          <a:ln cap="flat" cmpd="sng" w="19050">
            <a:solidFill>
              <a:srgbClr val="4E605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1" name="Google Shape;291;p6"/>
          <p:cNvSpPr/>
          <p:nvPr/>
        </p:nvSpPr>
        <p:spPr>
          <a:xfrm>
            <a:off x="5440680" y="2688336"/>
            <a:ext cx="1554480" cy="4572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6"/>
          <p:cNvSpPr/>
          <p:nvPr/>
        </p:nvSpPr>
        <p:spPr>
          <a:xfrm>
            <a:off x="5440680" y="2688336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Near-term</a:t>
            </a:r>
            <a:endParaRPr i="0" sz="9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Demand ↑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cxnSp>
        <p:nvCxnSpPr>
          <p:cNvPr id="293" name="Google Shape;293;p6"/>
          <p:cNvCxnSpPr/>
          <p:nvPr/>
        </p:nvCxnSpPr>
        <p:spPr>
          <a:xfrm>
            <a:off x="6995160" y="2916936"/>
            <a:ext cx="137160" cy="0"/>
          </a:xfrm>
          <a:prstGeom prst="straightConnector1">
            <a:avLst/>
          </a:prstGeom>
          <a:noFill/>
          <a:ln cap="flat" cmpd="sng" w="19050">
            <a:solidFill>
              <a:srgbClr val="4E605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4" name="Google Shape;294;p6"/>
          <p:cNvSpPr/>
          <p:nvPr/>
        </p:nvSpPr>
        <p:spPr>
          <a:xfrm>
            <a:off x="7086600" y="2688336"/>
            <a:ext cx="1554480" cy="457200"/>
          </a:xfrm>
          <a:prstGeom prst="rect">
            <a:avLst/>
          </a:prstGeom>
          <a:solidFill>
            <a:srgbClr val="AD1520"/>
          </a:solidFill>
          <a:ln cap="flat" cmpd="sng" w="12700">
            <a:solidFill>
              <a:srgbClr val="AD15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6"/>
          <p:cNvSpPr/>
          <p:nvPr/>
        </p:nvSpPr>
        <p:spPr>
          <a:xfrm>
            <a:off x="7086600" y="2688336"/>
            <a:ext cx="1554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Fundamental</a:t>
            </a:r>
            <a:endParaRPr i="0" sz="9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Gap Widens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296" name="Google Shape;296;p6"/>
          <p:cNvSpPr/>
          <p:nvPr/>
        </p:nvSpPr>
        <p:spPr>
          <a:xfrm>
            <a:off x="457200" y="3310128"/>
            <a:ext cx="8229600" cy="1481328"/>
          </a:xfrm>
          <a:prstGeom prst="rect">
            <a:avLst/>
          </a:prstGeom>
          <a:solidFill>
            <a:srgbClr val="D4EDE2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6"/>
          <p:cNvSpPr/>
          <p:nvPr/>
        </p:nvSpPr>
        <p:spPr>
          <a:xfrm>
            <a:off x="457200" y="3310128"/>
            <a:ext cx="91440" cy="1481328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6"/>
          <p:cNvSpPr/>
          <p:nvPr/>
        </p:nvSpPr>
        <p:spPr>
          <a:xfrm>
            <a:off x="658368" y="3401568"/>
            <a:ext cx="7818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005C3B"/>
                </a:solidFill>
              </a:rPr>
              <a:t>Ghost Score Formula</a:t>
            </a:r>
            <a:endParaRPr b="1" i="0" sz="1200" u="none" cap="none" strike="noStrike">
              <a:solidFill>
                <a:schemeClr val="dk1"/>
              </a:solidFill>
            </a:endParaRPr>
          </a:p>
        </p:txBody>
      </p:sp>
      <p:sp>
        <p:nvSpPr>
          <p:cNvPr id="299" name="Google Shape;299;p6"/>
          <p:cNvSpPr/>
          <p:nvPr/>
        </p:nvSpPr>
        <p:spPr>
          <a:xfrm>
            <a:off x="658368" y="3721608"/>
            <a:ext cx="7818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1400"/>
              <a:buFont typeface="Bookman Old Style"/>
              <a:buNone/>
            </a:pPr>
            <a:r>
              <a:rPr b="1" i="1" lang="en-US" u="none" cap="none" strike="noStrike">
                <a:solidFill>
                  <a:srgbClr val="002145"/>
                </a:solidFill>
              </a:rPr>
              <a:t>GhostScore</a:t>
            </a:r>
            <a:r>
              <a:rPr lang="en-US" u="none" cap="none" strike="noStrike">
                <a:solidFill>
                  <a:srgbClr val="1A2618"/>
                </a:solidFill>
              </a:rPr>
              <a:t xml:space="preserve">(i, t)  =  1  −  </a:t>
            </a:r>
            <a:r>
              <a:rPr lang="en-US" u="none" cap="none" strike="noStrike">
                <a:solidFill>
                  <a:srgbClr val="1F6095"/>
                </a:solidFill>
              </a:rPr>
              <a:t>Rankt</a:t>
            </a:r>
            <a:r>
              <a:rPr lang="en-US" u="none" cap="none" strike="noStrike">
                <a:solidFill>
                  <a:srgbClr val="1A2618"/>
                </a:solidFill>
              </a:rPr>
              <a:t xml:space="preserve"> [ </a:t>
            </a:r>
            <a:r>
              <a:rPr b="1" lang="en-US" u="none" cap="none" strike="noStrike">
                <a:solidFill>
                  <a:srgbClr val="005C3B"/>
                </a:solidFill>
              </a:rPr>
              <a:t>PredFillRate</a:t>
            </a:r>
            <a:r>
              <a:rPr lang="en-US" u="none" cap="none" strike="noStrike">
                <a:solidFill>
                  <a:srgbClr val="1A2618"/>
                </a:solidFill>
              </a:rPr>
              <a:t>(i, t) ] / Nt</a:t>
            </a:r>
            <a:endParaRPr u="none" cap="none" strike="noStrike">
              <a:solidFill>
                <a:schemeClr val="dk1"/>
              </a:solidFill>
            </a:endParaRPr>
          </a:p>
        </p:txBody>
      </p:sp>
      <p:sp>
        <p:nvSpPr>
          <p:cNvPr id="300" name="Google Shape;300;p6"/>
          <p:cNvSpPr/>
          <p:nvPr/>
        </p:nvSpPr>
        <p:spPr>
          <a:xfrm>
            <a:off x="658368" y="4087368"/>
            <a:ext cx="78181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200"/>
              <a:buFont typeface="Bookman Old Style"/>
              <a:buNone/>
            </a:pPr>
            <a:r>
              <a:rPr b="1" i="1" lang="en-US" u="none" cap="none" strike="noStrike">
                <a:solidFill>
                  <a:srgbClr val="005C3B"/>
                </a:solidFill>
              </a:rPr>
              <a:t>PredFillRate</a:t>
            </a:r>
            <a:r>
              <a:rPr lang="en-US" u="none" cap="none" strike="noStrike">
                <a:solidFill>
                  <a:srgbClr val="1A2618"/>
                </a:solidFill>
              </a:rPr>
              <a:t>(i, t)  =  XGBoost[X(i, t)]  /  Postings(i, t)</a:t>
            </a:r>
            <a:r>
              <a:rPr lang="en-US" u="none" cap="none" strike="noStrike">
                <a:solidFill>
                  <a:srgbClr val="4E6057"/>
                </a:solidFill>
              </a:rPr>
              <a:t xml:space="preserve">   predicting inflows at  t + 1  [no lookahead]</a:t>
            </a:r>
            <a:endParaRPr u="none" cap="none" strike="noStrike">
              <a:solidFill>
                <a:schemeClr val="dk1"/>
              </a:solidFill>
            </a:endParaRPr>
          </a:p>
        </p:txBody>
      </p:sp>
      <p:sp>
        <p:nvSpPr>
          <p:cNvPr id="301" name="Google Shape;301;p6"/>
          <p:cNvSpPr/>
          <p:nvPr/>
        </p:nvSpPr>
        <p:spPr>
          <a:xfrm>
            <a:off x="658368" y="4443984"/>
            <a:ext cx="78181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00"/>
              <a:buFont typeface="Cambria"/>
              <a:buNone/>
            </a:pPr>
            <a:r>
              <a:rPr i="1" lang="en-US" sz="1000" u="none" cap="none" strike="noStrike">
                <a:solidFill>
                  <a:srgbClr val="4E6057"/>
                </a:solidFill>
              </a:rPr>
              <a:t>Score → 0: genuine hirer   |   Score → 1: ghost firm (low predicted fill relative to all firms in same quarter)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D28"/>
        </a:solid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7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7"/>
          <p:cNvSpPr/>
          <p:nvPr/>
        </p:nvSpPr>
        <p:spPr>
          <a:xfrm>
            <a:off x="457200" y="457200"/>
            <a:ext cx="18288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8000"/>
              <a:buFont typeface="Times New Roman"/>
              <a:buNone/>
            </a:pPr>
            <a:r>
              <a:rPr b="1" i="0" lang="en-US" sz="8000" u="none" cap="none" strike="noStrike">
                <a:solidFill>
                  <a:srgbClr val="005C3B"/>
                </a:solidFill>
              </a:rPr>
              <a:t>02</a:t>
            </a:r>
            <a:endParaRPr i="0" sz="8000" u="none" cap="none" strike="noStrike">
              <a:solidFill>
                <a:schemeClr val="dk1"/>
              </a:solidFill>
            </a:endParaRPr>
          </a:p>
        </p:txBody>
      </p:sp>
      <p:sp>
        <p:nvSpPr>
          <p:cNvPr id="309" name="Google Shape;309;p7"/>
          <p:cNvSpPr/>
          <p:nvPr/>
        </p:nvSpPr>
        <p:spPr>
          <a:xfrm>
            <a:off x="457200" y="1920240"/>
            <a:ext cx="80467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</a:rPr>
              <a:t>Model Design &amp;</a:t>
            </a:r>
            <a:endParaRPr i="0" sz="3600" u="none" cap="none" strike="noStrike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</a:rPr>
              <a:t>Implementation</a:t>
            </a:r>
            <a:endParaRPr i="0" sz="3600" u="none" cap="none" strike="noStrike">
              <a:solidFill>
                <a:schemeClr val="dk1"/>
              </a:solidFill>
            </a:endParaRPr>
          </a:p>
        </p:txBody>
      </p:sp>
      <p:cxnSp>
        <p:nvCxnSpPr>
          <p:cNvPr id="310" name="Google Shape;310;p7"/>
          <p:cNvCxnSpPr/>
          <p:nvPr/>
        </p:nvCxnSpPr>
        <p:spPr>
          <a:xfrm>
            <a:off x="457200" y="3090672"/>
            <a:ext cx="7772400" cy="0"/>
          </a:xfrm>
          <a:prstGeom prst="straightConnector1">
            <a:avLst/>
          </a:prstGeom>
          <a:noFill/>
          <a:ln cap="flat" cmpd="sng" w="15225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1" name="Google Shape;311;p7"/>
          <p:cNvSpPr/>
          <p:nvPr/>
        </p:nvSpPr>
        <p:spPr>
          <a:xfrm>
            <a:off x="457200" y="3218688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1400"/>
              <a:buFont typeface="Cambria"/>
              <a:buNone/>
            </a:pPr>
            <a:r>
              <a:rPr i="0" lang="en-US" sz="1400" u="none" cap="none" strike="noStrike">
                <a:solidFill>
                  <a:srgbClr val="7BAF96"/>
                </a:solidFill>
              </a:rPr>
              <a:t>XGBoost prediction · SHAP attribution · GMM cluster validation</a:t>
            </a:r>
            <a:endParaRPr i="0" sz="1400" u="none" cap="none" strike="noStrike">
              <a:solidFill>
                <a:schemeClr val="dk1"/>
              </a:solidFill>
            </a:endParaRPr>
          </a:p>
        </p:txBody>
      </p:sp>
      <p:sp>
        <p:nvSpPr>
          <p:cNvPr id="312" name="Google Shape;312;p7"/>
          <p:cNvSpPr/>
          <p:nvPr/>
        </p:nvSpPr>
        <p:spPr>
          <a:xfrm>
            <a:off x="5029200" y="466344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7BAF96"/>
                </a:solidFill>
              </a:rPr>
              <a:t>UBC SAUDER  ·  COMM 486I  ·  GROUP 6</a:t>
            </a:r>
            <a:endParaRPr i="0" sz="85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8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8"/>
          <p:cNvSpPr/>
          <p:nvPr/>
        </p:nvSpPr>
        <p:spPr>
          <a:xfrm>
            <a:off x="457200" y="155448"/>
            <a:ext cx="8046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2100"/>
              <a:buFont typeface="Cambria"/>
              <a:buNone/>
            </a:pPr>
            <a:r>
              <a:rPr b="1" i="0" lang="en-US" sz="2400" u="none" cap="none" strike="noStrike">
                <a:solidFill>
                  <a:srgbClr val="005C3B"/>
                </a:solidFill>
              </a:rPr>
              <a:t>PIPELINE OVERVIEW</a:t>
            </a:r>
            <a:endParaRPr i="0" sz="2400" u="none" cap="none" strike="noStrike">
              <a:solidFill>
                <a:schemeClr val="dk1"/>
              </a:solidFill>
            </a:endParaRPr>
          </a:p>
        </p:txBody>
      </p:sp>
      <p:sp>
        <p:nvSpPr>
          <p:cNvPr id="320" name="Google Shape;320;p8"/>
          <p:cNvSpPr/>
          <p:nvPr/>
        </p:nvSpPr>
        <p:spPr>
          <a:xfrm>
            <a:off x="457200" y="640080"/>
            <a:ext cx="804672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4E6057"/>
                </a:solidFill>
              </a:rPr>
              <a:t>Three-output framework: predicted fill rate · actual fill rate · posting volume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321" name="Google Shape;321;p8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365760" y="5001768"/>
            <a:ext cx="84124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b="0" i="0" lang="en-US" sz="800" u="none" cap="none" strike="noStrike">
                <a:solidFill>
                  <a:srgbClr val="7BAF96"/>
                </a:solidFill>
                <a:latin typeface="Cambria"/>
                <a:ea typeface="Cambria"/>
                <a:cs typeface="Cambria"/>
                <a:sym typeface="Cambria"/>
              </a:rPr>
              <a:t>UBC SAUDER  ·  COMM 486I  ·  GROUP 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"/>
          <p:cNvSpPr/>
          <p:nvPr/>
        </p:nvSpPr>
        <p:spPr>
          <a:xfrm>
            <a:off x="347472" y="960120"/>
            <a:ext cx="1325880" cy="1463040"/>
          </a:xfrm>
          <a:prstGeom prst="rect">
            <a:avLst/>
          </a:prstGeom>
          <a:solidFill>
            <a:srgbClr val="002145"/>
          </a:solidFill>
          <a:ln cap="flat" cmpd="sng" w="1270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8"/>
          <p:cNvSpPr/>
          <p:nvPr/>
        </p:nvSpPr>
        <p:spPr>
          <a:xfrm>
            <a:off x="347472" y="1088136"/>
            <a:ext cx="1325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</a:rPr>
              <a:t>Revelio Labs</a:t>
            </a:r>
            <a:endParaRPr i="0" sz="115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</a:rPr>
              <a:t>Data</a:t>
            </a:r>
            <a:endParaRPr i="0" sz="1150" u="none" cap="none" strike="noStrike">
              <a:solidFill>
                <a:schemeClr val="dk1"/>
              </a:solidFill>
            </a:endParaRPr>
          </a:p>
        </p:txBody>
      </p:sp>
      <p:sp>
        <p:nvSpPr>
          <p:cNvPr id="325" name="Google Shape;325;p8"/>
          <p:cNvSpPr/>
          <p:nvPr/>
        </p:nvSpPr>
        <p:spPr>
          <a:xfrm>
            <a:off x="347472" y="1618488"/>
            <a:ext cx="13258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D4EDE2"/>
                </a:solidFill>
              </a:rPr>
              <a:t>310k postings</a:t>
            </a:r>
            <a:endParaRPr i="0" sz="85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D4EDE2"/>
                </a:solidFill>
              </a:rPr>
              <a:t>2,919 firms</a:t>
            </a:r>
            <a:endParaRPr i="0" sz="85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D4EDE2"/>
                </a:solidFill>
              </a:rPr>
              <a:t>2009–2024</a:t>
            </a:r>
            <a:endParaRPr i="0" sz="850" u="none" cap="none" strike="noStrike">
              <a:solidFill>
                <a:schemeClr val="dk1"/>
              </a:solidFill>
            </a:endParaRPr>
          </a:p>
        </p:txBody>
      </p:sp>
      <p:cxnSp>
        <p:nvCxnSpPr>
          <p:cNvPr id="326" name="Google Shape;326;p8"/>
          <p:cNvCxnSpPr/>
          <p:nvPr/>
        </p:nvCxnSpPr>
        <p:spPr>
          <a:xfrm>
            <a:off x="1673352" y="1691640"/>
            <a:ext cx="109728" cy="0"/>
          </a:xfrm>
          <a:prstGeom prst="straightConnector1">
            <a:avLst/>
          </a:prstGeom>
          <a:noFill/>
          <a:ln cap="flat" cmpd="sng" w="190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7" name="Google Shape;327;p8"/>
          <p:cNvSpPr/>
          <p:nvPr/>
        </p:nvSpPr>
        <p:spPr>
          <a:xfrm>
            <a:off x="1783080" y="960120"/>
            <a:ext cx="1325880" cy="1463040"/>
          </a:xfrm>
          <a:prstGeom prst="rect">
            <a:avLst/>
          </a:prstGeom>
          <a:solidFill>
            <a:srgbClr val="1F6095"/>
          </a:solidFill>
          <a:ln cap="flat" cmpd="sng" w="12700">
            <a:solidFill>
              <a:srgbClr val="1F6095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8"/>
          <p:cNvSpPr/>
          <p:nvPr/>
        </p:nvSpPr>
        <p:spPr>
          <a:xfrm>
            <a:off x="1783080" y="1088136"/>
            <a:ext cx="1325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</a:rPr>
              <a:t>Feature</a:t>
            </a:r>
            <a:endParaRPr i="0" sz="115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</a:rPr>
              <a:t>Engineering</a:t>
            </a:r>
            <a:endParaRPr i="0" sz="1150" u="none" cap="none" strike="noStrike">
              <a:solidFill>
                <a:schemeClr val="dk1"/>
              </a:solidFill>
            </a:endParaRPr>
          </a:p>
        </p:txBody>
      </p:sp>
      <p:sp>
        <p:nvSpPr>
          <p:cNvPr id="329" name="Google Shape;329;p8"/>
          <p:cNvSpPr/>
          <p:nvPr/>
        </p:nvSpPr>
        <p:spPr>
          <a:xfrm>
            <a:off x="1783080" y="1618488"/>
            <a:ext cx="13258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D4EDE2"/>
                </a:solidFill>
              </a:rPr>
              <a:t>14 features: 10 posting</a:t>
            </a:r>
            <a:endParaRPr i="0" sz="85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D4EDE2"/>
                </a:solidFill>
              </a:rPr>
              <a:t>behavioural + 4 company</a:t>
            </a:r>
            <a:endParaRPr i="0" sz="850" u="none" cap="none" strike="noStrike">
              <a:solidFill>
                <a:schemeClr val="dk1"/>
              </a:solidFill>
            </a:endParaRPr>
          </a:p>
        </p:txBody>
      </p:sp>
      <p:cxnSp>
        <p:nvCxnSpPr>
          <p:cNvPr id="330" name="Google Shape;330;p8"/>
          <p:cNvCxnSpPr/>
          <p:nvPr/>
        </p:nvCxnSpPr>
        <p:spPr>
          <a:xfrm>
            <a:off x="3108960" y="1691640"/>
            <a:ext cx="109728" cy="0"/>
          </a:xfrm>
          <a:prstGeom prst="straightConnector1">
            <a:avLst/>
          </a:prstGeom>
          <a:noFill/>
          <a:ln cap="flat" cmpd="sng" w="190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1" name="Google Shape;331;p8"/>
          <p:cNvSpPr/>
          <p:nvPr/>
        </p:nvSpPr>
        <p:spPr>
          <a:xfrm>
            <a:off x="3218688" y="960120"/>
            <a:ext cx="1325880" cy="146304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3218688" y="1088136"/>
            <a:ext cx="1325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</a:rPr>
              <a:t>XGBoost</a:t>
            </a:r>
            <a:endParaRPr i="0" sz="115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</a:rPr>
              <a:t>Regression</a:t>
            </a:r>
            <a:endParaRPr i="0" sz="1150" u="none" cap="none" strike="noStrike">
              <a:solidFill>
                <a:schemeClr val="dk1"/>
              </a:solidFill>
            </a:endParaRPr>
          </a:p>
        </p:txBody>
      </p:sp>
      <p:sp>
        <p:nvSpPr>
          <p:cNvPr id="333" name="Google Shape;333;p8"/>
          <p:cNvSpPr/>
          <p:nvPr/>
        </p:nvSpPr>
        <p:spPr>
          <a:xfrm>
            <a:off x="3218688" y="1618488"/>
            <a:ext cx="13258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D4EDE2"/>
                </a:solidFill>
              </a:rPr>
              <a:t>Predicts Q+1</a:t>
            </a:r>
            <a:endParaRPr i="0" sz="85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D4EDE2"/>
                </a:solidFill>
              </a:rPr>
              <a:t>inflows (no leakage)</a:t>
            </a:r>
            <a:endParaRPr i="0" sz="85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D4EDE2"/>
                </a:solidFill>
              </a:rPr>
              <a:t>Test R²=0.49</a:t>
            </a:r>
            <a:endParaRPr i="0" sz="850" u="none" cap="none" strike="noStrike">
              <a:solidFill>
                <a:schemeClr val="dk1"/>
              </a:solidFill>
            </a:endParaRPr>
          </a:p>
        </p:txBody>
      </p:sp>
      <p:cxnSp>
        <p:nvCxnSpPr>
          <p:cNvPr id="334" name="Google Shape;334;p8"/>
          <p:cNvCxnSpPr/>
          <p:nvPr/>
        </p:nvCxnSpPr>
        <p:spPr>
          <a:xfrm>
            <a:off x="4544568" y="1691640"/>
            <a:ext cx="109728" cy="0"/>
          </a:xfrm>
          <a:prstGeom prst="straightConnector1">
            <a:avLst/>
          </a:prstGeom>
          <a:noFill/>
          <a:ln cap="flat" cmpd="sng" w="190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5" name="Google Shape;335;p8"/>
          <p:cNvSpPr/>
          <p:nvPr/>
        </p:nvSpPr>
        <p:spPr>
          <a:xfrm>
            <a:off x="4654296" y="960120"/>
            <a:ext cx="1325880" cy="1463040"/>
          </a:xfrm>
          <a:prstGeom prst="rect">
            <a:avLst/>
          </a:prstGeom>
          <a:solidFill>
            <a:srgbClr val="007A52"/>
          </a:solidFill>
          <a:ln cap="flat" cmpd="sng" w="12700">
            <a:solidFill>
              <a:srgbClr val="007A52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8"/>
          <p:cNvSpPr/>
          <p:nvPr/>
        </p:nvSpPr>
        <p:spPr>
          <a:xfrm>
            <a:off x="4654296" y="1088136"/>
            <a:ext cx="1325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</a:rPr>
              <a:t>SHAP</a:t>
            </a:r>
            <a:endParaRPr i="0" sz="115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</a:rPr>
              <a:t>Analysis</a:t>
            </a:r>
            <a:endParaRPr i="0" sz="1150" u="none" cap="none" strike="noStrike">
              <a:solidFill>
                <a:schemeClr val="dk1"/>
              </a:solidFill>
            </a:endParaRPr>
          </a:p>
        </p:txBody>
      </p:sp>
      <p:sp>
        <p:nvSpPr>
          <p:cNvPr id="337" name="Google Shape;337;p8"/>
          <p:cNvSpPr/>
          <p:nvPr/>
        </p:nvSpPr>
        <p:spPr>
          <a:xfrm>
            <a:off x="4654296" y="1618488"/>
            <a:ext cx="13258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D4EDE2"/>
                </a:solidFill>
              </a:rPr>
              <a:t>Feature attribution</a:t>
            </a:r>
            <a:endParaRPr i="0" sz="85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D4EDE2"/>
                </a:solidFill>
              </a:rPr>
              <a:t>per firm-quarter</a:t>
            </a:r>
            <a:endParaRPr i="0" sz="850" u="none" cap="none" strike="noStrike">
              <a:solidFill>
                <a:schemeClr val="dk1"/>
              </a:solidFill>
            </a:endParaRPr>
          </a:p>
        </p:txBody>
      </p:sp>
      <p:cxnSp>
        <p:nvCxnSpPr>
          <p:cNvPr id="338" name="Google Shape;338;p8"/>
          <p:cNvCxnSpPr/>
          <p:nvPr/>
        </p:nvCxnSpPr>
        <p:spPr>
          <a:xfrm>
            <a:off x="5980176" y="1691640"/>
            <a:ext cx="109728" cy="0"/>
          </a:xfrm>
          <a:prstGeom prst="straightConnector1">
            <a:avLst/>
          </a:prstGeom>
          <a:noFill/>
          <a:ln cap="flat" cmpd="sng" w="190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9" name="Google Shape;339;p8"/>
          <p:cNvSpPr/>
          <p:nvPr/>
        </p:nvSpPr>
        <p:spPr>
          <a:xfrm>
            <a:off x="6089904" y="960120"/>
            <a:ext cx="1325880" cy="1463040"/>
          </a:xfrm>
          <a:prstGeom prst="rect">
            <a:avLst/>
          </a:prstGeom>
          <a:solidFill>
            <a:srgbClr val="9A6F00"/>
          </a:solidFill>
          <a:ln cap="flat" cmpd="sng" w="12700">
            <a:solidFill>
              <a:srgbClr val="9A6F00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6089904" y="1088136"/>
            <a:ext cx="1325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</a:rPr>
              <a:t>Ghost</a:t>
            </a:r>
            <a:endParaRPr i="0" sz="115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</a:rPr>
              <a:t>Intensity Score</a:t>
            </a:r>
            <a:endParaRPr i="0" sz="1150" u="none" cap="none" strike="noStrike">
              <a:solidFill>
                <a:schemeClr val="dk1"/>
              </a:solidFill>
            </a:endParaRPr>
          </a:p>
        </p:txBody>
      </p:sp>
      <p:sp>
        <p:nvSpPr>
          <p:cNvPr id="341" name="Google Shape;341;p8"/>
          <p:cNvSpPr/>
          <p:nvPr/>
        </p:nvSpPr>
        <p:spPr>
          <a:xfrm>
            <a:off x="6089904" y="1618488"/>
            <a:ext cx="13258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D4EDE2"/>
                </a:solidFill>
              </a:rPr>
              <a:t>Pred fill rate</a:t>
            </a:r>
            <a:endParaRPr i="0" sz="85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D4EDE2"/>
                </a:solidFill>
              </a:rPr>
              <a:t>→ percentile rank</a:t>
            </a:r>
            <a:endParaRPr i="0" sz="85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D4EDE2"/>
                </a:solidFill>
              </a:rPr>
              <a:t>→ 0–1 score</a:t>
            </a:r>
            <a:endParaRPr i="0" sz="850" u="none" cap="none" strike="noStrike">
              <a:solidFill>
                <a:schemeClr val="dk1"/>
              </a:solidFill>
            </a:endParaRPr>
          </a:p>
        </p:txBody>
      </p:sp>
      <p:cxnSp>
        <p:nvCxnSpPr>
          <p:cNvPr id="342" name="Google Shape;342;p8"/>
          <p:cNvCxnSpPr/>
          <p:nvPr/>
        </p:nvCxnSpPr>
        <p:spPr>
          <a:xfrm>
            <a:off x="7415784" y="1691640"/>
            <a:ext cx="109728" cy="0"/>
          </a:xfrm>
          <a:prstGeom prst="straightConnector1">
            <a:avLst/>
          </a:prstGeom>
          <a:noFill/>
          <a:ln cap="flat" cmpd="sng" w="190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3" name="Google Shape;343;p8"/>
          <p:cNvSpPr/>
          <p:nvPr/>
        </p:nvSpPr>
        <p:spPr>
          <a:xfrm>
            <a:off x="7525512" y="960120"/>
            <a:ext cx="1325880" cy="1463040"/>
          </a:xfrm>
          <a:prstGeom prst="rect">
            <a:avLst/>
          </a:prstGeom>
          <a:solidFill>
            <a:srgbClr val="002145"/>
          </a:solidFill>
          <a:ln cap="flat" cmpd="sng" w="1270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8"/>
          <p:cNvSpPr/>
          <p:nvPr/>
        </p:nvSpPr>
        <p:spPr>
          <a:xfrm>
            <a:off x="7525512" y="1088136"/>
            <a:ext cx="1325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</a:rPr>
              <a:t>GMM</a:t>
            </a:r>
            <a:endParaRPr i="0" sz="115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FFFFFF"/>
                </a:solidFill>
              </a:rPr>
              <a:t>Validation</a:t>
            </a:r>
            <a:endParaRPr i="0" sz="1150" u="none" cap="none" strike="noStrike">
              <a:solidFill>
                <a:schemeClr val="dk1"/>
              </a:solidFill>
            </a:endParaRPr>
          </a:p>
        </p:txBody>
      </p:sp>
      <p:sp>
        <p:nvSpPr>
          <p:cNvPr id="345" name="Google Shape;345;p8"/>
          <p:cNvSpPr/>
          <p:nvPr/>
        </p:nvSpPr>
        <p:spPr>
          <a:xfrm>
            <a:off x="7525512" y="1618488"/>
            <a:ext cx="1325880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D4EDE2"/>
                </a:solidFill>
              </a:rPr>
              <a:t>k=7 clusters</a:t>
            </a:r>
            <a:endParaRPr i="0" sz="85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D4EDE2"/>
                </a:solidFill>
              </a:rPr>
              <a:t>validates ghost</a:t>
            </a:r>
            <a:endParaRPr i="0" sz="85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D4EDE2"/>
                </a:solidFill>
              </a:rPr>
              <a:t>behaviour</a:t>
            </a:r>
            <a:endParaRPr i="0" sz="850" u="none" cap="none" strike="noStrike">
              <a:solidFill>
                <a:schemeClr val="dk1"/>
              </a:solidFill>
            </a:endParaRPr>
          </a:p>
        </p:txBody>
      </p:sp>
      <p:sp>
        <p:nvSpPr>
          <p:cNvPr id="346" name="Google Shape;346;p8"/>
          <p:cNvSpPr/>
          <p:nvPr/>
        </p:nvSpPr>
        <p:spPr>
          <a:xfrm>
            <a:off x="457200" y="2606040"/>
            <a:ext cx="8229600" cy="224028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8"/>
          <p:cNvSpPr/>
          <p:nvPr/>
        </p:nvSpPr>
        <p:spPr>
          <a:xfrm>
            <a:off x="457200" y="2606040"/>
            <a:ext cx="91440" cy="224028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8"/>
          <p:cNvSpPr/>
          <p:nvPr/>
        </p:nvSpPr>
        <p:spPr>
          <a:xfrm>
            <a:off x="658368" y="2715768"/>
            <a:ext cx="7818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005C3B"/>
                </a:solidFill>
              </a:rPr>
              <a:t>Trading Strategy: Walk-Forward Backtest</a:t>
            </a:r>
            <a:endParaRPr i="0" sz="1250" u="none" cap="none" strike="noStrike">
              <a:solidFill>
                <a:schemeClr val="dk1"/>
              </a:solidFill>
            </a:endParaRPr>
          </a:p>
        </p:txBody>
      </p:sp>
      <p:sp>
        <p:nvSpPr>
          <p:cNvPr id="349" name="Google Shape;349;p8"/>
          <p:cNvSpPr/>
          <p:nvPr/>
        </p:nvSpPr>
        <p:spPr>
          <a:xfrm>
            <a:off x="658368" y="3090672"/>
            <a:ext cx="91440" cy="320040"/>
          </a:xfrm>
          <a:prstGeom prst="rect">
            <a:avLst/>
          </a:prstGeom>
          <a:solidFill>
            <a:srgbClr val="AD1520"/>
          </a:solidFill>
          <a:ln cap="flat" cmpd="sng" w="12700">
            <a:solidFill>
              <a:srgbClr val="AD15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8"/>
          <p:cNvSpPr/>
          <p:nvPr/>
        </p:nvSpPr>
        <p:spPr>
          <a:xfrm>
            <a:off x="822960" y="3090672"/>
            <a:ext cx="3794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1A2618"/>
                </a:solidFill>
              </a:rPr>
              <a:t>Long High Ghost: Long top-decile ghost firms (anomaly persistence)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351" name="Google Shape;351;p8"/>
          <p:cNvSpPr/>
          <p:nvPr/>
        </p:nvSpPr>
        <p:spPr>
          <a:xfrm>
            <a:off x="658368" y="3621024"/>
            <a:ext cx="91440" cy="32004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8"/>
          <p:cNvSpPr/>
          <p:nvPr/>
        </p:nvSpPr>
        <p:spPr>
          <a:xfrm>
            <a:off x="822960" y="3621024"/>
            <a:ext cx="3794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1A2618"/>
                </a:solidFill>
              </a:rPr>
              <a:t>Long Low Ghost: Long genuine-hirer firms (quality signal)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353" name="Google Shape;353;p8"/>
          <p:cNvSpPr/>
          <p:nvPr/>
        </p:nvSpPr>
        <p:spPr>
          <a:xfrm>
            <a:off x="658368" y="4151376"/>
            <a:ext cx="91440" cy="320040"/>
          </a:xfrm>
          <a:prstGeom prst="rect">
            <a:avLst/>
          </a:prstGeom>
          <a:solidFill>
            <a:srgbClr val="1F6095"/>
          </a:solidFill>
          <a:ln cap="flat" cmpd="sng" w="12700">
            <a:solidFill>
              <a:srgbClr val="1F60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8"/>
          <p:cNvSpPr/>
          <p:nvPr/>
        </p:nvSpPr>
        <p:spPr>
          <a:xfrm>
            <a:off x="822960" y="4151376"/>
            <a:ext cx="3794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1A2618"/>
                </a:solidFill>
              </a:rPr>
              <a:t>Long / Short: Long Low Ghost vs Short High Ghost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355" name="Google Shape;355;p8"/>
          <p:cNvSpPr/>
          <p:nvPr/>
        </p:nvSpPr>
        <p:spPr>
          <a:xfrm>
            <a:off x="4773168" y="3090672"/>
            <a:ext cx="91440" cy="320040"/>
          </a:xfrm>
          <a:prstGeom prst="rect">
            <a:avLst/>
          </a:prstGeom>
          <a:solidFill>
            <a:srgbClr val="007A52"/>
          </a:solidFill>
          <a:ln cap="flat" cmpd="sng" w="12700">
            <a:solidFill>
              <a:srgbClr val="007A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8"/>
          <p:cNvSpPr/>
          <p:nvPr/>
        </p:nvSpPr>
        <p:spPr>
          <a:xfrm>
            <a:off x="4937760" y="3090672"/>
            <a:ext cx="3794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1A2618"/>
                </a:solidFill>
              </a:rPr>
              <a:t>Ghost Barbell: Long both extremes (High + Low Ghost)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357" name="Google Shape;357;p8"/>
          <p:cNvSpPr/>
          <p:nvPr/>
        </p:nvSpPr>
        <p:spPr>
          <a:xfrm>
            <a:off x="4773168" y="3621024"/>
            <a:ext cx="91440" cy="320040"/>
          </a:xfrm>
          <a:prstGeom prst="rect">
            <a:avLst/>
          </a:prstGeom>
          <a:solidFill>
            <a:srgbClr val="9A6F00"/>
          </a:solidFill>
          <a:ln cap="flat" cmpd="sng" w="12700">
            <a:solidFill>
              <a:srgbClr val="9A6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8"/>
          <p:cNvSpPr/>
          <p:nvPr/>
        </p:nvSpPr>
        <p:spPr>
          <a:xfrm>
            <a:off x="4937760" y="3621024"/>
            <a:ext cx="3794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1A2618"/>
                </a:solidFill>
              </a:rPr>
              <a:t>Ghost Momentum: Sort on changes in ghost intensity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359" name="Google Shape;359;p8"/>
          <p:cNvSpPr/>
          <p:nvPr/>
        </p:nvSpPr>
        <p:spPr>
          <a:xfrm>
            <a:off x="4773168" y="4151376"/>
            <a:ext cx="91440" cy="320040"/>
          </a:xfrm>
          <a:prstGeom prst="rect">
            <a:avLst/>
          </a:prstGeom>
          <a:solidFill>
            <a:srgbClr val="002145"/>
          </a:solidFill>
          <a:ln cap="flat" cmpd="sng" w="1270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8"/>
          <p:cNvSpPr/>
          <p:nvPr/>
        </p:nvSpPr>
        <p:spPr>
          <a:xfrm>
            <a:off x="4937760" y="4151376"/>
            <a:ext cx="3794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1A2618"/>
                </a:solidFill>
              </a:rPr>
              <a:t>Threshold (is_ghost): Binary flag based on 21st-pct threshold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9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9"/>
          <p:cNvSpPr/>
          <p:nvPr/>
        </p:nvSpPr>
        <p:spPr>
          <a:xfrm>
            <a:off x="457200" y="287333"/>
            <a:ext cx="80466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2100"/>
              <a:buFont typeface="Cambria"/>
              <a:buNone/>
            </a:pPr>
            <a:r>
              <a:rPr b="1" i="0" lang="en-US" sz="2700" u="none" cap="none" strike="noStrike">
                <a:solidFill>
                  <a:srgbClr val="005C3B"/>
                </a:solidFill>
              </a:rPr>
              <a:t>DATA</a:t>
            </a:r>
            <a:endParaRPr i="0" sz="2700" u="none" cap="none" strike="noStrike">
              <a:solidFill>
                <a:schemeClr val="dk1"/>
              </a:solidFill>
            </a:endParaRPr>
          </a:p>
        </p:txBody>
      </p:sp>
      <p:sp>
        <p:nvSpPr>
          <p:cNvPr id="368" name="Google Shape;368;p9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9"/>
          <p:cNvSpPr/>
          <p:nvPr/>
        </p:nvSpPr>
        <p:spPr>
          <a:xfrm>
            <a:off x="365760" y="5001768"/>
            <a:ext cx="84124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b="0" i="0" lang="en-US" sz="800" u="none" cap="none" strike="noStrike">
                <a:solidFill>
                  <a:srgbClr val="7BAF96"/>
                </a:solidFill>
                <a:latin typeface="Cambria"/>
                <a:ea typeface="Cambria"/>
                <a:cs typeface="Cambria"/>
                <a:sym typeface="Cambria"/>
              </a:rPr>
              <a:t>UBC SAUDER  ·  COMM 486I  ·  GROUP 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9"/>
          <p:cNvSpPr/>
          <p:nvPr/>
        </p:nvSpPr>
        <p:spPr>
          <a:xfrm>
            <a:off x="457200" y="960120"/>
            <a:ext cx="1965960" cy="118872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9"/>
          <p:cNvSpPr/>
          <p:nvPr/>
        </p:nvSpPr>
        <p:spPr>
          <a:xfrm>
            <a:off x="457200" y="960120"/>
            <a:ext cx="1965960" cy="54864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457200" y="1051560"/>
            <a:ext cx="1965960" cy="61813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2800"/>
              <a:buFont typeface="Times New Roman"/>
              <a:buNone/>
            </a:pPr>
            <a:r>
              <a:rPr b="1" i="0" lang="en-US" sz="2800" u="none" cap="none" strike="noStrike">
                <a:solidFill>
                  <a:srgbClr val="005C3B"/>
                </a:solidFill>
              </a:rPr>
              <a:t>310,821</a:t>
            </a:r>
            <a:endParaRPr i="0" sz="2800" u="none" cap="none" strike="noStrike">
              <a:solidFill>
                <a:schemeClr val="dk1"/>
              </a:solidFill>
            </a:endParaRPr>
          </a:p>
        </p:txBody>
      </p:sp>
      <p:sp>
        <p:nvSpPr>
          <p:cNvPr id="373" name="Google Shape;373;p9"/>
          <p:cNvSpPr/>
          <p:nvPr/>
        </p:nvSpPr>
        <p:spPr>
          <a:xfrm>
            <a:off x="548640" y="1673352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job postings</a:t>
            </a:r>
            <a:endParaRPr i="0" sz="10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(unified, deduplicated)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374" name="Google Shape;374;p9"/>
          <p:cNvSpPr/>
          <p:nvPr/>
        </p:nvSpPr>
        <p:spPr>
          <a:xfrm>
            <a:off x="2514600" y="960120"/>
            <a:ext cx="1965960" cy="118872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9"/>
          <p:cNvSpPr/>
          <p:nvPr/>
        </p:nvSpPr>
        <p:spPr>
          <a:xfrm>
            <a:off x="2514600" y="960120"/>
            <a:ext cx="1965960" cy="54864"/>
          </a:xfrm>
          <a:prstGeom prst="rect">
            <a:avLst/>
          </a:prstGeom>
          <a:solidFill>
            <a:srgbClr val="002145"/>
          </a:solidFill>
          <a:ln cap="flat" cmpd="sng" w="1270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2514600" y="1051560"/>
            <a:ext cx="1965960" cy="61813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2800"/>
              <a:buFont typeface="Times New Roman"/>
              <a:buNone/>
            </a:pPr>
            <a:r>
              <a:rPr b="1" i="0" lang="en-US" sz="2800" u="none" cap="none" strike="noStrike">
                <a:solidFill>
                  <a:srgbClr val="002145"/>
                </a:solidFill>
              </a:rPr>
              <a:t>2,919</a:t>
            </a:r>
            <a:endParaRPr i="0" sz="2800" u="none" cap="none" strike="noStrike">
              <a:solidFill>
                <a:schemeClr val="dk1"/>
              </a:solidFill>
            </a:endParaRPr>
          </a:p>
        </p:txBody>
      </p:sp>
      <p:sp>
        <p:nvSpPr>
          <p:cNvPr id="377" name="Google Shape;377;p9"/>
          <p:cNvSpPr/>
          <p:nvPr/>
        </p:nvSpPr>
        <p:spPr>
          <a:xfrm>
            <a:off x="2606040" y="1673352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US public firms</a:t>
            </a:r>
            <a:endParaRPr i="0" sz="10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with tickers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378" name="Google Shape;378;p9"/>
          <p:cNvSpPr/>
          <p:nvPr/>
        </p:nvSpPr>
        <p:spPr>
          <a:xfrm>
            <a:off x="4562856" y="960120"/>
            <a:ext cx="1965960" cy="118872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1F6095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9"/>
          <p:cNvSpPr/>
          <p:nvPr/>
        </p:nvSpPr>
        <p:spPr>
          <a:xfrm>
            <a:off x="4562856" y="960120"/>
            <a:ext cx="1965960" cy="54864"/>
          </a:xfrm>
          <a:prstGeom prst="rect">
            <a:avLst/>
          </a:prstGeom>
          <a:solidFill>
            <a:srgbClr val="1F6095"/>
          </a:solidFill>
          <a:ln cap="flat" cmpd="sng" w="12700">
            <a:solidFill>
              <a:srgbClr val="1F60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4562856" y="1051560"/>
            <a:ext cx="1965960" cy="61813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6095"/>
              </a:buClr>
              <a:buSzPts val="2800"/>
              <a:buFont typeface="Times New Roman"/>
              <a:buNone/>
            </a:pPr>
            <a:r>
              <a:rPr b="1" i="0" lang="en-US" sz="2800" u="none" cap="none" strike="noStrike">
                <a:solidFill>
                  <a:srgbClr val="1F6095"/>
                </a:solidFill>
              </a:rPr>
              <a:t>1,017</a:t>
            </a:r>
            <a:endParaRPr i="0" sz="2800" u="none" cap="none" strike="noStrike">
              <a:solidFill>
                <a:schemeClr val="dk1"/>
              </a:solidFill>
            </a:endParaRPr>
          </a:p>
        </p:txBody>
      </p:sp>
      <p:sp>
        <p:nvSpPr>
          <p:cNvPr id="381" name="Google Shape;381;p9"/>
          <p:cNvSpPr/>
          <p:nvPr/>
        </p:nvSpPr>
        <p:spPr>
          <a:xfrm>
            <a:off x="4654296" y="1673352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firms with ≥3 postings/qtr</a:t>
            </a:r>
            <a:endParaRPr i="0" sz="10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entering the model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382" name="Google Shape;382;p9"/>
          <p:cNvSpPr/>
          <p:nvPr/>
        </p:nvSpPr>
        <p:spPr>
          <a:xfrm>
            <a:off x="6601968" y="960120"/>
            <a:ext cx="1965960" cy="118872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7A52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9"/>
          <p:cNvSpPr/>
          <p:nvPr/>
        </p:nvSpPr>
        <p:spPr>
          <a:xfrm>
            <a:off x="6601968" y="960120"/>
            <a:ext cx="1965960" cy="54864"/>
          </a:xfrm>
          <a:prstGeom prst="rect">
            <a:avLst/>
          </a:prstGeom>
          <a:solidFill>
            <a:srgbClr val="007A52"/>
          </a:solidFill>
          <a:ln cap="flat" cmpd="sng" w="12700">
            <a:solidFill>
              <a:srgbClr val="007A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6601968" y="1051560"/>
            <a:ext cx="1965960" cy="61813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7A52"/>
              </a:buClr>
              <a:buSzPts val="2800"/>
              <a:buFont typeface="Times New Roman"/>
              <a:buNone/>
            </a:pPr>
            <a:r>
              <a:rPr b="1" i="0" lang="en-US" sz="2800" u="none" cap="none" strike="noStrike">
                <a:solidFill>
                  <a:srgbClr val="007A52"/>
                </a:solidFill>
              </a:rPr>
              <a:t>2009–24</a:t>
            </a:r>
            <a:endParaRPr i="0" sz="2800" u="none" cap="none" strike="noStrike">
              <a:solidFill>
                <a:schemeClr val="dk1"/>
              </a:solidFill>
            </a:endParaRPr>
          </a:p>
        </p:txBody>
      </p:sp>
      <p:sp>
        <p:nvSpPr>
          <p:cNvPr id="385" name="Google Shape;385;p9"/>
          <p:cNvSpPr/>
          <p:nvPr/>
        </p:nvSpPr>
        <p:spPr>
          <a:xfrm>
            <a:off x="6693408" y="1673352"/>
            <a:ext cx="17830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temporal coverage</a:t>
            </a:r>
            <a:endParaRPr i="0" sz="10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15 years of data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386" name="Google Shape;386;p9"/>
          <p:cNvSpPr/>
          <p:nvPr/>
        </p:nvSpPr>
        <p:spPr>
          <a:xfrm>
            <a:off x="457200" y="2331720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005C3B"/>
                </a:solidFill>
              </a:rPr>
              <a:t>Key Feature Sets</a:t>
            </a:r>
            <a:endParaRPr i="0" sz="1250" u="none" cap="none" strike="noStrike">
              <a:solidFill>
                <a:schemeClr val="dk1"/>
              </a:solidFill>
            </a:endParaRPr>
          </a:p>
        </p:txBody>
      </p:sp>
      <p:graphicFrame>
        <p:nvGraphicFramePr>
          <p:cNvPr id="387" name="Google Shape;387;p9"/>
          <p:cNvGraphicFramePr/>
          <p:nvPr/>
        </p:nvGraphicFramePr>
        <p:xfrm>
          <a:off x="457200" y="26517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{92005600-F0F1-4CD3-83A6-77999014D7D3}</a:tableStyleId>
              </a:tblPr>
              <a:tblGrid>
                <a:gridCol w="1188725"/>
                <a:gridCol w="5303525"/>
                <a:gridCol w="1737350"/>
              </a:tblGrid>
              <a:tr h="5257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mbria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</a:rPr>
                        <a:t>Track</a:t>
                      </a:r>
                      <a:endParaRPr sz="1050" u="none" cap="none" strike="noStrike"/>
                    </a:p>
                  </a:txBody>
                  <a:tcPr marT="38100" marB="38100" marR="38100" marL="381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5C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mbria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</a:rPr>
                        <a:t>Features</a:t>
                      </a:r>
                      <a:endParaRPr sz="1050" u="none" cap="none" strike="noStrike"/>
                    </a:p>
                  </a:txBody>
                  <a:tcPr marT="38100" marB="38100" marR="38100" marL="381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5C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50"/>
                        <a:buFont typeface="Cambria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FFFFFF"/>
                          </a:solidFill>
                        </a:rPr>
                        <a:t>Source</a:t>
                      </a:r>
                      <a:endParaRPr sz="1050" u="none" cap="none" strike="noStrike"/>
                    </a:p>
                  </a:txBody>
                  <a:tcPr marT="38100" marB="38100" marR="38100" marL="381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5C3B"/>
                    </a:solidFill>
                  </a:tcPr>
                </a:tc>
              </a:tr>
              <a:tr h="525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Cambria"/>
                        <a:buNone/>
                      </a:pPr>
                      <a:r>
                        <a:rPr lang="en-US" sz="1050" u="none" cap="none" strike="noStrike">
                          <a:solidFill>
                            <a:srgbClr val="000000"/>
                          </a:solidFill>
                        </a:rPr>
                        <a:t>Posting Behavioural</a:t>
                      </a:r>
                      <a:endParaRPr sz="1050" u="none" cap="none" strike="noStrike"/>
                    </a:p>
                  </a:txBody>
                  <a:tcPr marT="38100" marB="38100" marR="38100" marL="381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Cambria"/>
                        <a:buNone/>
                      </a:pPr>
                      <a:r>
                        <a:rPr lang="en-US" sz="1050" u="none" cap="none" strike="noStrike">
                          <a:solidFill>
                            <a:srgbClr val="000000"/>
                          </a:solidFill>
                        </a:rPr>
                        <a:t>num_postings, avg/median duration, still_active_rate, salary_disclosure_rate, avg_salary, total/avg_expected_hires, role_diversity, remote_rate  (10 features)</a:t>
                      </a:r>
                      <a:endParaRPr sz="1050" u="none" cap="none" strike="noStrike"/>
                    </a:p>
                  </a:txBody>
                  <a:tcPr marT="38100" marB="38100" marR="38100" marL="381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Cambria"/>
                        <a:buNone/>
                      </a:pPr>
                      <a:r>
                        <a:rPr lang="en-US" sz="1050" u="none" cap="none" strike="noStrike">
                          <a:solidFill>
                            <a:srgbClr val="000000"/>
                          </a:solidFill>
                        </a:rPr>
                        <a:t>Unified postings (COSMOS)</a:t>
                      </a:r>
                      <a:endParaRPr sz="1050" u="none" cap="none" strike="noStrike"/>
                    </a:p>
                  </a:txBody>
                  <a:tcPr marT="38100" marB="38100" marR="38100" marL="381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25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Cambria"/>
                        <a:buNone/>
                      </a:pPr>
                      <a:r>
                        <a:rPr lang="en-US" sz="1050" u="none" cap="none" strike="noStrike">
                          <a:solidFill>
                            <a:srgbClr val="000000"/>
                          </a:solidFill>
                        </a:rPr>
                        <a:t>Company</a:t>
                      </a:r>
                      <a:endParaRPr sz="1050" u="none" cap="none" strike="noStrike"/>
                    </a:p>
                  </a:txBody>
                  <a:tcPr marT="38100" marB="38100" marR="38100" marL="381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Cambria"/>
                        <a:buNone/>
                      </a:pPr>
                      <a:r>
                        <a:rPr lang="en-US" sz="1050" u="none" cap="none" strike="noStrike">
                          <a:solidFill>
                            <a:srgbClr val="000000"/>
                          </a:solidFill>
                        </a:rPr>
                        <a:t>headcount, headcount_growth_4q (YoY %), log_headcount, naics_int  (4 features)</a:t>
                      </a:r>
                      <a:endParaRPr sz="1050" u="none" cap="none" strike="noStrike"/>
                    </a:p>
                  </a:txBody>
                  <a:tcPr marT="38100" marB="38100" marR="38100" marL="381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Cambria"/>
                        <a:buNone/>
                      </a:pPr>
                      <a:r>
                        <a:rPr lang="en-US" sz="1050" u="none" cap="none" strike="noStrike">
                          <a:solidFill>
                            <a:srgbClr val="000000"/>
                          </a:solidFill>
                        </a:rPr>
                        <a:t>Individual positions</a:t>
                      </a:r>
                      <a:endParaRPr sz="1050" u="none" cap="none" strike="noStrike"/>
                    </a:p>
                  </a:txBody>
                  <a:tcPr marT="38100" marB="38100" marR="38100" marL="381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25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Cambria"/>
                        <a:buNone/>
                      </a:pPr>
                      <a:r>
                        <a:rPr lang="en-US" sz="1050" u="none" cap="none" strike="noStrike">
                          <a:solidFill>
                            <a:srgbClr val="000000"/>
                          </a:solidFill>
                        </a:rPr>
                        <a:t>Outcome</a:t>
                      </a:r>
                      <a:endParaRPr sz="1050" u="none" cap="none" strike="noStrike"/>
                    </a:p>
                  </a:txBody>
                  <a:tcPr marT="38100" marB="38100" marR="38100" marL="381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Cambria"/>
                        <a:buNone/>
                      </a:pPr>
                      <a:r>
                        <a:rPr lang="en-US" sz="1050" u="none" cap="none" strike="noStrike">
                          <a:solidFill>
                            <a:srgbClr val="000000"/>
                          </a:solidFill>
                        </a:rPr>
                        <a:t>actual_inflows Q+1 (regression target); actual_fill_rate for validation</a:t>
                      </a:r>
                      <a:endParaRPr sz="1050" u="none" cap="none" strike="noStrike"/>
                    </a:p>
                  </a:txBody>
                  <a:tcPr marT="38100" marB="38100" marR="38100" marL="381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Cambria"/>
                        <a:buNone/>
                      </a:pPr>
                      <a:r>
                        <a:rPr lang="en-US" sz="1050" u="none" cap="none" strike="noStrike">
                          <a:solidFill>
                            <a:srgbClr val="000000"/>
                          </a:solidFill>
                        </a:rPr>
                        <a:t>Individual positions</a:t>
                      </a:r>
                      <a:endParaRPr sz="1050" u="none" cap="none" strike="noStrike"/>
                    </a:p>
                  </a:txBody>
                  <a:tcPr marT="38100" marB="38100" marR="38100" marL="381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1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0"/>
          <p:cNvSpPr/>
          <p:nvPr/>
        </p:nvSpPr>
        <p:spPr>
          <a:xfrm>
            <a:off x="457200" y="155448"/>
            <a:ext cx="8046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005C3B"/>
                </a:solidFill>
              </a:rPr>
              <a:t>FEATURE ENGINEERING &amp; XGBOOST MODEL</a:t>
            </a:r>
            <a:endParaRPr i="0" sz="2100" u="none" cap="none" strike="noStrike">
              <a:solidFill>
                <a:schemeClr val="dk1"/>
              </a:solidFill>
            </a:endParaRPr>
          </a:p>
        </p:txBody>
      </p:sp>
      <p:sp>
        <p:nvSpPr>
          <p:cNvPr id="395" name="Google Shape;395;p10"/>
          <p:cNvSpPr/>
          <p:nvPr/>
        </p:nvSpPr>
        <p:spPr>
          <a:xfrm>
            <a:off x="457200" y="640080"/>
            <a:ext cx="804672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4E6057"/>
                </a:solidFill>
              </a:rPr>
              <a:t xml:space="preserve">Target: actual inflows Q+1  |  Train: 7,167 rows (813 firms)  |  Val: 884  |  Test: 886  |  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396" name="Google Shape;396;p10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10"/>
          <p:cNvSpPr/>
          <p:nvPr/>
        </p:nvSpPr>
        <p:spPr>
          <a:xfrm>
            <a:off x="365760" y="5001768"/>
            <a:ext cx="84124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b="0" i="0" lang="en-US" sz="800" u="none" cap="none" strike="noStrike">
                <a:solidFill>
                  <a:srgbClr val="7BAF96"/>
                </a:solidFill>
                <a:latin typeface="Cambria"/>
                <a:ea typeface="Cambria"/>
                <a:cs typeface="Cambria"/>
                <a:sym typeface="Cambria"/>
              </a:rPr>
              <a:t>UBC SAUDER  ·  COMM 486I  ·  GROUP 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457200" y="946395"/>
            <a:ext cx="4755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005C3B"/>
                </a:solidFill>
              </a:rPr>
              <a:t>Feature Matrix — 14 features, firm-quarter level</a:t>
            </a:r>
            <a:endParaRPr i="0" sz="1150" u="none" cap="none" strike="noStrike">
              <a:solidFill>
                <a:schemeClr val="dk1"/>
              </a:solidFill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457200" y="1280150"/>
            <a:ext cx="4118100" cy="283500"/>
          </a:xfrm>
          <a:prstGeom prst="rect">
            <a:avLst/>
          </a:prstGeom>
          <a:solidFill>
            <a:srgbClr val="F6FAF8"/>
          </a:solidFill>
          <a:ln cap="flat" cmpd="sng" w="9525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10"/>
          <p:cNvSpPr/>
          <p:nvPr/>
        </p:nvSpPr>
        <p:spPr>
          <a:xfrm>
            <a:off x="566928" y="1325880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900"/>
              <a:buFont typeface="Courier New"/>
              <a:buNone/>
            </a:pPr>
            <a:r>
              <a:rPr b="1" i="0" lang="en-US" sz="900" u="none" cap="none" strike="noStrike">
                <a:solidFill>
                  <a:srgbClr val="002145"/>
                </a:solidFill>
                <a:latin typeface="Courier New"/>
                <a:ea typeface="Courier New"/>
                <a:cs typeface="Courier New"/>
                <a:sym typeface="Courier New"/>
              </a:rPr>
              <a:t>num_postings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2029968" y="1325880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Cambria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Volume without hires = suspicious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457200" y="1586476"/>
            <a:ext cx="4118100" cy="283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10"/>
          <p:cNvSpPr/>
          <p:nvPr/>
        </p:nvSpPr>
        <p:spPr>
          <a:xfrm>
            <a:off x="566928" y="1632204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900"/>
              <a:buFont typeface="Courier New"/>
              <a:buNone/>
            </a:pPr>
            <a:r>
              <a:rPr b="1" i="0" lang="en-US" sz="900" u="none" cap="none" strike="noStrike">
                <a:solidFill>
                  <a:srgbClr val="002145"/>
                </a:solidFill>
                <a:latin typeface="Courier New"/>
                <a:ea typeface="Courier New"/>
                <a:cs typeface="Courier New"/>
                <a:sym typeface="Courier New"/>
              </a:rPr>
              <a:t>avg/median_duration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2029968" y="1632204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Cambria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Longer duration = lower fill intent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457200" y="1892802"/>
            <a:ext cx="4118100" cy="283500"/>
          </a:xfrm>
          <a:prstGeom prst="rect">
            <a:avLst/>
          </a:prstGeom>
          <a:solidFill>
            <a:srgbClr val="F6FAF8"/>
          </a:solidFill>
          <a:ln cap="flat" cmpd="sng" w="9525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10"/>
          <p:cNvSpPr/>
          <p:nvPr/>
        </p:nvSpPr>
        <p:spPr>
          <a:xfrm>
            <a:off x="566928" y="1938528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900"/>
              <a:buFont typeface="Courier New"/>
              <a:buNone/>
            </a:pPr>
            <a:r>
              <a:rPr b="1" i="0" lang="en-US" sz="900" u="none" cap="none" strike="noStrike">
                <a:solidFill>
                  <a:srgbClr val="002145"/>
                </a:solidFill>
                <a:latin typeface="Courier New"/>
                <a:ea typeface="Courier New"/>
                <a:cs typeface="Courier New"/>
                <a:sym typeface="Courier New"/>
              </a:rPr>
              <a:t>still_active_rate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2029968" y="1938528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Cambria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Behavioural ghost signal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457200" y="2199128"/>
            <a:ext cx="4118100" cy="283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10"/>
          <p:cNvSpPr/>
          <p:nvPr/>
        </p:nvSpPr>
        <p:spPr>
          <a:xfrm>
            <a:off x="566928" y="2244852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900"/>
              <a:buFont typeface="Courier New"/>
              <a:buNone/>
            </a:pPr>
            <a:r>
              <a:rPr b="1" i="0" lang="en-US" sz="900" u="none" cap="none" strike="noStrike">
                <a:solidFill>
                  <a:srgbClr val="002145"/>
                </a:solidFill>
                <a:latin typeface="Courier New"/>
                <a:ea typeface="Courier New"/>
                <a:cs typeface="Courier New"/>
                <a:sym typeface="Courier New"/>
              </a:rPr>
              <a:t>salary_disc_rate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0"/>
          <p:cNvSpPr/>
          <p:nvPr/>
        </p:nvSpPr>
        <p:spPr>
          <a:xfrm>
            <a:off x="2029968" y="224485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Cambria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Low disclosure → low commitment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411" name="Google Shape;411;p10"/>
          <p:cNvSpPr/>
          <p:nvPr/>
        </p:nvSpPr>
        <p:spPr>
          <a:xfrm>
            <a:off x="457200" y="2505453"/>
            <a:ext cx="4118100" cy="283500"/>
          </a:xfrm>
          <a:prstGeom prst="rect">
            <a:avLst/>
          </a:prstGeom>
          <a:solidFill>
            <a:srgbClr val="F6FAF8"/>
          </a:solidFill>
          <a:ln cap="flat" cmpd="sng" w="9525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566928" y="2551176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900"/>
              <a:buFont typeface="Courier New"/>
              <a:buNone/>
            </a:pPr>
            <a:r>
              <a:rPr b="1" i="0" lang="en-US" sz="900" u="none" cap="none" strike="noStrike">
                <a:solidFill>
                  <a:srgbClr val="002145"/>
                </a:solidFill>
                <a:latin typeface="Courier New"/>
                <a:ea typeface="Courier New"/>
                <a:cs typeface="Courier New"/>
                <a:sym typeface="Courier New"/>
              </a:rPr>
              <a:t>avg_salary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2029968" y="2551176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Cambria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Higher salary → more genuine roles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414" name="Google Shape;414;p10"/>
          <p:cNvSpPr/>
          <p:nvPr/>
        </p:nvSpPr>
        <p:spPr>
          <a:xfrm>
            <a:off x="457200" y="2811779"/>
            <a:ext cx="4118100" cy="283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566928" y="2857500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900"/>
              <a:buFont typeface="Courier New"/>
              <a:buNone/>
            </a:pPr>
            <a:r>
              <a:rPr b="1" i="0" lang="en-US" sz="900" u="none" cap="none" strike="noStrike">
                <a:solidFill>
                  <a:srgbClr val="002145"/>
                </a:solidFill>
                <a:latin typeface="Courier New"/>
                <a:ea typeface="Courier New"/>
                <a:cs typeface="Courier New"/>
                <a:sym typeface="Courier New"/>
              </a:rPr>
              <a:t>total/avg_exp_hires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0"/>
          <p:cNvSpPr/>
          <p:nvPr/>
        </p:nvSpPr>
        <p:spPr>
          <a:xfrm>
            <a:off x="2029968" y="2857500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Cambria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Expected fill, per posting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457200" y="3118105"/>
            <a:ext cx="4118100" cy="283500"/>
          </a:xfrm>
          <a:prstGeom prst="rect">
            <a:avLst/>
          </a:prstGeom>
          <a:solidFill>
            <a:srgbClr val="F6FAF8"/>
          </a:solidFill>
          <a:ln cap="flat" cmpd="sng" w="9525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566928" y="3163824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900"/>
              <a:buFont typeface="Courier New"/>
              <a:buNone/>
            </a:pPr>
            <a:r>
              <a:rPr b="1" i="0" lang="en-US" sz="900" u="none" cap="none" strike="noStrike">
                <a:solidFill>
                  <a:srgbClr val="002145"/>
                </a:solidFill>
                <a:latin typeface="Courier New"/>
                <a:ea typeface="Courier New"/>
                <a:cs typeface="Courier New"/>
                <a:sym typeface="Courier New"/>
              </a:rPr>
              <a:t>role_diversity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0"/>
          <p:cNvSpPr/>
          <p:nvPr/>
        </p:nvSpPr>
        <p:spPr>
          <a:xfrm>
            <a:off x="2029968" y="3163824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Cambria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Low diversity = repeated ghost posting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457200" y="3424431"/>
            <a:ext cx="4118100" cy="283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10"/>
          <p:cNvSpPr/>
          <p:nvPr/>
        </p:nvSpPr>
        <p:spPr>
          <a:xfrm>
            <a:off x="566928" y="3470148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900"/>
              <a:buFont typeface="Courier New"/>
              <a:buNone/>
            </a:pPr>
            <a:r>
              <a:rPr b="1" i="0" lang="en-US" sz="900" u="none" cap="none" strike="noStrike">
                <a:solidFill>
                  <a:srgbClr val="002145"/>
                </a:solidFill>
                <a:latin typeface="Courier New"/>
                <a:ea typeface="Courier New"/>
                <a:cs typeface="Courier New"/>
                <a:sym typeface="Courier New"/>
              </a:rPr>
              <a:t>remote_rate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0"/>
          <p:cNvSpPr/>
          <p:nvPr/>
        </p:nvSpPr>
        <p:spPr>
          <a:xfrm>
            <a:off x="2029968" y="3470148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Cambria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Context control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423" name="Google Shape;423;p10"/>
          <p:cNvSpPr/>
          <p:nvPr/>
        </p:nvSpPr>
        <p:spPr>
          <a:xfrm>
            <a:off x="457200" y="3730757"/>
            <a:ext cx="4118100" cy="283500"/>
          </a:xfrm>
          <a:prstGeom prst="rect">
            <a:avLst/>
          </a:prstGeom>
          <a:solidFill>
            <a:srgbClr val="F6FAF8"/>
          </a:solidFill>
          <a:ln cap="flat" cmpd="sng" w="9525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457200" y="3730752"/>
            <a:ext cx="54864" cy="283464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10"/>
          <p:cNvSpPr/>
          <p:nvPr/>
        </p:nvSpPr>
        <p:spPr>
          <a:xfrm>
            <a:off x="566928" y="3776472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900"/>
              <a:buFont typeface="Courier New"/>
              <a:buNone/>
            </a:pPr>
            <a:r>
              <a:rPr b="1" i="0" lang="en-US" sz="900" u="none" cap="none" strike="noStrike">
                <a:solidFill>
                  <a:srgbClr val="002145"/>
                </a:solidFill>
                <a:latin typeface="Courier New"/>
                <a:ea typeface="Courier New"/>
                <a:cs typeface="Courier New"/>
                <a:sym typeface="Courier New"/>
              </a:rPr>
              <a:t>headcount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0"/>
          <p:cNvSpPr/>
          <p:nvPr/>
        </p:nvSpPr>
        <p:spPr>
          <a:xfrm>
            <a:off x="2029968" y="377647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Cambria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#1 SHAP driver — size predicts hires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427" name="Google Shape;427;p10"/>
          <p:cNvSpPr/>
          <p:nvPr/>
        </p:nvSpPr>
        <p:spPr>
          <a:xfrm>
            <a:off x="457200" y="4037083"/>
            <a:ext cx="4118100" cy="283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457200" y="4037076"/>
            <a:ext cx="54864" cy="283464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10"/>
          <p:cNvSpPr/>
          <p:nvPr/>
        </p:nvSpPr>
        <p:spPr>
          <a:xfrm>
            <a:off x="566928" y="4082796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900"/>
              <a:buFont typeface="Courier New"/>
              <a:buNone/>
            </a:pPr>
            <a:r>
              <a:rPr b="1" i="0" lang="en-US" sz="900" u="none" cap="none" strike="noStrike">
                <a:solidFill>
                  <a:srgbClr val="002145"/>
                </a:solidFill>
                <a:latin typeface="Courier New"/>
                <a:ea typeface="Courier New"/>
                <a:cs typeface="Courier New"/>
                <a:sym typeface="Courier New"/>
              </a:rPr>
              <a:t>log_headcount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0"/>
          <p:cNvSpPr/>
          <p:nvPr/>
        </p:nvSpPr>
        <p:spPr>
          <a:xfrm>
            <a:off x="2029968" y="4082796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Cambria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#2 SHAP driver — log firm size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431" name="Google Shape;431;p10"/>
          <p:cNvSpPr/>
          <p:nvPr/>
        </p:nvSpPr>
        <p:spPr>
          <a:xfrm>
            <a:off x="457200" y="4343408"/>
            <a:ext cx="4118100" cy="283500"/>
          </a:xfrm>
          <a:prstGeom prst="rect">
            <a:avLst/>
          </a:prstGeom>
          <a:solidFill>
            <a:srgbClr val="F6FAF8"/>
          </a:solidFill>
          <a:ln cap="flat" cmpd="sng" w="9525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10"/>
          <p:cNvSpPr/>
          <p:nvPr/>
        </p:nvSpPr>
        <p:spPr>
          <a:xfrm>
            <a:off x="457200" y="4343400"/>
            <a:ext cx="54864" cy="283464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10"/>
          <p:cNvSpPr/>
          <p:nvPr/>
        </p:nvSpPr>
        <p:spPr>
          <a:xfrm>
            <a:off x="566928" y="4389120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900"/>
              <a:buFont typeface="Courier New"/>
              <a:buNone/>
            </a:pPr>
            <a:r>
              <a:rPr b="1" i="0" lang="en-US" sz="900" u="none" cap="none" strike="noStrike">
                <a:solidFill>
                  <a:srgbClr val="002145"/>
                </a:solidFill>
                <a:latin typeface="Courier New"/>
                <a:ea typeface="Courier New"/>
                <a:cs typeface="Courier New"/>
                <a:sym typeface="Courier New"/>
              </a:rPr>
              <a:t>headcount_growth_4q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0"/>
          <p:cNvSpPr/>
          <p:nvPr/>
        </p:nvSpPr>
        <p:spPr>
          <a:xfrm>
            <a:off x="2029968" y="4389120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Cambria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#3 SHAP — growing firms hire more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435" name="Google Shape;435;p10"/>
          <p:cNvSpPr/>
          <p:nvPr/>
        </p:nvSpPr>
        <p:spPr>
          <a:xfrm>
            <a:off x="457200" y="4649734"/>
            <a:ext cx="4118100" cy="283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10"/>
          <p:cNvSpPr/>
          <p:nvPr/>
        </p:nvSpPr>
        <p:spPr>
          <a:xfrm>
            <a:off x="566928" y="4695444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900"/>
              <a:buFont typeface="Courier New"/>
              <a:buNone/>
            </a:pPr>
            <a:r>
              <a:rPr b="1" i="0" lang="en-US" sz="900" u="none" cap="none" strike="noStrike">
                <a:solidFill>
                  <a:srgbClr val="002145"/>
                </a:solidFill>
                <a:latin typeface="Courier New"/>
                <a:ea typeface="Courier New"/>
                <a:cs typeface="Courier New"/>
                <a:sym typeface="Courier New"/>
              </a:rPr>
              <a:t>naics_int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0"/>
          <p:cNvSpPr/>
          <p:nvPr/>
        </p:nvSpPr>
        <p:spPr>
          <a:xfrm>
            <a:off x="2029968" y="4695444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Cambria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Industry controls hiring rates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438" name="Google Shape;438;p10"/>
          <p:cNvSpPr/>
          <p:nvPr/>
        </p:nvSpPr>
        <p:spPr>
          <a:xfrm>
            <a:off x="4699950" y="960125"/>
            <a:ext cx="4288500" cy="38862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10"/>
          <p:cNvSpPr/>
          <p:nvPr/>
        </p:nvSpPr>
        <p:spPr>
          <a:xfrm>
            <a:off x="4699950" y="960125"/>
            <a:ext cx="4288500" cy="549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10"/>
          <p:cNvSpPr/>
          <p:nvPr/>
        </p:nvSpPr>
        <p:spPr>
          <a:xfrm>
            <a:off x="4809912" y="1051565"/>
            <a:ext cx="4068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000"/>
              <a:buFont typeface="Cambria"/>
              <a:buNone/>
            </a:pPr>
            <a:r>
              <a:rPr b="1" i="0" lang="en-US" sz="1000" u="none" cap="none" strike="noStrike">
                <a:solidFill>
                  <a:srgbClr val="005C3B"/>
                </a:solidFill>
              </a:rPr>
              <a:t>Model Output  —  Test Set  &amp;  Ghost Score Distribution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cxnSp>
        <p:nvCxnSpPr>
          <p:cNvPr id="441" name="Google Shape;441;p10"/>
          <p:cNvCxnSpPr/>
          <p:nvPr/>
        </p:nvCxnSpPr>
        <p:spPr>
          <a:xfrm>
            <a:off x="4805540" y="3712469"/>
            <a:ext cx="3907200" cy="0"/>
          </a:xfrm>
          <a:prstGeom prst="straightConnector1">
            <a:avLst/>
          </a:prstGeom>
          <a:noFill/>
          <a:ln cap="flat" cmpd="sng" w="9525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2" name="Google Shape;442;p10"/>
          <p:cNvSpPr/>
          <p:nvPr/>
        </p:nvSpPr>
        <p:spPr>
          <a:xfrm>
            <a:off x="4809912" y="3767333"/>
            <a:ext cx="12642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6095"/>
              </a:buClr>
              <a:buSzPts val="950"/>
              <a:buFont typeface="Cambria"/>
              <a:buNone/>
            </a:pPr>
            <a:r>
              <a:rPr b="1" i="0" lang="en-US" sz="950" u="none" cap="none" strike="noStrike">
                <a:solidFill>
                  <a:srgbClr val="1F6095"/>
                </a:solidFill>
              </a:rPr>
              <a:t>Test R²: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443" name="Google Shape;443;p10"/>
          <p:cNvSpPr/>
          <p:nvPr/>
        </p:nvSpPr>
        <p:spPr>
          <a:xfrm>
            <a:off x="5558777" y="3767333"/>
            <a:ext cx="28593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Times New Roman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0.486   MAE = 3.1  (XGBoost)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444" name="Google Shape;444;p10"/>
          <p:cNvSpPr/>
          <p:nvPr/>
        </p:nvSpPr>
        <p:spPr>
          <a:xfrm>
            <a:off x="4809912" y="4014221"/>
            <a:ext cx="12642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6095"/>
              </a:buClr>
              <a:buSzPts val="950"/>
              <a:buFont typeface="Cambria"/>
              <a:buNone/>
            </a:pPr>
            <a:r>
              <a:rPr b="1" i="0" lang="en-US" sz="950" u="none" cap="none" strike="noStrike">
                <a:solidFill>
                  <a:srgbClr val="1F6095"/>
                </a:solidFill>
              </a:rPr>
              <a:t>vs Ridge: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445" name="Google Shape;445;p10"/>
          <p:cNvSpPr/>
          <p:nvPr/>
        </p:nvSpPr>
        <p:spPr>
          <a:xfrm>
            <a:off x="5558777" y="4014221"/>
            <a:ext cx="28593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Times New Roman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Test R² = 0.279  (baseline)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446" name="Google Shape;446;p10"/>
          <p:cNvSpPr/>
          <p:nvPr/>
        </p:nvSpPr>
        <p:spPr>
          <a:xfrm>
            <a:off x="4809912" y="4261109"/>
            <a:ext cx="12642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6095"/>
              </a:buClr>
              <a:buSzPts val="950"/>
              <a:buFont typeface="Cambria"/>
              <a:buNone/>
            </a:pPr>
            <a:r>
              <a:rPr b="1" i="0" lang="en-US" sz="950" u="none" cap="none" strike="noStrike">
                <a:solidFill>
                  <a:srgbClr val="1F6095"/>
                </a:solidFill>
              </a:rPr>
              <a:t>Ghost flag: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447" name="Google Shape;447;p10"/>
          <p:cNvSpPr/>
          <p:nvPr/>
        </p:nvSpPr>
        <p:spPr>
          <a:xfrm>
            <a:off x="5558777" y="4261109"/>
            <a:ext cx="28593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Times New Roman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43 / 204 firms  (21.0%,  score &gt; 0.10)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pic>
        <p:nvPicPr>
          <p:cNvPr id="448" name="Google Shape;448;p10" title="model_and_ghost_scor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99963" y="1550130"/>
            <a:ext cx="4288486" cy="193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11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11"/>
          <p:cNvSpPr/>
          <p:nvPr/>
        </p:nvSpPr>
        <p:spPr>
          <a:xfrm>
            <a:off x="457200" y="155448"/>
            <a:ext cx="8046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005C3B"/>
                </a:solidFill>
              </a:rPr>
              <a:t>SHAP FEATURE ATTRIBUTION</a:t>
            </a:r>
            <a:endParaRPr i="0" sz="2100" u="none" cap="none" strike="noStrike">
              <a:solidFill>
                <a:schemeClr val="dk1"/>
              </a:solidFill>
            </a:endParaRPr>
          </a:p>
        </p:txBody>
      </p:sp>
      <p:sp>
        <p:nvSpPr>
          <p:cNvPr id="456" name="Google Shape;456;p11"/>
          <p:cNvSpPr/>
          <p:nvPr/>
        </p:nvSpPr>
        <p:spPr>
          <a:xfrm>
            <a:off x="457200" y="640080"/>
            <a:ext cx="804672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4E6057"/>
                </a:solidFill>
              </a:rPr>
              <a:t>SHAP beeswarm on 886 test samples — magnitude (x-axis) and direction (red=high value, blue=low value) per feature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457" name="Google Shape;457;p11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11"/>
          <p:cNvSpPr/>
          <p:nvPr/>
        </p:nvSpPr>
        <p:spPr>
          <a:xfrm>
            <a:off x="365760" y="5001768"/>
            <a:ext cx="84124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b="0" i="0" lang="en-US" sz="800" u="none" cap="none" strike="noStrike">
                <a:solidFill>
                  <a:srgbClr val="7BAF96"/>
                </a:solidFill>
                <a:latin typeface="Cambria"/>
                <a:ea typeface="Cambria"/>
                <a:cs typeface="Cambria"/>
                <a:sym typeface="Cambria"/>
              </a:rPr>
              <a:t>UBC SAUDER  ·  COMM 486I  ·  GROUP 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1"/>
          <p:cNvSpPr/>
          <p:nvPr/>
        </p:nvSpPr>
        <p:spPr>
          <a:xfrm>
            <a:off x="457200" y="960120"/>
            <a:ext cx="8229600" cy="530352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11"/>
          <p:cNvSpPr/>
          <p:nvPr/>
        </p:nvSpPr>
        <p:spPr>
          <a:xfrm>
            <a:off x="594360" y="1024128"/>
            <a:ext cx="795528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mbria"/>
              <a:buNone/>
            </a:pPr>
            <a:r>
              <a:rPr i="0" lang="en-US" sz="1100" u="none" cap="none" strike="noStrike">
                <a:solidFill>
                  <a:srgbClr val="FFFFFF"/>
                </a:solidFill>
              </a:rPr>
              <a:t>Firm size (headcount, log_headcount) overwhelmingly drives predicted inflows. Among ghost-specific behavioural features, high still_active_rate pushes predictions downward (left of zero) — confirming it captures low-fill behaviour.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pic>
        <p:nvPicPr>
          <p:cNvPr descr="preencoded.png" id="461" name="Google Shape;46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92074" y="1559063"/>
            <a:ext cx="5176976" cy="3291826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11"/>
          <p:cNvSpPr/>
          <p:nvPr/>
        </p:nvSpPr>
        <p:spPr>
          <a:xfrm>
            <a:off x="457200" y="4818888"/>
            <a:ext cx="82296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850"/>
              <a:buFont typeface="Cambria"/>
              <a:buNone/>
            </a:pPr>
            <a:r>
              <a:rPr i="1" lang="en-US" sz="850" u="none" cap="none" strike="noStrike">
                <a:solidFill>
                  <a:srgbClr val="4E6057"/>
                </a:solidFill>
              </a:rPr>
              <a:t>Red = high feature value → pushes prediction up (↑ inflows).  Blue = low value.  Dots left of zero reduce predicted inflows — key ghost signal for still_active_rate.</a:t>
            </a:r>
            <a:endParaRPr i="0" sz="85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2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p12"/>
          <p:cNvSpPr/>
          <p:nvPr/>
        </p:nvSpPr>
        <p:spPr>
          <a:xfrm>
            <a:off x="457200" y="155448"/>
            <a:ext cx="8046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005C3B"/>
                </a:solidFill>
              </a:rPr>
              <a:t>GMM CLUSTER VALIDATION</a:t>
            </a:r>
            <a:endParaRPr i="0" sz="2100" u="none" cap="none" strike="noStrike">
              <a:solidFill>
                <a:schemeClr val="dk1"/>
              </a:solidFill>
            </a:endParaRPr>
          </a:p>
        </p:txBody>
      </p:sp>
      <p:sp>
        <p:nvSpPr>
          <p:cNvPr id="470" name="Google Shape;470;p12"/>
          <p:cNvSpPr/>
          <p:nvPr/>
        </p:nvSpPr>
        <p:spPr>
          <a:xfrm>
            <a:off x="457200" y="640080"/>
            <a:ext cx="804672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4E6057"/>
                </a:solidFill>
              </a:rPr>
              <a:t>Gaussian Mixture Model on 14 features · 174 firms · BIC optimal k=7 · ghost behaviour is systematic across multiple profiles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471" name="Google Shape;471;p12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12"/>
          <p:cNvSpPr/>
          <p:nvPr/>
        </p:nvSpPr>
        <p:spPr>
          <a:xfrm>
            <a:off x="365760" y="5001768"/>
            <a:ext cx="84124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b="0" i="0" lang="en-US" sz="800" u="none" cap="none" strike="noStrike">
                <a:solidFill>
                  <a:srgbClr val="7BAF96"/>
                </a:solidFill>
                <a:latin typeface="Cambria"/>
                <a:ea typeface="Cambria"/>
                <a:cs typeface="Cambria"/>
                <a:sym typeface="Cambria"/>
              </a:rPr>
              <a:t>UBC SAUDER  ·  COMM 486I  ·  GROUP 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2"/>
          <p:cNvSpPr/>
          <p:nvPr/>
        </p:nvSpPr>
        <p:spPr>
          <a:xfrm>
            <a:off x="457200" y="960120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100"/>
              <a:buFont typeface="Cambria"/>
              <a:buNone/>
            </a:pPr>
            <a:r>
              <a:rPr b="1" i="0" lang="en-US" sz="1100" u="none" cap="none" strike="noStrike">
                <a:solidFill>
                  <a:srgbClr val="005C3B"/>
                </a:solidFill>
              </a:rPr>
              <a:t>Model Selection (BIC/AIC)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pic>
        <p:nvPicPr>
          <p:cNvPr descr="preencoded.png" id="474" name="Google Shape;474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243584"/>
            <a:ext cx="3749040" cy="2514600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12"/>
          <p:cNvSpPr/>
          <p:nvPr/>
        </p:nvSpPr>
        <p:spPr>
          <a:xfrm>
            <a:off x="4343400" y="960120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100"/>
              <a:buFont typeface="Cambria"/>
              <a:buNone/>
            </a:pPr>
            <a:r>
              <a:rPr b="1" i="0" lang="en-US" sz="1100" u="none" cap="none" strike="noStrike">
                <a:solidFill>
                  <a:srgbClr val="005C3B"/>
                </a:solidFill>
              </a:rPr>
              <a:t>Cluster Profiles  (z-scored feature means)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pic>
        <p:nvPicPr>
          <p:cNvPr descr="preencoded.png" id="476" name="Google Shape;476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43400" y="1243584"/>
            <a:ext cx="4526280" cy="2514600"/>
          </a:xfrm>
          <a:prstGeom prst="rect">
            <a:avLst/>
          </a:prstGeom>
          <a:noFill/>
          <a:ln>
            <a:noFill/>
          </a:ln>
        </p:spPr>
      </p:pic>
      <p:sp>
        <p:nvSpPr>
          <p:cNvPr id="477" name="Google Shape;477;p12"/>
          <p:cNvSpPr/>
          <p:nvPr/>
        </p:nvSpPr>
        <p:spPr>
          <a:xfrm>
            <a:off x="457200" y="3840480"/>
            <a:ext cx="8229600" cy="987552"/>
          </a:xfrm>
          <a:prstGeom prst="rect">
            <a:avLst/>
          </a:prstGeom>
          <a:solidFill>
            <a:srgbClr val="D4EDE2"/>
          </a:solidFill>
          <a:ln cap="flat" cmpd="sng" w="1015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12"/>
          <p:cNvSpPr/>
          <p:nvPr/>
        </p:nvSpPr>
        <p:spPr>
          <a:xfrm>
            <a:off x="457200" y="3840480"/>
            <a:ext cx="91440" cy="987552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12"/>
          <p:cNvSpPr/>
          <p:nvPr/>
        </p:nvSpPr>
        <p:spPr>
          <a:xfrm>
            <a:off x="658368" y="3913632"/>
            <a:ext cx="781812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005C3B"/>
                </a:solidFill>
              </a:rPr>
              <a:t>Key Finding</a:t>
            </a:r>
            <a:endParaRPr i="0" sz="1150" u="none" cap="none" strike="noStrike">
              <a:solidFill>
                <a:schemeClr val="dk1"/>
              </a:solidFill>
            </a:endParaRPr>
          </a:p>
        </p:txBody>
      </p:sp>
      <p:sp>
        <p:nvSpPr>
          <p:cNvPr id="480" name="Google Shape;480;p12"/>
          <p:cNvSpPr/>
          <p:nvPr/>
        </p:nvSpPr>
        <p:spPr>
          <a:xfrm>
            <a:off x="658368" y="4169664"/>
            <a:ext cx="781812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k=7 selected by BIC. Clusters 3 (long duration, 44% ghost) and 4 (small firms, 50% ghost) are clearest ghost groups; Cluster 0 is near-purely genuine (1.6%). Cluster 5 (</a:t>
            </a:r>
            <a:r>
              <a:rPr lang="en-US" sz="1000">
                <a:solidFill>
                  <a:srgbClr val="1A2618"/>
                </a:solidFill>
              </a:rPr>
              <a:t>G</a:t>
            </a:r>
            <a:r>
              <a:rPr i="0" lang="en-US" sz="1000" u="none" cap="none" strike="noStrike">
                <a:solidFill>
                  <a:srgbClr val="1A2618"/>
                </a:solidFill>
              </a:rPr>
              <a:t>reen, far-right column in heatmap) shows high headcount + strong headcount growth — the high-volume genuine hirer. Ghost behaviour is systematic and learnable — it manifests in distinct structural profiles, not as random noise.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13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7" name="Google Shape;487;p13"/>
          <p:cNvSpPr/>
          <p:nvPr/>
        </p:nvSpPr>
        <p:spPr>
          <a:xfrm>
            <a:off x="457200" y="155448"/>
            <a:ext cx="8046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005C3B"/>
                </a:solidFill>
              </a:rPr>
              <a:t>GHOST INTENSITY RANKINGS</a:t>
            </a:r>
            <a:endParaRPr i="0" sz="2100" u="none" cap="none" strike="noStrike">
              <a:solidFill>
                <a:schemeClr val="dk1"/>
              </a:solidFill>
            </a:endParaRPr>
          </a:p>
        </p:txBody>
      </p:sp>
      <p:sp>
        <p:nvSpPr>
          <p:cNvPr id="488" name="Google Shape;488;p13"/>
          <p:cNvSpPr/>
          <p:nvPr/>
        </p:nvSpPr>
        <p:spPr>
          <a:xfrm>
            <a:off x="457200" y="640080"/>
            <a:ext cx="804672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4E6057"/>
                </a:solidFill>
              </a:rPr>
              <a:t>Actual vs predicted fill rate · 204 firms · blue = actual fill rate · orange = predicted fill rate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489" name="Google Shape;489;p1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0" name="Google Shape;490;p13"/>
          <p:cNvSpPr/>
          <p:nvPr/>
        </p:nvSpPr>
        <p:spPr>
          <a:xfrm>
            <a:off x="365760" y="5001768"/>
            <a:ext cx="84124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b="0" i="0" lang="en-US" sz="800" u="none" cap="none" strike="noStrike">
                <a:solidFill>
                  <a:srgbClr val="7BAF96"/>
                </a:solidFill>
                <a:latin typeface="Cambria"/>
                <a:ea typeface="Cambria"/>
                <a:cs typeface="Cambria"/>
                <a:sym typeface="Cambria"/>
              </a:rPr>
              <a:t>UBC SAUDER  ·  COMM 486I  ·  GROUP 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3"/>
          <p:cNvSpPr/>
          <p:nvPr/>
        </p:nvSpPr>
        <p:spPr>
          <a:xfrm>
            <a:off x="457200" y="950976"/>
            <a:ext cx="4114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D1520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AD1520"/>
                </a:solidFill>
              </a:rPr>
              <a:t>Most Ghost-Like  (lowest predicted fill rate)</a:t>
            </a:r>
            <a:endParaRPr i="0" sz="1150" u="none" cap="none" strike="noStrike">
              <a:solidFill>
                <a:schemeClr val="dk1"/>
              </a:solidFill>
            </a:endParaRPr>
          </a:p>
        </p:txBody>
      </p:sp>
      <p:sp>
        <p:nvSpPr>
          <p:cNvPr id="492" name="Google Shape;492;p13"/>
          <p:cNvSpPr/>
          <p:nvPr/>
        </p:nvSpPr>
        <p:spPr>
          <a:xfrm>
            <a:off x="4663440" y="950976"/>
            <a:ext cx="4297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005C3B"/>
                </a:solidFill>
              </a:rPr>
              <a:t>Most Genuine Hirers  (highest predicted fill rate)</a:t>
            </a:r>
            <a:endParaRPr i="0" sz="1150" u="none" cap="none" strike="noStrike">
              <a:solidFill>
                <a:schemeClr val="dk1"/>
              </a:solidFill>
            </a:endParaRPr>
          </a:p>
        </p:txBody>
      </p:sp>
      <p:pic>
        <p:nvPicPr>
          <p:cNvPr descr="preencoded.png" id="493" name="Google Shape;493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2880" y="1225296"/>
            <a:ext cx="4251960" cy="28346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94" name="Google Shape;49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17720" y="1225296"/>
            <a:ext cx="4343400" cy="2834640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13"/>
          <p:cNvSpPr/>
          <p:nvPr/>
        </p:nvSpPr>
        <p:spPr>
          <a:xfrm>
            <a:off x="457200" y="4151376"/>
            <a:ext cx="8229600" cy="804672"/>
          </a:xfrm>
          <a:prstGeom prst="rect">
            <a:avLst/>
          </a:prstGeom>
          <a:solidFill>
            <a:srgbClr val="D4EDE2"/>
          </a:solidFill>
          <a:ln cap="flat" cmpd="sng" w="1015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13"/>
          <p:cNvSpPr/>
          <p:nvPr/>
        </p:nvSpPr>
        <p:spPr>
          <a:xfrm>
            <a:off x="457200" y="4151376"/>
            <a:ext cx="91440" cy="804672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13"/>
          <p:cNvSpPr/>
          <p:nvPr/>
        </p:nvSpPr>
        <p:spPr>
          <a:xfrm>
            <a:off x="678658" y="4114935"/>
            <a:ext cx="78180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005C3B"/>
                </a:solidFill>
              </a:rPr>
              <a:t>Interpretation</a:t>
            </a:r>
            <a:endParaRPr i="0" sz="1150" u="none" cap="none" strike="noStrike">
              <a:solidFill>
                <a:schemeClr val="dk1"/>
              </a:solidFill>
            </a:endParaRPr>
          </a:p>
        </p:txBody>
      </p:sp>
      <p:sp>
        <p:nvSpPr>
          <p:cNvPr id="498" name="Google Shape;498;p13"/>
          <p:cNvSpPr/>
          <p:nvPr/>
        </p:nvSpPr>
        <p:spPr>
          <a:xfrm>
            <a:off x="658368" y="4391257"/>
            <a:ext cx="78180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Char char="•"/>
            </a:pPr>
            <a:r>
              <a:rPr i="0" lang="en-US" sz="1000" u="none" cap="none" strike="noStrike">
                <a:solidFill>
                  <a:srgbClr val="1A2618"/>
                </a:solidFill>
              </a:rPr>
              <a:t>Ghost-like firms (BFAM, CPRT, HRB, COKE, SRCL…) are established service and consumer-facing companies with large posting pipelines but very low fill rates — predicted 0.03–0.19 hires per posting</a:t>
            </a:r>
            <a:endParaRPr i="0" sz="1000" u="none" cap="none" strike="noStrike">
              <a:solidFill>
                <a:schemeClr val="dk1"/>
              </a:solidFill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Char char="•"/>
            </a:pPr>
            <a:r>
              <a:rPr i="0" lang="en-US" sz="1000" u="none" cap="none" strike="noStrike">
                <a:solidFill>
                  <a:srgbClr val="1A2618"/>
                </a:solidFill>
              </a:rPr>
              <a:t>Genuine hirers (EXPI, F, LUV, DAL, BX…) convert aggressively — predicted fill rates approaching or exceeding 1.0 hire per posting per quarter, confirmed by high actual fill rates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D28"/>
        </a:solidFill>
      </p:bgPr>
    </p:bg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14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14"/>
          <p:cNvSpPr/>
          <p:nvPr/>
        </p:nvSpPr>
        <p:spPr>
          <a:xfrm>
            <a:off x="457200" y="457200"/>
            <a:ext cx="18288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8000"/>
              <a:buFont typeface="Times New Roman"/>
              <a:buNone/>
            </a:pPr>
            <a:r>
              <a:rPr b="1" i="0" lang="en-US" sz="8000" u="none" cap="none" strike="noStrike">
                <a:solidFill>
                  <a:srgbClr val="005C3B"/>
                </a:solidFill>
              </a:rPr>
              <a:t>03</a:t>
            </a:r>
            <a:endParaRPr i="0" sz="8000" u="none" cap="none" strike="noStrike">
              <a:solidFill>
                <a:schemeClr val="dk1"/>
              </a:solidFill>
            </a:endParaRPr>
          </a:p>
        </p:txBody>
      </p:sp>
      <p:sp>
        <p:nvSpPr>
          <p:cNvPr id="506" name="Google Shape;506;p14"/>
          <p:cNvSpPr/>
          <p:nvPr/>
        </p:nvSpPr>
        <p:spPr>
          <a:xfrm>
            <a:off x="457200" y="1920240"/>
            <a:ext cx="80467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</a:rPr>
              <a:t>Empirical Results</a:t>
            </a:r>
            <a:endParaRPr i="0" sz="3600" u="none" cap="none" strike="noStrike">
              <a:solidFill>
                <a:schemeClr val="dk1"/>
              </a:solidFill>
            </a:endParaRPr>
          </a:p>
        </p:txBody>
      </p:sp>
      <p:cxnSp>
        <p:nvCxnSpPr>
          <p:cNvPr id="507" name="Google Shape;507;p14"/>
          <p:cNvCxnSpPr/>
          <p:nvPr/>
        </p:nvCxnSpPr>
        <p:spPr>
          <a:xfrm>
            <a:off x="457200" y="3090672"/>
            <a:ext cx="7772400" cy="0"/>
          </a:xfrm>
          <a:prstGeom prst="straightConnector1">
            <a:avLst/>
          </a:prstGeom>
          <a:noFill/>
          <a:ln cap="flat" cmpd="sng" w="15225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8" name="Google Shape;508;p14"/>
          <p:cNvSpPr/>
          <p:nvPr/>
        </p:nvSpPr>
        <p:spPr>
          <a:xfrm>
            <a:off x="457200" y="3218688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1400"/>
              <a:buFont typeface="Cambria"/>
              <a:buNone/>
            </a:pPr>
            <a:r>
              <a:rPr i="0" lang="en-US" sz="1400" u="none" cap="none" strike="noStrike">
                <a:solidFill>
                  <a:srgbClr val="7BAF96"/>
                </a:solidFill>
              </a:rPr>
              <a:t>Walk-forward backtest · strategy performance · concentration analysis</a:t>
            </a:r>
            <a:endParaRPr i="0" sz="1400" u="none" cap="none" strike="noStrike">
              <a:solidFill>
                <a:schemeClr val="dk1"/>
              </a:solidFill>
            </a:endParaRPr>
          </a:p>
        </p:txBody>
      </p:sp>
      <p:sp>
        <p:nvSpPr>
          <p:cNvPr id="509" name="Google Shape;509;p14"/>
          <p:cNvSpPr/>
          <p:nvPr/>
        </p:nvSpPr>
        <p:spPr>
          <a:xfrm>
            <a:off x="5029200" y="466344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7BAF96"/>
                </a:solidFill>
              </a:rPr>
              <a:t>UBC SAUDER  ·  COMM 486I  ·  GROUP 6</a:t>
            </a:r>
            <a:endParaRPr i="0" sz="85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d93e1c57a8_2_7"/>
          <p:cNvSpPr/>
          <p:nvPr/>
        </p:nvSpPr>
        <p:spPr>
          <a:xfrm>
            <a:off x="0" y="0"/>
            <a:ext cx="9144000" cy="822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6" name="Google Shape;516;g3d93e1c57a8_2_7"/>
          <p:cNvSpPr/>
          <p:nvPr/>
        </p:nvSpPr>
        <p:spPr>
          <a:xfrm>
            <a:off x="457200" y="137160"/>
            <a:ext cx="6858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005C3B"/>
                </a:solidFill>
              </a:rPr>
              <a:t xml:space="preserve">WALK-FORWARD BACKTEST </a:t>
            </a:r>
            <a:r>
              <a:rPr b="1" lang="en-US" sz="1800">
                <a:solidFill>
                  <a:srgbClr val="005C3B"/>
                </a:solidFill>
              </a:rPr>
              <a:t>DESIGN</a:t>
            </a:r>
            <a:endParaRPr i="0" sz="1800" u="none" cap="none" strike="noStrike">
              <a:solidFill>
                <a:schemeClr val="dk1"/>
              </a:solidFill>
            </a:endParaRPr>
          </a:p>
        </p:txBody>
      </p:sp>
      <p:sp>
        <p:nvSpPr>
          <p:cNvPr id="517" name="Google Shape;517;g3d93e1c57a8_2_7"/>
          <p:cNvSpPr/>
          <p:nvPr/>
        </p:nvSpPr>
        <p:spPr>
          <a:xfrm>
            <a:off x="0" y="4983480"/>
            <a:ext cx="9144000" cy="15990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8" name="Google Shape;518;g3d93e1c57a8_2_7"/>
          <p:cNvSpPr/>
          <p:nvPr/>
        </p:nvSpPr>
        <p:spPr>
          <a:xfrm>
            <a:off x="365760" y="5001768"/>
            <a:ext cx="8412600" cy="12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b="0" i="0" lang="en-US" sz="800" u="none" cap="none" strike="noStrike">
                <a:solidFill>
                  <a:srgbClr val="7BAF96"/>
                </a:solidFill>
                <a:latin typeface="Cambria"/>
                <a:ea typeface="Cambria"/>
                <a:cs typeface="Cambria"/>
                <a:sym typeface="Cambria"/>
              </a:rPr>
              <a:t>UBC SAUDER  ·  COMM 486I  ·  GROUP 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g3d93e1c57a8_2_7"/>
          <p:cNvSpPr/>
          <p:nvPr/>
        </p:nvSpPr>
        <p:spPr>
          <a:xfrm>
            <a:off x="457200" y="576100"/>
            <a:ext cx="8458200" cy="4755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g3d93e1c57a8_2_7"/>
          <p:cNvSpPr/>
          <p:nvPr/>
        </p:nvSpPr>
        <p:spPr>
          <a:xfrm>
            <a:off x="594360" y="630964"/>
            <a:ext cx="7955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FFFFFF"/>
                </a:solidFill>
              </a:rPr>
              <a:t>Walk-forward backtest using the ghost_scores_fq.parquet output</a:t>
            </a:r>
            <a:endParaRPr sz="1100">
              <a:solidFill>
                <a:srgbClr val="FF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FFFFFF"/>
                </a:solidFill>
              </a:rPr>
              <a:t>combined with real historical stock prices from Yahoo Finance.</a:t>
            </a:r>
            <a:endParaRPr sz="1100">
              <a:solidFill>
                <a:srgbClr val="FFFFFF"/>
              </a:solidFill>
            </a:endParaRPr>
          </a:p>
        </p:txBody>
      </p:sp>
      <p:sp>
        <p:nvSpPr>
          <p:cNvPr id="521" name="Google Shape;521;g3d93e1c57a8_2_7"/>
          <p:cNvSpPr/>
          <p:nvPr/>
        </p:nvSpPr>
        <p:spPr>
          <a:xfrm>
            <a:off x="457200" y="1125375"/>
            <a:ext cx="4114800" cy="1223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g3d93e1c57a8_2_7"/>
          <p:cNvSpPr/>
          <p:nvPr/>
        </p:nvSpPr>
        <p:spPr>
          <a:xfrm>
            <a:off x="594360" y="1216824"/>
            <a:ext cx="3840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002145"/>
                </a:solidFill>
              </a:rPr>
              <a:t xml:space="preserve">1.  </a:t>
            </a:r>
            <a:r>
              <a:rPr b="1" lang="en-US" sz="1150">
                <a:solidFill>
                  <a:srgbClr val="002145"/>
                </a:solidFill>
              </a:rPr>
              <a:t>Daily Return Winsorisation</a:t>
            </a:r>
            <a:endParaRPr b="1" sz="1150">
              <a:solidFill>
                <a:srgbClr val="002145"/>
              </a:solidFill>
            </a:endParaRPr>
          </a:p>
        </p:txBody>
      </p:sp>
      <p:sp>
        <p:nvSpPr>
          <p:cNvPr id="523" name="Google Shape;523;g3d93e1c57a8_2_7"/>
          <p:cNvSpPr/>
          <p:nvPr/>
        </p:nvSpPr>
        <p:spPr>
          <a:xfrm>
            <a:off x="594360" y="1457619"/>
            <a:ext cx="3840600" cy="84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>
                <a:solidFill>
                  <a:srgbClr val="1A2618"/>
                </a:solidFill>
              </a:rPr>
              <a:t>At ±max_daily_ret (default ±25%), single bad adjusted-price data points can create 1000%+ single-day "returns" for delisted/reverse-merged tickers.  No real equity position in a diversified portfolio can move ±25% every day.</a:t>
            </a:r>
            <a:endParaRPr sz="1000">
              <a:solidFill>
                <a:srgbClr val="1A2618"/>
              </a:solidFill>
            </a:endParaRPr>
          </a:p>
        </p:txBody>
      </p:sp>
      <p:sp>
        <p:nvSpPr>
          <p:cNvPr id="524" name="Google Shape;524;g3d93e1c57a8_2_7"/>
          <p:cNvSpPr/>
          <p:nvPr/>
        </p:nvSpPr>
        <p:spPr>
          <a:xfrm>
            <a:off x="4800600" y="1125377"/>
            <a:ext cx="4114800" cy="1223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g3d93e1c57a8_2_7"/>
          <p:cNvSpPr/>
          <p:nvPr/>
        </p:nvSpPr>
        <p:spPr>
          <a:xfrm>
            <a:off x="4937760" y="1216824"/>
            <a:ext cx="3840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6095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1F6095"/>
                </a:solidFill>
              </a:rPr>
              <a:t xml:space="preserve">2.  </a:t>
            </a:r>
            <a:r>
              <a:rPr b="1" lang="en-US" sz="1150">
                <a:solidFill>
                  <a:srgbClr val="1F6095"/>
                </a:solidFill>
              </a:rPr>
              <a:t>Volatility Filter</a:t>
            </a:r>
            <a:endParaRPr i="0" sz="1150" u="none" cap="none" strike="noStrike">
              <a:solidFill>
                <a:schemeClr val="dk1"/>
              </a:solidFill>
            </a:endParaRPr>
          </a:p>
        </p:txBody>
      </p:sp>
      <p:sp>
        <p:nvSpPr>
          <p:cNvPr id="526" name="Google Shape;526;g3d93e1c57a8_2_7"/>
          <p:cNvSpPr/>
          <p:nvPr/>
        </p:nvSpPr>
        <p:spPr>
          <a:xfrm>
            <a:off x="4937750" y="1527724"/>
            <a:ext cx="3840600" cy="7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>
                <a:solidFill>
                  <a:srgbClr val="1A2618"/>
                </a:solidFill>
              </a:rPr>
              <a:t>Tickers whose trailing 252-day ann. vol exceeds vol_filter_threshold (default 150%) are dropped before the backtest.</a:t>
            </a:r>
            <a:endParaRPr sz="1000">
              <a:solidFill>
                <a:srgbClr val="1A2618"/>
              </a:solidFill>
            </a:endParaRPr>
          </a:p>
        </p:txBody>
      </p:sp>
      <p:sp>
        <p:nvSpPr>
          <p:cNvPr id="527" name="Google Shape;527;g3d93e1c57a8_2_7"/>
          <p:cNvSpPr/>
          <p:nvPr/>
        </p:nvSpPr>
        <p:spPr>
          <a:xfrm>
            <a:off x="457200" y="2420777"/>
            <a:ext cx="4114800" cy="1223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8" name="Google Shape;528;g3d93e1c57a8_2_7"/>
          <p:cNvSpPr/>
          <p:nvPr/>
        </p:nvSpPr>
        <p:spPr>
          <a:xfrm>
            <a:off x="457200" y="2420784"/>
            <a:ext cx="4114800" cy="549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g3d93e1c57a8_2_7"/>
          <p:cNvSpPr/>
          <p:nvPr/>
        </p:nvSpPr>
        <p:spPr>
          <a:xfrm>
            <a:off x="594360" y="2512224"/>
            <a:ext cx="3840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005C3B"/>
                </a:solidFill>
              </a:rPr>
              <a:t xml:space="preserve">3.  </a:t>
            </a:r>
            <a:r>
              <a:rPr b="1" lang="en-US" sz="1150">
                <a:solidFill>
                  <a:srgbClr val="005C3B"/>
                </a:solidFill>
              </a:rPr>
              <a:t>Liquidity Filter</a:t>
            </a:r>
            <a:endParaRPr i="0" sz="1150" u="none" cap="none" strike="noStrike">
              <a:solidFill>
                <a:schemeClr val="dk1"/>
              </a:solidFill>
            </a:endParaRPr>
          </a:p>
        </p:txBody>
      </p:sp>
      <p:sp>
        <p:nvSpPr>
          <p:cNvPr id="530" name="Google Shape;530;g3d93e1c57a8_2_7"/>
          <p:cNvSpPr/>
          <p:nvPr/>
        </p:nvSpPr>
        <p:spPr>
          <a:xfrm>
            <a:off x="594350" y="2823124"/>
            <a:ext cx="3840600" cy="7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>
                <a:solidFill>
                  <a:srgbClr val="1A2618"/>
                </a:solidFill>
              </a:rPr>
              <a:t>Tickers with avg daily volume below min_adv_usd (default $1M) are dropped.  These names are untradeable in size.</a:t>
            </a:r>
            <a:endParaRPr sz="1000">
              <a:solidFill>
                <a:srgbClr val="1A2618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t/>
            </a:r>
            <a:endParaRPr sz="1000">
              <a:solidFill>
                <a:srgbClr val="1A2618"/>
              </a:solidFill>
            </a:endParaRPr>
          </a:p>
        </p:txBody>
      </p:sp>
      <p:sp>
        <p:nvSpPr>
          <p:cNvPr id="531" name="Google Shape;531;g3d93e1c57a8_2_7"/>
          <p:cNvSpPr/>
          <p:nvPr/>
        </p:nvSpPr>
        <p:spPr>
          <a:xfrm>
            <a:off x="4800600" y="2420777"/>
            <a:ext cx="4114800" cy="1223400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" name="Google Shape;532;g3d93e1c57a8_2_7"/>
          <p:cNvSpPr/>
          <p:nvPr/>
        </p:nvSpPr>
        <p:spPr>
          <a:xfrm>
            <a:off x="4800600" y="2420784"/>
            <a:ext cx="4114800" cy="54900"/>
          </a:xfrm>
          <a:prstGeom prst="rect">
            <a:avLst/>
          </a:prstGeom>
          <a:solidFill>
            <a:srgbClr val="007A52"/>
          </a:solidFill>
          <a:ln cap="flat" cmpd="sng" w="12700">
            <a:solidFill>
              <a:srgbClr val="007A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g3d93e1c57a8_2_7"/>
          <p:cNvSpPr/>
          <p:nvPr/>
        </p:nvSpPr>
        <p:spPr>
          <a:xfrm>
            <a:off x="4937760" y="2512224"/>
            <a:ext cx="3840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7A52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007A52"/>
                </a:solidFill>
              </a:rPr>
              <a:t xml:space="preserve">4.  </a:t>
            </a:r>
            <a:r>
              <a:rPr b="1" lang="en-US" sz="1150">
                <a:solidFill>
                  <a:srgbClr val="007A52"/>
                </a:solidFill>
              </a:rPr>
              <a:t>Ticker Identity Check</a:t>
            </a:r>
            <a:endParaRPr i="0" sz="1150" u="none" cap="none" strike="noStrike">
              <a:solidFill>
                <a:schemeClr val="dk1"/>
              </a:solidFill>
            </a:endParaRPr>
          </a:p>
        </p:txBody>
      </p:sp>
      <p:sp>
        <p:nvSpPr>
          <p:cNvPr id="534" name="Google Shape;534;g3d93e1c57a8_2_7"/>
          <p:cNvSpPr/>
          <p:nvPr/>
        </p:nvSpPr>
        <p:spPr>
          <a:xfrm>
            <a:off x="4937750" y="2823124"/>
            <a:ext cx="3840600" cy="7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lang="en-US" sz="1000">
                <a:solidFill>
                  <a:srgbClr val="1A2618"/>
                </a:solidFill>
              </a:rPr>
              <a:t>Cross-references the 'company' column from the ghost file against yfinance's longName.  Flags mismatches (reused tickers return data for the wrong company).</a:t>
            </a:r>
            <a:endParaRPr sz="1000">
              <a:solidFill>
                <a:srgbClr val="1A2618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t/>
            </a:r>
            <a:endParaRPr sz="1000">
              <a:solidFill>
                <a:srgbClr val="1A2618"/>
              </a:solidFill>
            </a:endParaRPr>
          </a:p>
        </p:txBody>
      </p:sp>
      <p:sp>
        <p:nvSpPr>
          <p:cNvPr id="535" name="Google Shape;535;g3d93e1c57a8_2_7"/>
          <p:cNvSpPr/>
          <p:nvPr/>
        </p:nvSpPr>
        <p:spPr>
          <a:xfrm>
            <a:off x="457250" y="3844850"/>
            <a:ext cx="8458200" cy="993000"/>
          </a:xfrm>
          <a:prstGeom prst="rect">
            <a:avLst/>
          </a:prstGeom>
          <a:solidFill>
            <a:srgbClr val="FFFFFF"/>
          </a:solidFill>
          <a:ln cap="flat" cmpd="sng" w="3425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29920" rotWithShape="0" algn="bl" dir="8100000" dist="8549">
              <a:srgbClr val="000000">
                <a:alpha val="10200"/>
              </a:srgbClr>
            </a:outerShdw>
          </a:effectLst>
        </p:spPr>
        <p:txBody>
          <a:bodyPr anchorCtr="0" anchor="ctr" bIns="30775" lIns="30775" spcFirstLastPara="1" rIns="30775" wrap="square" tIns="30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71"/>
          </a:p>
        </p:txBody>
      </p:sp>
      <p:sp>
        <p:nvSpPr>
          <p:cNvPr id="536" name="Google Shape;536;g3d93e1c57a8_2_7"/>
          <p:cNvSpPr/>
          <p:nvPr/>
        </p:nvSpPr>
        <p:spPr>
          <a:xfrm>
            <a:off x="457250" y="3844850"/>
            <a:ext cx="8458200" cy="36900"/>
          </a:xfrm>
          <a:prstGeom prst="rect">
            <a:avLst/>
          </a:prstGeom>
          <a:solidFill>
            <a:srgbClr val="005C3B"/>
          </a:solidFill>
          <a:ln cap="flat" cmpd="sng" w="4275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0775" lIns="30775" spcFirstLastPara="1" rIns="30775" wrap="square" tIns="30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71"/>
          </a:p>
        </p:txBody>
      </p:sp>
      <p:sp>
        <p:nvSpPr>
          <p:cNvPr id="537" name="Google Shape;537;g3d93e1c57a8_2_7"/>
          <p:cNvSpPr/>
          <p:nvPr/>
        </p:nvSpPr>
        <p:spPr>
          <a:xfrm>
            <a:off x="594310" y="3946075"/>
            <a:ext cx="3840600" cy="21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150"/>
              <a:buFont typeface="Cambria"/>
              <a:buNone/>
            </a:pPr>
            <a:r>
              <a:rPr b="1" lang="en-US" sz="1150">
                <a:solidFill>
                  <a:srgbClr val="005C3B"/>
                </a:solidFill>
              </a:rPr>
              <a:t>5. No Lookahead Bias</a:t>
            </a:r>
            <a:endParaRPr i="0" sz="1150" u="none" cap="none" strike="noStrike">
              <a:solidFill>
                <a:schemeClr val="dk1"/>
              </a:solidFill>
            </a:endParaRPr>
          </a:p>
        </p:txBody>
      </p:sp>
      <p:sp>
        <p:nvSpPr>
          <p:cNvPr id="538" name="Google Shape;538;g3d93e1c57a8_2_7"/>
          <p:cNvSpPr/>
          <p:nvPr/>
        </p:nvSpPr>
        <p:spPr>
          <a:xfrm>
            <a:off x="594300" y="4188100"/>
            <a:ext cx="8184000" cy="60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>
                <a:solidFill>
                  <a:srgbClr val="1A2618"/>
                </a:solidFill>
              </a:rPr>
              <a:t>At every rebalancing date T, only ghost scores whose available_date (= quarter_end + publication_lag_days) &lt;= T are used. For each ticker, the MOST RECENT available quarter's score is selected.</a:t>
            </a:r>
            <a:endParaRPr sz="1000">
              <a:solidFill>
                <a:srgbClr val="1A2618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15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15"/>
          <p:cNvSpPr/>
          <p:nvPr/>
        </p:nvSpPr>
        <p:spPr>
          <a:xfrm>
            <a:off x="457200" y="137160"/>
            <a:ext cx="6858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005C3B"/>
                </a:solidFill>
              </a:rPr>
              <a:t>WALK-FORWARD BACKTEST RESULTS</a:t>
            </a:r>
            <a:endParaRPr i="0" sz="1800" u="none" cap="none" strike="noStrike">
              <a:solidFill>
                <a:schemeClr val="dk1"/>
              </a:solidFill>
            </a:endParaRPr>
          </a:p>
        </p:txBody>
      </p:sp>
      <p:sp>
        <p:nvSpPr>
          <p:cNvPr id="546" name="Google Shape;546;p15"/>
          <p:cNvSpPr/>
          <p:nvPr/>
        </p:nvSpPr>
        <p:spPr>
          <a:xfrm>
            <a:off x="457200" y="548640"/>
            <a:ext cx="8412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4E6057"/>
                </a:solidFill>
              </a:rPr>
              <a:t>No lookahead bias  ·  features from Q predict returns in Q+1  ·  20 bps transaction cost  ·  vol filter &gt;150% ann.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547" name="Google Shape;547;p15"/>
          <p:cNvSpPr/>
          <p:nvPr/>
        </p:nvSpPr>
        <p:spPr>
          <a:xfrm>
            <a:off x="457200" y="804672"/>
            <a:ext cx="1920240" cy="475488"/>
          </a:xfrm>
          <a:prstGeom prst="rect">
            <a:avLst/>
          </a:prstGeom>
          <a:solidFill>
            <a:srgbClr val="AD1520"/>
          </a:solidFill>
          <a:ln cap="flat" cmpd="sng" w="12700">
            <a:solidFill>
              <a:srgbClr val="AD15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15"/>
          <p:cNvSpPr/>
          <p:nvPr/>
        </p:nvSpPr>
        <p:spPr>
          <a:xfrm>
            <a:off x="457200" y="822960"/>
            <a:ext cx="19202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Long High Ghost</a:t>
            </a:r>
            <a:endParaRPr i="0" sz="9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~220%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549" name="Google Shape;549;p15"/>
          <p:cNvSpPr/>
          <p:nvPr/>
        </p:nvSpPr>
        <p:spPr>
          <a:xfrm>
            <a:off x="2514600" y="804672"/>
            <a:ext cx="1920240" cy="475488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15"/>
          <p:cNvSpPr/>
          <p:nvPr/>
        </p:nvSpPr>
        <p:spPr>
          <a:xfrm>
            <a:off x="2514600" y="822960"/>
            <a:ext cx="19202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Ghost Barbell</a:t>
            </a:r>
            <a:endParaRPr i="0" sz="9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+217%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551" name="Google Shape;551;p15"/>
          <p:cNvSpPr/>
          <p:nvPr/>
        </p:nvSpPr>
        <p:spPr>
          <a:xfrm>
            <a:off x="4572000" y="804672"/>
            <a:ext cx="1920240" cy="475488"/>
          </a:xfrm>
          <a:prstGeom prst="rect">
            <a:avLst/>
          </a:prstGeom>
          <a:solidFill>
            <a:srgbClr val="007A52"/>
          </a:solidFill>
          <a:ln cap="flat" cmpd="sng" w="12700">
            <a:solidFill>
              <a:srgbClr val="007A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15"/>
          <p:cNvSpPr/>
          <p:nvPr/>
        </p:nvSpPr>
        <p:spPr>
          <a:xfrm>
            <a:off x="4572000" y="822960"/>
            <a:ext cx="19202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Long Low Ghost</a:t>
            </a:r>
            <a:endParaRPr i="0" sz="9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~120%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553" name="Google Shape;553;p15"/>
          <p:cNvSpPr/>
          <p:nvPr/>
        </p:nvSpPr>
        <p:spPr>
          <a:xfrm>
            <a:off x="6629400" y="804672"/>
            <a:ext cx="1920240" cy="475488"/>
          </a:xfrm>
          <a:prstGeom prst="rect">
            <a:avLst/>
          </a:prstGeom>
          <a:solidFill>
            <a:srgbClr val="002145"/>
          </a:solidFill>
          <a:ln cap="flat" cmpd="sng" w="1270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15"/>
          <p:cNvSpPr/>
          <p:nvPr/>
        </p:nvSpPr>
        <p:spPr>
          <a:xfrm>
            <a:off x="6629400" y="822960"/>
            <a:ext cx="19202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SPY (Buy &amp; Hold)</a:t>
            </a:r>
            <a:endParaRPr i="0" sz="9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+180%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555" name="Google Shape;555;p15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15"/>
          <p:cNvSpPr/>
          <p:nvPr/>
        </p:nvSpPr>
        <p:spPr>
          <a:xfrm>
            <a:off x="365760" y="5001768"/>
            <a:ext cx="84124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b="0" i="0" lang="en-US" sz="800" u="none" cap="none" strike="noStrike">
                <a:solidFill>
                  <a:srgbClr val="7BAF96"/>
                </a:solidFill>
                <a:latin typeface="Cambria"/>
                <a:ea typeface="Cambria"/>
                <a:cs typeface="Cambria"/>
                <a:sym typeface="Cambria"/>
              </a:rPr>
              <a:t>UBC SAUDER  ·  COMM 486I  ·  GROUP 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57" name="Google Shape;557;p15"/>
          <p:cNvPicPr preferRelativeResize="0"/>
          <p:nvPr/>
        </p:nvPicPr>
        <p:blipFill rotWithShape="1">
          <a:blip r:embed="rId3">
            <a:alphaModFix/>
          </a:blip>
          <a:srcRect b="59654" l="0" r="0" t="7806"/>
          <a:stretch/>
        </p:blipFill>
        <p:spPr>
          <a:xfrm>
            <a:off x="365750" y="1366076"/>
            <a:ext cx="8312699" cy="3373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g3d93e1c57a8_3_526"/>
          <p:cNvSpPr/>
          <p:nvPr/>
        </p:nvSpPr>
        <p:spPr>
          <a:xfrm>
            <a:off x="0" y="0"/>
            <a:ext cx="9144000" cy="822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4" name="Google Shape;564;g3d93e1c57a8_3_526"/>
          <p:cNvSpPr/>
          <p:nvPr/>
        </p:nvSpPr>
        <p:spPr>
          <a:xfrm>
            <a:off x="457200" y="137160"/>
            <a:ext cx="6858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005C3B"/>
                </a:solidFill>
              </a:rPr>
              <a:t>WALK-FORWARD BACKTEST RESULTS</a:t>
            </a:r>
            <a:endParaRPr i="0" sz="1800" u="none" cap="none" strike="noStrike">
              <a:solidFill>
                <a:schemeClr val="dk1"/>
              </a:solidFill>
            </a:endParaRPr>
          </a:p>
        </p:txBody>
      </p:sp>
      <p:sp>
        <p:nvSpPr>
          <p:cNvPr id="565" name="Google Shape;565;g3d93e1c57a8_3_526"/>
          <p:cNvSpPr/>
          <p:nvPr/>
        </p:nvSpPr>
        <p:spPr>
          <a:xfrm>
            <a:off x="457200" y="548640"/>
            <a:ext cx="8412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4E6057"/>
                </a:solidFill>
              </a:rPr>
              <a:t>No lookahead bias  ·  features from Q predict returns in Q+1  ·  20 bps transaction cost  ·  vol filter &gt;150% ann.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566" name="Google Shape;566;g3d93e1c57a8_3_526"/>
          <p:cNvSpPr/>
          <p:nvPr/>
        </p:nvSpPr>
        <p:spPr>
          <a:xfrm>
            <a:off x="457200" y="804672"/>
            <a:ext cx="1920300" cy="475500"/>
          </a:xfrm>
          <a:prstGeom prst="rect">
            <a:avLst/>
          </a:prstGeom>
          <a:solidFill>
            <a:srgbClr val="AD1520"/>
          </a:solidFill>
          <a:ln cap="flat" cmpd="sng" w="12700">
            <a:solidFill>
              <a:srgbClr val="AD15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g3d93e1c57a8_3_526"/>
          <p:cNvSpPr/>
          <p:nvPr/>
        </p:nvSpPr>
        <p:spPr>
          <a:xfrm>
            <a:off x="457200" y="822960"/>
            <a:ext cx="1920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Long High Ghost</a:t>
            </a:r>
            <a:endParaRPr i="0" sz="9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~220%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568" name="Google Shape;568;g3d93e1c57a8_3_526"/>
          <p:cNvSpPr/>
          <p:nvPr/>
        </p:nvSpPr>
        <p:spPr>
          <a:xfrm>
            <a:off x="2514600" y="804672"/>
            <a:ext cx="1920300" cy="4755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" name="Google Shape;569;g3d93e1c57a8_3_526"/>
          <p:cNvSpPr/>
          <p:nvPr/>
        </p:nvSpPr>
        <p:spPr>
          <a:xfrm>
            <a:off x="2514600" y="822960"/>
            <a:ext cx="1920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Ghost Barbell</a:t>
            </a:r>
            <a:endParaRPr i="0" sz="9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+217%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570" name="Google Shape;570;g3d93e1c57a8_3_526"/>
          <p:cNvSpPr/>
          <p:nvPr/>
        </p:nvSpPr>
        <p:spPr>
          <a:xfrm>
            <a:off x="4572000" y="804672"/>
            <a:ext cx="1920300" cy="475500"/>
          </a:xfrm>
          <a:prstGeom prst="rect">
            <a:avLst/>
          </a:prstGeom>
          <a:solidFill>
            <a:srgbClr val="007A52"/>
          </a:solidFill>
          <a:ln cap="flat" cmpd="sng" w="12700">
            <a:solidFill>
              <a:srgbClr val="007A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g3d93e1c57a8_3_526"/>
          <p:cNvSpPr/>
          <p:nvPr/>
        </p:nvSpPr>
        <p:spPr>
          <a:xfrm>
            <a:off x="4572000" y="822960"/>
            <a:ext cx="1920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Long Low Ghost</a:t>
            </a:r>
            <a:endParaRPr i="0" sz="9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~120%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572" name="Google Shape;572;g3d93e1c57a8_3_526"/>
          <p:cNvSpPr/>
          <p:nvPr/>
        </p:nvSpPr>
        <p:spPr>
          <a:xfrm>
            <a:off x="6629400" y="804672"/>
            <a:ext cx="1920300" cy="475500"/>
          </a:xfrm>
          <a:prstGeom prst="rect">
            <a:avLst/>
          </a:prstGeom>
          <a:solidFill>
            <a:srgbClr val="002145"/>
          </a:solidFill>
          <a:ln cap="flat" cmpd="sng" w="1270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3" name="Google Shape;573;g3d93e1c57a8_3_526"/>
          <p:cNvSpPr/>
          <p:nvPr/>
        </p:nvSpPr>
        <p:spPr>
          <a:xfrm>
            <a:off x="6629400" y="822960"/>
            <a:ext cx="1920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SPY (Buy &amp; Hold)</a:t>
            </a:r>
            <a:endParaRPr i="0" sz="9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+180%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574" name="Google Shape;574;g3d93e1c57a8_3_526"/>
          <p:cNvSpPr/>
          <p:nvPr/>
        </p:nvSpPr>
        <p:spPr>
          <a:xfrm>
            <a:off x="0" y="4983480"/>
            <a:ext cx="9144000" cy="15990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5" name="Google Shape;575;g3d93e1c57a8_3_526"/>
          <p:cNvSpPr/>
          <p:nvPr/>
        </p:nvSpPr>
        <p:spPr>
          <a:xfrm>
            <a:off x="365760" y="5001768"/>
            <a:ext cx="8412600" cy="12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b="0" i="0" lang="en-US" sz="800" u="none" cap="none" strike="noStrike">
                <a:solidFill>
                  <a:srgbClr val="7BAF96"/>
                </a:solidFill>
                <a:latin typeface="Cambria"/>
                <a:ea typeface="Cambria"/>
                <a:cs typeface="Cambria"/>
                <a:sym typeface="Cambria"/>
              </a:rPr>
              <a:t>UBC SAUDER  ·  COMM 486I  ·  GROUP 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76" name="Google Shape;576;g3d93e1c57a8_3_526"/>
          <p:cNvPicPr preferRelativeResize="0"/>
          <p:nvPr/>
        </p:nvPicPr>
        <p:blipFill rotWithShape="1">
          <a:blip r:embed="rId3">
            <a:alphaModFix/>
          </a:blip>
          <a:srcRect b="28340" l="0" r="0" t="41831"/>
          <a:stretch/>
        </p:blipFill>
        <p:spPr>
          <a:xfrm>
            <a:off x="365750" y="1497825"/>
            <a:ext cx="8321102" cy="3095736"/>
          </a:xfrm>
          <a:prstGeom prst="rect">
            <a:avLst/>
          </a:prstGeom>
          <a:noFill/>
          <a:ln>
            <a:noFill/>
          </a:ln>
        </p:spPr>
      </p:pic>
      <p:pic>
        <p:nvPicPr>
          <p:cNvPr id="577" name="Google Shape;577;g3d93e1c57a8_3_5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19650" y="2950300"/>
            <a:ext cx="1285350" cy="1100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d93e1c57a8_3_506"/>
          <p:cNvSpPr/>
          <p:nvPr/>
        </p:nvSpPr>
        <p:spPr>
          <a:xfrm>
            <a:off x="0" y="0"/>
            <a:ext cx="9144000" cy="822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g3d93e1c57a8_3_506"/>
          <p:cNvSpPr/>
          <p:nvPr/>
        </p:nvSpPr>
        <p:spPr>
          <a:xfrm>
            <a:off x="457200" y="137160"/>
            <a:ext cx="6858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005C3B"/>
                </a:solidFill>
              </a:rPr>
              <a:t>WALK-FORWARD BACKTEST RESULTS</a:t>
            </a:r>
            <a:endParaRPr i="0" sz="1800" u="none" cap="none" strike="noStrike">
              <a:solidFill>
                <a:schemeClr val="dk1"/>
              </a:solidFill>
            </a:endParaRPr>
          </a:p>
        </p:txBody>
      </p:sp>
      <p:sp>
        <p:nvSpPr>
          <p:cNvPr id="585" name="Google Shape;585;g3d93e1c57a8_3_506"/>
          <p:cNvSpPr/>
          <p:nvPr/>
        </p:nvSpPr>
        <p:spPr>
          <a:xfrm>
            <a:off x="457200" y="548640"/>
            <a:ext cx="8412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4E6057"/>
                </a:solidFill>
              </a:rPr>
              <a:t>No lookahead bias  ·  features from Q predict returns in Q+1  ·  20 bps transaction cost  ·  vol filter &gt;150% ann.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586" name="Google Shape;586;g3d93e1c57a8_3_506"/>
          <p:cNvSpPr/>
          <p:nvPr/>
        </p:nvSpPr>
        <p:spPr>
          <a:xfrm>
            <a:off x="457200" y="804672"/>
            <a:ext cx="1920300" cy="475500"/>
          </a:xfrm>
          <a:prstGeom prst="rect">
            <a:avLst/>
          </a:prstGeom>
          <a:solidFill>
            <a:srgbClr val="AD1520"/>
          </a:solidFill>
          <a:ln cap="flat" cmpd="sng" w="12700">
            <a:solidFill>
              <a:srgbClr val="AD15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g3d93e1c57a8_3_506"/>
          <p:cNvSpPr/>
          <p:nvPr/>
        </p:nvSpPr>
        <p:spPr>
          <a:xfrm>
            <a:off x="457200" y="822960"/>
            <a:ext cx="1920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Long High Ghost</a:t>
            </a:r>
            <a:endParaRPr i="0" sz="9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~220%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588" name="Google Shape;588;g3d93e1c57a8_3_506"/>
          <p:cNvSpPr/>
          <p:nvPr/>
        </p:nvSpPr>
        <p:spPr>
          <a:xfrm>
            <a:off x="2514600" y="804672"/>
            <a:ext cx="1920300" cy="4755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9" name="Google Shape;589;g3d93e1c57a8_3_506"/>
          <p:cNvSpPr/>
          <p:nvPr/>
        </p:nvSpPr>
        <p:spPr>
          <a:xfrm>
            <a:off x="2514600" y="822960"/>
            <a:ext cx="1920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Ghost Barbell</a:t>
            </a:r>
            <a:endParaRPr i="0" sz="9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+217%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590" name="Google Shape;590;g3d93e1c57a8_3_506"/>
          <p:cNvSpPr/>
          <p:nvPr/>
        </p:nvSpPr>
        <p:spPr>
          <a:xfrm>
            <a:off x="4572000" y="804672"/>
            <a:ext cx="1920300" cy="475500"/>
          </a:xfrm>
          <a:prstGeom prst="rect">
            <a:avLst/>
          </a:prstGeom>
          <a:solidFill>
            <a:srgbClr val="007A52"/>
          </a:solidFill>
          <a:ln cap="flat" cmpd="sng" w="12700">
            <a:solidFill>
              <a:srgbClr val="007A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1" name="Google Shape;591;g3d93e1c57a8_3_506"/>
          <p:cNvSpPr/>
          <p:nvPr/>
        </p:nvSpPr>
        <p:spPr>
          <a:xfrm>
            <a:off x="4572000" y="822960"/>
            <a:ext cx="1920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Long Low Ghost</a:t>
            </a:r>
            <a:endParaRPr i="0" sz="9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~120%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592" name="Google Shape;592;g3d93e1c57a8_3_506"/>
          <p:cNvSpPr/>
          <p:nvPr/>
        </p:nvSpPr>
        <p:spPr>
          <a:xfrm>
            <a:off x="6629400" y="804672"/>
            <a:ext cx="1920300" cy="475500"/>
          </a:xfrm>
          <a:prstGeom prst="rect">
            <a:avLst/>
          </a:prstGeom>
          <a:solidFill>
            <a:srgbClr val="002145"/>
          </a:solidFill>
          <a:ln cap="flat" cmpd="sng" w="1270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3" name="Google Shape;593;g3d93e1c57a8_3_506"/>
          <p:cNvSpPr/>
          <p:nvPr/>
        </p:nvSpPr>
        <p:spPr>
          <a:xfrm>
            <a:off x="6629400" y="822960"/>
            <a:ext cx="1920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SPY (Buy &amp; Hold)</a:t>
            </a:r>
            <a:endParaRPr i="0" sz="900" u="none" cap="none" strike="noStrike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</a:rPr>
              <a:t>+180%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594" name="Google Shape;594;g3d93e1c57a8_3_506"/>
          <p:cNvSpPr/>
          <p:nvPr/>
        </p:nvSpPr>
        <p:spPr>
          <a:xfrm>
            <a:off x="0" y="4983480"/>
            <a:ext cx="9144000" cy="15990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5" name="Google Shape;595;g3d93e1c57a8_3_506"/>
          <p:cNvSpPr/>
          <p:nvPr/>
        </p:nvSpPr>
        <p:spPr>
          <a:xfrm>
            <a:off x="365760" y="5001768"/>
            <a:ext cx="8412600" cy="12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b="0" i="0" lang="en-US" sz="800" u="none" cap="none" strike="noStrike">
                <a:solidFill>
                  <a:srgbClr val="7BAF96"/>
                </a:solidFill>
                <a:latin typeface="Cambria"/>
                <a:ea typeface="Cambria"/>
                <a:cs typeface="Cambria"/>
                <a:sym typeface="Cambria"/>
              </a:rPr>
              <a:t>UBC SAUDER  ·  COMM 486I  ·  GROUP 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96" name="Google Shape;596;g3d93e1c57a8_3_506"/>
          <p:cNvPicPr preferRelativeResize="0"/>
          <p:nvPr/>
        </p:nvPicPr>
        <p:blipFill rotWithShape="1">
          <a:blip r:embed="rId3">
            <a:alphaModFix/>
          </a:blip>
          <a:srcRect b="0" l="2961" r="51827" t="71622"/>
          <a:stretch/>
        </p:blipFill>
        <p:spPr>
          <a:xfrm>
            <a:off x="115682" y="1243700"/>
            <a:ext cx="4364576" cy="3416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597" name="Google Shape;597;g3d93e1c57a8_3_506"/>
          <p:cNvPicPr preferRelativeResize="0"/>
          <p:nvPr/>
        </p:nvPicPr>
        <p:blipFill rotWithShape="1">
          <a:blip r:embed="rId3">
            <a:alphaModFix/>
          </a:blip>
          <a:srcRect b="0" l="54226" r="1051" t="73735"/>
          <a:stretch/>
        </p:blipFill>
        <p:spPr>
          <a:xfrm>
            <a:off x="4480257" y="1488538"/>
            <a:ext cx="4511801" cy="33048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6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" name="Google Shape;604;p16"/>
          <p:cNvSpPr/>
          <p:nvPr/>
        </p:nvSpPr>
        <p:spPr>
          <a:xfrm>
            <a:off x="457200" y="155448"/>
            <a:ext cx="8046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005C3B"/>
                </a:solidFill>
              </a:rPr>
              <a:t>INTERPRETING THE LONG HIGH GHOST PREMIUM</a:t>
            </a:r>
            <a:endParaRPr i="0" sz="2100" u="none" cap="none" strike="noStrike">
              <a:solidFill>
                <a:schemeClr val="dk1"/>
              </a:solidFill>
            </a:endParaRPr>
          </a:p>
        </p:txBody>
      </p:sp>
      <p:sp>
        <p:nvSpPr>
          <p:cNvPr id="605" name="Google Shape;605;p16"/>
          <p:cNvSpPr/>
          <p:nvPr/>
        </p:nvSpPr>
        <p:spPr>
          <a:xfrm>
            <a:off x="457200" y="640080"/>
            <a:ext cx="804672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4E6057"/>
                </a:solidFill>
              </a:rPr>
              <a:t>Why ghost-heavy firms outperform in the medium term — consistent with H2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606" name="Google Shape;606;p16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7" name="Google Shape;607;p16"/>
          <p:cNvSpPr/>
          <p:nvPr/>
        </p:nvSpPr>
        <p:spPr>
          <a:xfrm>
            <a:off x="365760" y="5001768"/>
            <a:ext cx="84124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i="0" lang="en-US" sz="800" u="none" cap="none" strike="noStrike">
                <a:solidFill>
                  <a:srgbClr val="7BAF96"/>
                </a:solidFill>
              </a:rPr>
              <a:t>UBC SAUDER  ·  COMM 486I  ·  GROUP 6</a:t>
            </a:r>
            <a:endParaRPr i="0" sz="800" u="none" cap="none" strike="noStrike">
              <a:solidFill>
                <a:schemeClr val="dk1"/>
              </a:solidFill>
            </a:endParaRPr>
          </a:p>
        </p:txBody>
      </p:sp>
      <p:sp>
        <p:nvSpPr>
          <p:cNvPr id="608" name="Google Shape;608;p16"/>
          <p:cNvSpPr/>
          <p:nvPr/>
        </p:nvSpPr>
        <p:spPr>
          <a:xfrm>
            <a:off x="457200" y="914400"/>
            <a:ext cx="8229600" cy="475488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" name="Google Shape;609;p16"/>
          <p:cNvSpPr/>
          <p:nvPr/>
        </p:nvSpPr>
        <p:spPr>
          <a:xfrm>
            <a:off x="594360" y="969264"/>
            <a:ext cx="7955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mbria"/>
              <a:buNone/>
            </a:pPr>
            <a:r>
              <a:rPr i="0" lang="en-US" sz="1100" u="none" cap="none" strike="noStrike">
                <a:solidFill>
                  <a:srgbClr val="FFFFFF"/>
                </a:solidFill>
              </a:rPr>
              <a:t>Finding: Long High Ghost earns ~220% cumulative return (2019–2026), outpacing SPY (+180.1%). This is consistent with H2 and four well-grounded behavioural mechanisms.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610" name="Google Shape;610;p16"/>
          <p:cNvSpPr/>
          <p:nvPr/>
        </p:nvSpPr>
        <p:spPr>
          <a:xfrm>
            <a:off x="457200" y="1517904"/>
            <a:ext cx="4114800" cy="148132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" name="Google Shape;611;p16"/>
          <p:cNvSpPr/>
          <p:nvPr/>
        </p:nvSpPr>
        <p:spPr>
          <a:xfrm>
            <a:off x="457200" y="1517904"/>
            <a:ext cx="4114800" cy="54864"/>
          </a:xfrm>
          <a:prstGeom prst="rect">
            <a:avLst/>
          </a:prstGeom>
          <a:solidFill>
            <a:srgbClr val="002145"/>
          </a:solidFill>
          <a:ln cap="flat" cmpd="sng" w="1270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p16"/>
          <p:cNvSpPr/>
          <p:nvPr/>
        </p:nvSpPr>
        <p:spPr>
          <a:xfrm>
            <a:off x="594360" y="1609344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002145"/>
                </a:solidFill>
              </a:rPr>
              <a:t>1.  Investor Attention Effect</a:t>
            </a:r>
            <a:endParaRPr i="0" sz="1150" u="none" cap="none" strike="noStrike">
              <a:solidFill>
                <a:schemeClr val="dk1"/>
              </a:solidFill>
            </a:endParaRPr>
          </a:p>
        </p:txBody>
      </p:sp>
      <p:sp>
        <p:nvSpPr>
          <p:cNvPr id="613" name="Google Shape;613;p16"/>
          <p:cNvSpPr/>
          <p:nvPr/>
        </p:nvSpPr>
        <p:spPr>
          <a:xfrm>
            <a:off x="594360" y="1920240"/>
            <a:ext cx="3840480" cy="10241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Ghost-heavy firms post aggressively — high posting volume drives investor attention. Attention-grabbing stocks tend to earn positive near-term returns as retail and institutional buyers respond to visibility signals, independent of fundamental quality.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614" name="Google Shape;614;p16"/>
          <p:cNvSpPr/>
          <p:nvPr/>
        </p:nvSpPr>
        <p:spPr>
          <a:xfrm>
            <a:off x="4800600" y="1517904"/>
            <a:ext cx="4114800" cy="148132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5" name="Google Shape;615;p16"/>
          <p:cNvSpPr/>
          <p:nvPr/>
        </p:nvSpPr>
        <p:spPr>
          <a:xfrm>
            <a:off x="4800600" y="1517904"/>
            <a:ext cx="4114800" cy="54864"/>
          </a:xfrm>
          <a:prstGeom prst="rect">
            <a:avLst/>
          </a:prstGeom>
          <a:solidFill>
            <a:srgbClr val="1F6095"/>
          </a:solidFill>
          <a:ln cap="flat" cmpd="sng" w="12700">
            <a:solidFill>
              <a:srgbClr val="1F60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6"/>
          <p:cNvSpPr/>
          <p:nvPr/>
        </p:nvSpPr>
        <p:spPr>
          <a:xfrm>
            <a:off x="4937760" y="1609344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6095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1F6095"/>
                </a:solidFill>
              </a:rPr>
              <a:t>2.  Extrapolation of Growth Narratives</a:t>
            </a:r>
            <a:endParaRPr i="0" sz="1150" u="none" cap="none" strike="noStrike">
              <a:solidFill>
                <a:schemeClr val="dk1"/>
              </a:solidFill>
            </a:endParaRPr>
          </a:p>
        </p:txBody>
      </p:sp>
      <p:sp>
        <p:nvSpPr>
          <p:cNvPr id="617" name="Google Shape;617;p16"/>
          <p:cNvSpPr/>
          <p:nvPr/>
        </p:nvSpPr>
        <p:spPr>
          <a:xfrm>
            <a:off x="4937760" y="1920240"/>
            <a:ext cx="3840480" cy="10241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Investors interpret posting volume as a growth signal and extrapolate it into earnings forecasts. Ghost firms look like growth stocks based on posting signals — they command a growth premium because growth expectations are systematically overweighted.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618" name="Google Shape;618;p16"/>
          <p:cNvSpPr/>
          <p:nvPr/>
        </p:nvSpPr>
        <p:spPr>
          <a:xfrm>
            <a:off x="457200" y="3118104"/>
            <a:ext cx="4114800" cy="148132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9" name="Google Shape;619;p16"/>
          <p:cNvSpPr/>
          <p:nvPr/>
        </p:nvSpPr>
        <p:spPr>
          <a:xfrm>
            <a:off x="457200" y="3118104"/>
            <a:ext cx="4114800" cy="54864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0" name="Google Shape;620;p16"/>
          <p:cNvSpPr/>
          <p:nvPr/>
        </p:nvSpPr>
        <p:spPr>
          <a:xfrm>
            <a:off x="594360" y="3209544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005C3B"/>
                </a:solidFill>
              </a:rPr>
              <a:t>3.  Limits to Arbitrage</a:t>
            </a:r>
            <a:endParaRPr i="0" sz="1150" u="none" cap="none" strike="noStrike">
              <a:solidFill>
                <a:schemeClr val="dk1"/>
              </a:solidFill>
            </a:endParaRPr>
          </a:p>
        </p:txBody>
      </p:sp>
      <p:sp>
        <p:nvSpPr>
          <p:cNvPr id="621" name="Google Shape;621;p16"/>
          <p:cNvSpPr/>
          <p:nvPr/>
        </p:nvSpPr>
        <p:spPr>
          <a:xfrm>
            <a:off x="594360" y="3520440"/>
            <a:ext cx="3840480" cy="10241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Even investors who detect the mispricing cannot profitably short ghost firms: borrowing costs are high, noise traders can push prices further before correction, and idiosyncratic volatility creates convergence risk that deters informed trading.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622" name="Google Shape;622;p16"/>
          <p:cNvSpPr/>
          <p:nvPr/>
        </p:nvSpPr>
        <p:spPr>
          <a:xfrm>
            <a:off x="4800600" y="3118104"/>
            <a:ext cx="4114800" cy="148132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16"/>
          <p:cNvSpPr/>
          <p:nvPr/>
        </p:nvSpPr>
        <p:spPr>
          <a:xfrm>
            <a:off x="4800600" y="3118104"/>
            <a:ext cx="4114800" cy="54864"/>
          </a:xfrm>
          <a:prstGeom prst="rect">
            <a:avLst/>
          </a:prstGeom>
          <a:solidFill>
            <a:srgbClr val="007A52"/>
          </a:solidFill>
          <a:ln cap="flat" cmpd="sng" w="12700">
            <a:solidFill>
              <a:srgbClr val="007A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4" name="Google Shape;624;p16"/>
          <p:cNvSpPr/>
          <p:nvPr/>
        </p:nvSpPr>
        <p:spPr>
          <a:xfrm>
            <a:off x="4937760" y="3209544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7A52"/>
              </a:buClr>
              <a:buSzPts val="1150"/>
              <a:buFont typeface="Cambria"/>
              <a:buNone/>
            </a:pPr>
            <a:r>
              <a:rPr b="1" i="0" lang="en-US" sz="1150" u="none" cap="none" strike="noStrike">
                <a:solidFill>
                  <a:srgbClr val="007A52"/>
                </a:solidFill>
              </a:rPr>
              <a:t>4.  Signal Horizon Mismatch</a:t>
            </a:r>
            <a:endParaRPr i="0" sz="1150" u="none" cap="none" strike="noStrike">
              <a:solidFill>
                <a:schemeClr val="dk1"/>
              </a:solidFill>
            </a:endParaRPr>
          </a:p>
        </p:txBody>
      </p:sp>
      <p:sp>
        <p:nvSpPr>
          <p:cNvPr id="625" name="Google Shape;625;p16"/>
          <p:cNvSpPr/>
          <p:nvPr/>
        </p:nvSpPr>
        <p:spPr>
          <a:xfrm>
            <a:off x="4937760" y="3520440"/>
            <a:ext cx="3840480" cy="10241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The fundamental correction — where earnings disappoint and hiring stalls are priced in — likely materialises on a 3–5 year horizon. Our quarterly rebalancing captures the persistence phase, not the eventual reversal.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626" name="Google Shape;626;p16"/>
          <p:cNvSpPr/>
          <p:nvPr/>
        </p:nvSpPr>
        <p:spPr>
          <a:xfrm>
            <a:off x="457200" y="4754880"/>
            <a:ext cx="8229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900"/>
              <a:buFont typeface="Cambria"/>
              <a:buNone/>
            </a:pPr>
            <a:r>
              <a:rPr i="1" lang="en-US" sz="900" u="none" cap="none" strike="noStrike">
                <a:solidFill>
                  <a:srgbClr val="4E6057"/>
                </a:solidFill>
              </a:rPr>
              <a:t>Synthesis: H1 and H2 are not mutually exclusive. Ghost firms may earn a behavioural premium in the medium term while remaining fundamentally mispriced. Testing H1 requires longer event windows (3–5 yr) and factor-controlled returns.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7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3" name="Google Shape;633;p17"/>
          <p:cNvSpPr/>
          <p:nvPr/>
        </p:nvSpPr>
        <p:spPr>
          <a:xfrm>
            <a:off x="457200" y="155448"/>
            <a:ext cx="8046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005C3B"/>
                </a:solidFill>
              </a:rPr>
              <a:t>STRATEGY PERFORMANCE SUMMARY</a:t>
            </a:r>
            <a:endParaRPr i="0" sz="2100" u="none" cap="none" strike="noStrike">
              <a:solidFill>
                <a:schemeClr val="dk1"/>
              </a:solidFill>
            </a:endParaRPr>
          </a:p>
        </p:txBody>
      </p:sp>
      <p:sp>
        <p:nvSpPr>
          <p:cNvPr id="634" name="Google Shape;634;p17"/>
          <p:cNvSpPr/>
          <p:nvPr/>
        </p:nvSpPr>
        <p:spPr>
          <a:xfrm>
            <a:off x="457200" y="640080"/>
            <a:ext cx="804672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4E6057"/>
                </a:solidFill>
              </a:rPr>
              <a:t>10% concentration  ·  Walk-forward 2019–2026  ·  Transaction cost 20 bps  ·  SPY benchmark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635" name="Google Shape;635;p17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7"/>
          <p:cNvSpPr/>
          <p:nvPr/>
        </p:nvSpPr>
        <p:spPr>
          <a:xfrm>
            <a:off x="365760" y="5001768"/>
            <a:ext cx="84124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i="0" lang="en-US" sz="800" u="none" cap="none" strike="noStrike">
                <a:solidFill>
                  <a:srgbClr val="7BAF96"/>
                </a:solidFill>
              </a:rPr>
              <a:t>UBC SAUDER  ·  COMM 486I  ·  GROUP 6</a:t>
            </a:r>
            <a:endParaRPr i="0" sz="800" u="none" cap="none" strike="noStrike">
              <a:solidFill>
                <a:schemeClr val="dk1"/>
              </a:solidFill>
            </a:endParaRPr>
          </a:p>
        </p:txBody>
      </p:sp>
      <p:graphicFrame>
        <p:nvGraphicFramePr>
          <p:cNvPr id="637" name="Google Shape;637;p17"/>
          <p:cNvGraphicFramePr/>
          <p:nvPr/>
        </p:nvGraphicFramePr>
        <p:xfrm>
          <a:off x="457200" y="96012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{92005600-F0F1-4CD3-83A6-77999014D7D3}</a:tableStyleId>
              </a:tblPr>
              <a:tblGrid>
                <a:gridCol w="1417325"/>
                <a:gridCol w="1005850"/>
                <a:gridCol w="822950"/>
                <a:gridCol w="731525"/>
                <a:gridCol w="777250"/>
                <a:gridCol w="3017525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mbria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Strategy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5C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mbria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Total Return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5C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mbria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CAGR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5C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mbria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Sharpe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5C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mbria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Max DD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5C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mbria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Interpretation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5C3B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D1520"/>
                        </a:buClr>
                        <a:buSzPts val="1000"/>
                        <a:buFont typeface="Cambria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AD1520"/>
                          </a:solidFill>
                        </a:rPr>
                        <a:t>Long High Ghost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D1520"/>
                        </a:buClr>
                        <a:buSzPts val="1000"/>
                        <a:buFont typeface="Cambria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AD1520"/>
                          </a:solidFill>
                        </a:rPr>
                        <a:t>~220%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E6057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4E6057"/>
                          </a:solidFill>
                        </a:rPr>
                        <a:t>—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E6057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4E6057"/>
                          </a:solidFill>
                        </a:rPr>
                        <a:t>—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E6057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4E6057"/>
                          </a:solidFill>
                        </a:rPr>
                        <a:t>—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H2 mechanism: attention premium + growth narrative extrapolation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5C3B"/>
                        </a:buClr>
                        <a:buSzPts val="1000"/>
                        <a:buFont typeface="Cambria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005C3B"/>
                          </a:solidFill>
                        </a:rPr>
                        <a:t>Ghost Barbell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5C3B"/>
                        </a:buClr>
                        <a:buSzPts val="1000"/>
                        <a:buFont typeface="Cambria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005C3B"/>
                          </a:solidFill>
                        </a:rPr>
                        <a:t>+216.9%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+17.1%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mbria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000000"/>
                          </a:solidFill>
                        </a:rPr>
                        <a:t>0.84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−37.4%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Long both extremes — strongest risk-adjusted return of all strategies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A52"/>
                        </a:buClr>
                        <a:buSzPts val="1000"/>
                        <a:buFont typeface="Cambria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007A52"/>
                          </a:solidFill>
                        </a:rPr>
                        <a:t>Long Low Ghost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A52"/>
                        </a:buClr>
                        <a:buSzPts val="1000"/>
                        <a:buFont typeface="Cambria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007A52"/>
                          </a:solidFill>
                        </a:rPr>
                        <a:t>~120%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E6057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4E6057"/>
                          </a:solidFill>
                        </a:rPr>
                        <a:t>—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E6057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4E6057"/>
                          </a:solidFill>
                        </a:rPr>
                        <a:t>—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E6057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4E6057"/>
                          </a:solidFill>
                        </a:rPr>
                        <a:t>—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Quality signal: genuine hirers outperform over the long run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mbria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000000"/>
                          </a:solidFill>
                        </a:rPr>
                        <a:t>SPY Buy &amp; Hold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mbria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000000"/>
                          </a:solidFill>
                        </a:rPr>
                        <a:t>+180.1%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+15.2%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0.82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−33.7%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000000"/>
                          </a:solidFill>
                        </a:rPr>
                        <a:t>Passive benchmark — Ghost Barbell beats on return and Sharpe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E6057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4E6057"/>
                          </a:solidFill>
                        </a:rPr>
                        <a:t>Universe (EW)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E6057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4E6057"/>
                          </a:solidFill>
                        </a:rPr>
                        <a:t>+139.4%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E6057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4E6057"/>
                          </a:solidFill>
                        </a:rPr>
                        <a:t>+12.7%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E6057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4E6057"/>
                          </a:solidFill>
                        </a:rPr>
                        <a:t>0.64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E6057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4E6057"/>
                          </a:solidFill>
                        </a:rPr>
                        <a:t>−39.4%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E6057"/>
                        </a:buClr>
                        <a:buSzPts val="1000"/>
                        <a:buFont typeface="Cambria"/>
                        <a:buNone/>
                      </a:pPr>
                      <a:r>
                        <a:rPr i="1" lang="en-US" sz="1000" u="none" cap="none" strike="noStrike">
                          <a:solidFill>
                            <a:srgbClr val="4E6057"/>
                          </a:solidFill>
                        </a:rPr>
                        <a:t>Equal-weight universe — sampling-bias diagnostic vs SPY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E6057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4E6057"/>
                          </a:solidFill>
                        </a:rPr>
                        <a:t>Long / Short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D1520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AD1520"/>
                          </a:solidFill>
                        </a:rPr>
                        <a:t>−22.1%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D1520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AD1520"/>
                          </a:solidFill>
                        </a:rPr>
                        <a:t>−3.4%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D1520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AD1520"/>
                          </a:solidFill>
                        </a:rPr>
                        <a:t>−0.32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AD1520"/>
                        </a:buClr>
                        <a:buSzPts val="1000"/>
                        <a:buFont typeface="Cambria"/>
                        <a:buNone/>
                      </a:pPr>
                      <a:r>
                        <a:rPr lang="en-US" sz="1000" u="none" cap="none" strike="noStrike">
                          <a:solidFill>
                            <a:srgbClr val="AD1520"/>
                          </a:solidFill>
                        </a:rPr>
                        <a:t>−43.4%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E6057"/>
                        </a:buClr>
                        <a:buSzPts val="1000"/>
                        <a:buFont typeface="Cambria"/>
                        <a:buNone/>
                      </a:pPr>
                      <a:r>
                        <a:rPr i="1" lang="en-US" sz="1000" u="none" cap="none" strike="noStrike">
                          <a:solidFill>
                            <a:srgbClr val="4E6057"/>
                          </a:solidFill>
                        </a:rPr>
                        <a:t>Short leg overwhelms — not viable without factor-neutral construction</a:t>
                      </a:r>
                      <a:endParaRPr sz="1000" u="none" cap="none" strike="noStrike"/>
                    </a:p>
                  </a:txBody>
                  <a:tcPr marT="50800" marB="50800" marR="50800" marL="50800" anchor="ctr">
                    <a:lnL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DE9E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8" name="Google Shape;638;p17"/>
          <p:cNvSpPr/>
          <p:nvPr/>
        </p:nvSpPr>
        <p:spPr>
          <a:xfrm>
            <a:off x="457200" y="455371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950"/>
              <a:buFont typeface="Cambria"/>
              <a:buNone/>
            </a:pPr>
            <a:r>
              <a:rPr i="1" lang="en-US" sz="950" u="none" cap="none" strike="noStrike">
                <a:solidFill>
                  <a:srgbClr val="4E6057"/>
                </a:solidFill>
              </a:rPr>
              <a:t>— = data in truncated output; chart-derived estimate shown.  Ghost Barbell (+217%, Sharpe 0.84) is the best-documented outperformer vs SPY (+180%, Sharpe 0.82).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18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5" name="Google Shape;645;p18"/>
          <p:cNvSpPr/>
          <p:nvPr/>
        </p:nvSpPr>
        <p:spPr>
          <a:xfrm>
            <a:off x="457200" y="137160"/>
            <a:ext cx="80467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600"/>
              <a:buFont typeface="Cambria"/>
              <a:buNone/>
            </a:pPr>
            <a:r>
              <a:rPr b="1" i="0" lang="en-US" sz="1600" u="none" cap="none" strike="noStrike">
                <a:solidFill>
                  <a:srgbClr val="005C3B"/>
                </a:solidFill>
              </a:rPr>
              <a:t>STRATEGY PERFORMANCE BY CONCENTRATION LEVEL</a:t>
            </a:r>
            <a:endParaRPr i="0" sz="1600" u="none" cap="none" strike="noStrike">
              <a:solidFill>
                <a:schemeClr val="dk1"/>
              </a:solidFill>
            </a:endParaRPr>
          </a:p>
        </p:txBody>
      </p:sp>
      <p:sp>
        <p:nvSpPr>
          <p:cNvPr id="646" name="Google Shape;646;p18"/>
          <p:cNvSpPr/>
          <p:nvPr/>
        </p:nvSpPr>
        <p:spPr>
          <a:xfrm>
            <a:off x="457200" y="54864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4E6057"/>
                </a:solidFill>
              </a:rPr>
              <a:t>5% vs 10% vs 25% portfolio concentration  —  Sharpe ratio and max drawdown by strategy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647" name="Google Shape;647;p18"/>
          <p:cNvSpPr/>
          <p:nvPr/>
        </p:nvSpPr>
        <p:spPr>
          <a:xfrm>
            <a:off x="274320" y="4731783"/>
            <a:ext cx="8595300" cy="1554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8" name="Google Shape;648;p18"/>
          <p:cNvSpPr/>
          <p:nvPr/>
        </p:nvSpPr>
        <p:spPr>
          <a:xfrm>
            <a:off x="457200" y="4740927"/>
            <a:ext cx="83211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mbria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</a:rPr>
              <a:t>Higher concentration (5%) sharpens return differences; Ghost Barbell and Long High Ghost are robust across all concentration levels</a:t>
            </a:r>
            <a:endParaRPr i="0" sz="850" u="none" cap="none" strike="noStrike">
              <a:solidFill>
                <a:schemeClr val="dk1"/>
              </a:solidFill>
            </a:endParaRPr>
          </a:p>
        </p:txBody>
      </p:sp>
      <p:sp>
        <p:nvSpPr>
          <p:cNvPr id="649" name="Google Shape;649;p18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18"/>
          <p:cNvSpPr/>
          <p:nvPr/>
        </p:nvSpPr>
        <p:spPr>
          <a:xfrm>
            <a:off x="365760" y="5001768"/>
            <a:ext cx="84124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i="0" lang="en-US" sz="800" u="none" cap="none" strike="noStrike">
                <a:solidFill>
                  <a:srgbClr val="7BAF96"/>
                </a:solidFill>
              </a:rPr>
              <a:t>UBC SAUDER  ·  COMM 486I  ·  GROUP 6</a:t>
            </a:r>
            <a:endParaRPr i="0" sz="800" u="none" cap="none" strike="noStrike">
              <a:solidFill>
                <a:schemeClr val="dk1"/>
              </a:solidFill>
            </a:endParaRPr>
          </a:p>
        </p:txBody>
      </p:sp>
      <p:pic>
        <p:nvPicPr>
          <p:cNvPr id="651" name="Google Shape;651;p18"/>
          <p:cNvPicPr preferRelativeResize="0"/>
          <p:nvPr/>
        </p:nvPicPr>
        <p:blipFill rotWithShape="1">
          <a:blip r:embed="rId3">
            <a:alphaModFix/>
          </a:blip>
          <a:srcRect b="55406" l="0" r="0" t="23003"/>
          <a:stretch/>
        </p:blipFill>
        <p:spPr>
          <a:xfrm>
            <a:off x="462950" y="2776497"/>
            <a:ext cx="5809767" cy="1900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652" name="Google Shape;652;p18"/>
          <p:cNvPicPr preferRelativeResize="0"/>
          <p:nvPr/>
        </p:nvPicPr>
        <p:blipFill rotWithShape="1">
          <a:blip r:embed="rId3">
            <a:alphaModFix/>
          </a:blip>
          <a:srcRect b="34760" l="33515" r="30617" t="44745"/>
          <a:stretch/>
        </p:blipFill>
        <p:spPr>
          <a:xfrm>
            <a:off x="6678199" y="2812897"/>
            <a:ext cx="2105801" cy="18226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53" name="Google Shape;653;p18"/>
          <p:cNvPicPr preferRelativeResize="0"/>
          <p:nvPr/>
        </p:nvPicPr>
        <p:blipFill rotWithShape="1">
          <a:blip r:embed="rId3">
            <a:alphaModFix/>
          </a:blip>
          <a:srcRect b="77565" l="0" r="0" t="0"/>
          <a:stretch/>
        </p:blipFill>
        <p:spPr>
          <a:xfrm>
            <a:off x="462950" y="849200"/>
            <a:ext cx="5809767" cy="1974339"/>
          </a:xfrm>
          <a:prstGeom prst="rect">
            <a:avLst/>
          </a:prstGeom>
          <a:noFill/>
          <a:ln>
            <a:noFill/>
          </a:ln>
        </p:spPr>
      </p:pic>
      <p:pic>
        <p:nvPicPr>
          <p:cNvPr id="654" name="Google Shape;654;p18"/>
          <p:cNvPicPr preferRelativeResize="0"/>
          <p:nvPr/>
        </p:nvPicPr>
        <p:blipFill rotWithShape="1">
          <a:blip r:embed="rId3">
            <a:alphaModFix/>
          </a:blip>
          <a:srcRect b="34760" l="0" r="66851" t="44745"/>
          <a:stretch/>
        </p:blipFill>
        <p:spPr>
          <a:xfrm>
            <a:off x="6728430" y="1030132"/>
            <a:ext cx="1864729" cy="1746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d93e1c57a8_2_51"/>
          <p:cNvSpPr/>
          <p:nvPr/>
        </p:nvSpPr>
        <p:spPr>
          <a:xfrm>
            <a:off x="0" y="0"/>
            <a:ext cx="9144000" cy="822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1" name="Google Shape;661;g3d93e1c57a8_2_51"/>
          <p:cNvSpPr/>
          <p:nvPr/>
        </p:nvSpPr>
        <p:spPr>
          <a:xfrm>
            <a:off x="457200" y="137160"/>
            <a:ext cx="80466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600"/>
              <a:buFont typeface="Cambria"/>
              <a:buNone/>
            </a:pPr>
            <a:r>
              <a:rPr b="1" i="0" lang="en-US" sz="1600" u="none" cap="none" strike="noStrike">
                <a:solidFill>
                  <a:srgbClr val="005C3B"/>
                </a:solidFill>
              </a:rPr>
              <a:t>STRATEGY PERFORMANCE BY CONCENTRATION LEVEL</a:t>
            </a:r>
            <a:endParaRPr i="0" sz="1600" u="none" cap="none" strike="noStrike">
              <a:solidFill>
                <a:schemeClr val="dk1"/>
              </a:solidFill>
            </a:endParaRPr>
          </a:p>
        </p:txBody>
      </p:sp>
      <p:sp>
        <p:nvSpPr>
          <p:cNvPr id="662" name="Google Shape;662;g3d93e1c57a8_2_51"/>
          <p:cNvSpPr/>
          <p:nvPr/>
        </p:nvSpPr>
        <p:spPr>
          <a:xfrm>
            <a:off x="274320" y="4846320"/>
            <a:ext cx="8595300" cy="1554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g3d93e1c57a8_2_51"/>
          <p:cNvSpPr/>
          <p:nvPr/>
        </p:nvSpPr>
        <p:spPr>
          <a:xfrm>
            <a:off x="457200" y="4855464"/>
            <a:ext cx="83211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mbria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</a:rPr>
              <a:t>Higher concentration (5%) sharpens return differences; Ghost Barbell and Long High Ghost are robust across all concentration levels</a:t>
            </a:r>
            <a:endParaRPr i="0" sz="850" u="none" cap="none" strike="noStrike">
              <a:solidFill>
                <a:schemeClr val="dk1"/>
              </a:solidFill>
            </a:endParaRPr>
          </a:p>
        </p:txBody>
      </p:sp>
      <p:sp>
        <p:nvSpPr>
          <p:cNvPr id="664" name="Google Shape;664;g3d93e1c57a8_2_51"/>
          <p:cNvSpPr/>
          <p:nvPr/>
        </p:nvSpPr>
        <p:spPr>
          <a:xfrm>
            <a:off x="0" y="4983480"/>
            <a:ext cx="9144000" cy="15990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g3d93e1c57a8_2_51"/>
          <p:cNvSpPr/>
          <p:nvPr/>
        </p:nvSpPr>
        <p:spPr>
          <a:xfrm>
            <a:off x="365760" y="5001768"/>
            <a:ext cx="8412600" cy="12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i="0" lang="en-US" sz="800" u="none" cap="none" strike="noStrike">
                <a:solidFill>
                  <a:srgbClr val="7BAF96"/>
                </a:solidFill>
              </a:rPr>
              <a:t>UBC SAUDER  ·  COMM 486I  ·  GROUP 6</a:t>
            </a:r>
            <a:endParaRPr i="0" sz="800" u="none" cap="none" strike="noStrike">
              <a:solidFill>
                <a:schemeClr val="dk1"/>
              </a:solidFill>
            </a:endParaRPr>
          </a:p>
        </p:txBody>
      </p:sp>
      <p:pic>
        <p:nvPicPr>
          <p:cNvPr id="666" name="Google Shape;666;g3d93e1c57a8_2_51"/>
          <p:cNvPicPr preferRelativeResize="0"/>
          <p:nvPr/>
        </p:nvPicPr>
        <p:blipFill rotWithShape="1">
          <a:blip r:embed="rId3">
            <a:alphaModFix/>
          </a:blip>
          <a:srcRect b="0" l="0" r="0" t="67383"/>
          <a:stretch/>
        </p:blipFill>
        <p:spPr>
          <a:xfrm>
            <a:off x="242937" y="432904"/>
            <a:ext cx="8658076" cy="4277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D28"/>
        </a:solidFill>
      </p:bgPr>
    </p:bg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p19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3" name="Google Shape;673;p19"/>
          <p:cNvSpPr/>
          <p:nvPr/>
        </p:nvSpPr>
        <p:spPr>
          <a:xfrm>
            <a:off x="457200" y="457200"/>
            <a:ext cx="18288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8000"/>
              <a:buFont typeface="Times New Roman"/>
              <a:buNone/>
            </a:pPr>
            <a:r>
              <a:rPr b="1" i="0" lang="en-US" sz="8000" u="none" cap="none" strike="noStrike">
                <a:solidFill>
                  <a:srgbClr val="005C3B"/>
                </a:solidFill>
              </a:rPr>
              <a:t>04</a:t>
            </a:r>
            <a:endParaRPr i="0" sz="8000" u="none" cap="none" strike="noStrike">
              <a:solidFill>
                <a:schemeClr val="dk1"/>
              </a:solidFill>
            </a:endParaRPr>
          </a:p>
        </p:txBody>
      </p:sp>
      <p:sp>
        <p:nvSpPr>
          <p:cNvPr id="674" name="Google Shape;674;p19"/>
          <p:cNvSpPr/>
          <p:nvPr/>
        </p:nvSpPr>
        <p:spPr>
          <a:xfrm>
            <a:off x="457200" y="1920240"/>
            <a:ext cx="80467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</a:rPr>
              <a:t>Robustness, Stability</a:t>
            </a:r>
            <a:endParaRPr i="0" sz="3600" u="none" cap="none" strike="noStrike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</a:rPr>
              <a:t>&amp; Limitations</a:t>
            </a:r>
            <a:endParaRPr i="0" sz="3600" u="none" cap="none" strike="noStrike">
              <a:solidFill>
                <a:schemeClr val="dk1"/>
              </a:solidFill>
            </a:endParaRPr>
          </a:p>
        </p:txBody>
      </p:sp>
      <p:cxnSp>
        <p:nvCxnSpPr>
          <p:cNvPr id="675" name="Google Shape;675;p19"/>
          <p:cNvCxnSpPr/>
          <p:nvPr/>
        </p:nvCxnSpPr>
        <p:spPr>
          <a:xfrm>
            <a:off x="457200" y="3090672"/>
            <a:ext cx="7772400" cy="0"/>
          </a:xfrm>
          <a:prstGeom prst="straightConnector1">
            <a:avLst/>
          </a:prstGeom>
          <a:noFill/>
          <a:ln cap="flat" cmpd="sng" w="15225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6" name="Google Shape;676;p19"/>
          <p:cNvSpPr/>
          <p:nvPr/>
        </p:nvSpPr>
        <p:spPr>
          <a:xfrm>
            <a:off x="457200" y="3218688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1400"/>
              <a:buFont typeface="Cambria"/>
              <a:buNone/>
            </a:pPr>
            <a:r>
              <a:rPr i="0" lang="en-US" sz="1400" u="none" cap="none" strike="noStrike">
                <a:solidFill>
                  <a:srgbClr val="7BAF96"/>
                </a:solidFill>
              </a:rPr>
              <a:t>Failure modes · data constraints · out-of-sample caveats</a:t>
            </a:r>
            <a:endParaRPr i="0" sz="1400" u="none" cap="none" strike="noStrike">
              <a:solidFill>
                <a:schemeClr val="dk1"/>
              </a:solidFill>
            </a:endParaRPr>
          </a:p>
        </p:txBody>
      </p:sp>
      <p:sp>
        <p:nvSpPr>
          <p:cNvPr id="677" name="Google Shape;677;p19"/>
          <p:cNvSpPr/>
          <p:nvPr/>
        </p:nvSpPr>
        <p:spPr>
          <a:xfrm>
            <a:off x="5029200" y="466344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7BAF96"/>
                </a:solidFill>
              </a:rPr>
              <a:t>UBC SAUDER  ·  COMM 486I  ·  GROUP 6</a:t>
            </a:r>
            <a:endParaRPr i="0" sz="85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g3d93e1c57a8_3_327"/>
          <p:cNvSpPr/>
          <p:nvPr/>
        </p:nvSpPr>
        <p:spPr>
          <a:xfrm>
            <a:off x="0" y="0"/>
            <a:ext cx="9144000" cy="82200"/>
          </a:xfrm>
          <a:prstGeom prst="rect">
            <a:avLst/>
          </a:prstGeom>
          <a:solidFill>
            <a:srgbClr val="005C3B"/>
          </a:solidFill>
          <a:ln cap="flat" cmpd="sng" w="9525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g3d93e1c57a8_3_327"/>
          <p:cNvSpPr/>
          <p:nvPr/>
        </p:nvSpPr>
        <p:spPr>
          <a:xfrm>
            <a:off x="457200" y="228623"/>
            <a:ext cx="80466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05C3B"/>
                </a:solidFill>
                <a:latin typeface="Arial"/>
                <a:ea typeface="Arial"/>
                <a:cs typeface="Arial"/>
                <a:sym typeface="Arial"/>
              </a:rPr>
              <a:t>MODEL ACCURACY DIAGNOSTICS</a:t>
            </a:r>
            <a:endParaRPr/>
          </a:p>
        </p:txBody>
      </p:sp>
      <p:sp>
        <p:nvSpPr>
          <p:cNvPr id="684" name="Google Shape;684;g3d93e1c57a8_3_327"/>
          <p:cNvSpPr/>
          <p:nvPr/>
        </p:nvSpPr>
        <p:spPr>
          <a:xfrm>
            <a:off x="457200" y="620000"/>
            <a:ext cx="80466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4E6057"/>
                </a:solidFill>
                <a:latin typeface="Arial"/>
                <a:ea typeface="Arial"/>
                <a:cs typeface="Arial"/>
                <a:sym typeface="Arial"/>
              </a:rPr>
              <a:t>Does the model actually predict hiring? Test set performance across multiple metrics</a:t>
            </a:r>
            <a:endParaRPr/>
          </a:p>
        </p:txBody>
      </p:sp>
      <p:sp>
        <p:nvSpPr>
          <p:cNvPr id="685" name="Google Shape;685;g3d93e1c57a8_3_327"/>
          <p:cNvSpPr/>
          <p:nvPr/>
        </p:nvSpPr>
        <p:spPr>
          <a:xfrm>
            <a:off x="457200" y="980000"/>
            <a:ext cx="2560200" cy="1380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AD1520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g3d93e1c57a8_3_327"/>
          <p:cNvSpPr/>
          <p:nvPr/>
        </p:nvSpPr>
        <p:spPr>
          <a:xfrm>
            <a:off x="457200" y="980000"/>
            <a:ext cx="2560200" cy="54900"/>
          </a:xfrm>
          <a:prstGeom prst="rect">
            <a:avLst/>
          </a:prstGeom>
          <a:solidFill>
            <a:srgbClr val="AD1520"/>
          </a:solidFill>
          <a:ln cap="flat" cmpd="sng" w="9525">
            <a:solidFill>
              <a:srgbClr val="AD15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g3d93e1c57a8_3_327"/>
          <p:cNvSpPr/>
          <p:nvPr/>
        </p:nvSpPr>
        <p:spPr>
          <a:xfrm>
            <a:off x="517475" y="1090000"/>
            <a:ext cx="2440200" cy="6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i="0" lang="en-US" sz="4100" u="none" cap="none" strike="noStrike">
                <a:solidFill>
                  <a:srgbClr val="AD1520"/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  <a:endParaRPr/>
          </a:p>
        </p:txBody>
      </p:sp>
      <p:sp>
        <p:nvSpPr>
          <p:cNvPr id="688" name="Google Shape;688;g3d93e1c57a8_3_327"/>
          <p:cNvSpPr/>
          <p:nvPr/>
        </p:nvSpPr>
        <p:spPr>
          <a:xfrm>
            <a:off x="548640" y="1790000"/>
            <a:ext cx="2377500" cy="5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of predictions within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±5 actual hires</a:t>
            </a:r>
            <a:endParaRPr/>
          </a:p>
        </p:txBody>
      </p:sp>
      <p:sp>
        <p:nvSpPr>
          <p:cNvPr id="689" name="Google Shape;689;g3d93e1c57a8_3_327"/>
          <p:cNvSpPr/>
          <p:nvPr/>
        </p:nvSpPr>
        <p:spPr>
          <a:xfrm>
            <a:off x="3291840" y="980000"/>
            <a:ext cx="2560200" cy="1380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1F6095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g3d93e1c57a8_3_327"/>
          <p:cNvSpPr/>
          <p:nvPr/>
        </p:nvSpPr>
        <p:spPr>
          <a:xfrm>
            <a:off x="3291840" y="980000"/>
            <a:ext cx="2560200" cy="54900"/>
          </a:xfrm>
          <a:prstGeom prst="rect">
            <a:avLst/>
          </a:prstGeom>
          <a:solidFill>
            <a:srgbClr val="1F6095"/>
          </a:solidFill>
          <a:ln cap="flat" cmpd="sng" w="9525">
            <a:solidFill>
              <a:srgbClr val="1F60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g3d93e1c57a8_3_327"/>
          <p:cNvSpPr/>
          <p:nvPr/>
        </p:nvSpPr>
        <p:spPr>
          <a:xfrm>
            <a:off x="3352115" y="1090000"/>
            <a:ext cx="2440200" cy="6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i="0" lang="en-US" sz="4100" u="none" cap="none" strike="noStrike">
                <a:solidFill>
                  <a:srgbClr val="1F6095"/>
                </a:solidFill>
                <a:latin typeface="Arial"/>
                <a:ea typeface="Arial"/>
                <a:cs typeface="Arial"/>
                <a:sym typeface="Arial"/>
              </a:rPr>
              <a:t>0.70</a:t>
            </a:r>
            <a:endParaRPr/>
          </a:p>
        </p:txBody>
      </p:sp>
      <p:sp>
        <p:nvSpPr>
          <p:cNvPr id="692" name="Google Shape;692;g3d93e1c57a8_3_327"/>
          <p:cNvSpPr/>
          <p:nvPr/>
        </p:nvSpPr>
        <p:spPr>
          <a:xfrm>
            <a:off x="3383280" y="1790000"/>
            <a:ext cx="2377500" cy="5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Spearman rank correlation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on test (rank quality)</a:t>
            </a:r>
            <a:endParaRPr/>
          </a:p>
        </p:txBody>
      </p:sp>
      <p:sp>
        <p:nvSpPr>
          <p:cNvPr id="693" name="Google Shape;693;g3d93e1c57a8_3_327"/>
          <p:cNvSpPr/>
          <p:nvPr/>
        </p:nvSpPr>
        <p:spPr>
          <a:xfrm>
            <a:off x="6126480" y="980000"/>
            <a:ext cx="2560200" cy="1380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g3d93e1c57a8_3_327"/>
          <p:cNvSpPr/>
          <p:nvPr/>
        </p:nvSpPr>
        <p:spPr>
          <a:xfrm>
            <a:off x="6126480" y="980000"/>
            <a:ext cx="2560200" cy="54900"/>
          </a:xfrm>
          <a:prstGeom prst="rect">
            <a:avLst/>
          </a:prstGeom>
          <a:solidFill>
            <a:srgbClr val="002145"/>
          </a:solidFill>
          <a:ln cap="flat" cmpd="sng" w="9525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g3d93e1c57a8_3_327"/>
          <p:cNvSpPr/>
          <p:nvPr/>
        </p:nvSpPr>
        <p:spPr>
          <a:xfrm>
            <a:off x="6186755" y="1090000"/>
            <a:ext cx="2440200" cy="6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100"/>
              <a:buFont typeface="Arial"/>
              <a:buNone/>
            </a:pPr>
            <a:r>
              <a:rPr b="1" i="0" lang="en-US" sz="4100" u="none" cap="none" strike="noStrike">
                <a:solidFill>
                  <a:srgbClr val="002145"/>
                </a:solidFill>
                <a:latin typeface="Arial"/>
                <a:ea typeface="Arial"/>
                <a:cs typeface="Arial"/>
                <a:sym typeface="Arial"/>
              </a:rPr>
              <a:t>−0.26</a:t>
            </a:r>
            <a:endParaRPr/>
          </a:p>
        </p:txBody>
      </p:sp>
      <p:sp>
        <p:nvSpPr>
          <p:cNvPr id="696" name="Google Shape;696;g3d93e1c57a8_3_327"/>
          <p:cNvSpPr/>
          <p:nvPr/>
        </p:nvSpPr>
        <p:spPr>
          <a:xfrm>
            <a:off x="6217920" y="1790000"/>
            <a:ext cx="2377500" cy="5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Naive baseline R² on test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(always predict mean)</a:t>
            </a:r>
            <a:endParaRPr/>
          </a:p>
        </p:txBody>
      </p:sp>
      <p:sp>
        <p:nvSpPr>
          <p:cNvPr id="697" name="Google Shape;697;g3d93e1c57a8_3_327"/>
          <p:cNvSpPr/>
          <p:nvPr/>
        </p:nvSpPr>
        <p:spPr>
          <a:xfrm>
            <a:off x="457200" y="2550000"/>
            <a:ext cx="8229600" cy="2000100"/>
          </a:xfrm>
          <a:prstGeom prst="rect">
            <a:avLst/>
          </a:prstGeom>
          <a:solidFill>
            <a:srgbClr val="D4EDE2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g3d93e1c57a8_3_327"/>
          <p:cNvSpPr/>
          <p:nvPr/>
        </p:nvSpPr>
        <p:spPr>
          <a:xfrm>
            <a:off x="457200" y="2550000"/>
            <a:ext cx="91500" cy="2000100"/>
          </a:xfrm>
          <a:prstGeom prst="rect">
            <a:avLst/>
          </a:prstGeom>
          <a:solidFill>
            <a:srgbClr val="005C3B"/>
          </a:solidFill>
          <a:ln cap="flat" cmpd="sng" w="9525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g3d93e1c57a8_3_327"/>
          <p:cNvSpPr/>
          <p:nvPr/>
        </p:nvSpPr>
        <p:spPr>
          <a:xfrm>
            <a:off x="658368" y="2600000"/>
            <a:ext cx="7818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005C3B"/>
                </a:solidFill>
                <a:latin typeface="Arial"/>
                <a:ea typeface="Arial"/>
                <a:cs typeface="Arial"/>
                <a:sym typeface="Arial"/>
              </a:rPr>
              <a:t>What These Numbers Mean</a:t>
            </a:r>
            <a:endParaRPr/>
          </a:p>
        </p:txBody>
      </p:sp>
      <p:sp>
        <p:nvSpPr>
          <p:cNvPr id="700" name="Google Shape;700;g3d93e1c57a8_3_327"/>
          <p:cNvSpPr/>
          <p:nvPr/>
        </p:nvSpPr>
        <p:spPr>
          <a:xfrm>
            <a:off x="658375" y="2950000"/>
            <a:ext cx="7818000" cy="15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Spearman rho = 0.70 means the model correctly rank-orders companies -- the ghost score uses relative ranking, not exact counts, so this is the metric that matters most</a:t>
            </a:r>
            <a:endParaRPr/>
          </a:p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Naive baseline R2 = -0.26: always predicting the training mean performs worse than random on test -- the model captures genuine firm-level signal</a:t>
            </a:r>
            <a:endParaRPr/>
          </a:p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Calibration is strong in deciles 1-9 (actual/predicted 0.77-1.11x); top-decile large hirers under-predicted by ~24% -- acceptable since the ghost score targets low-fill firms</a:t>
            </a:r>
            <a:endParaRPr/>
          </a:p>
        </p:txBody>
      </p:sp>
      <p:sp>
        <p:nvSpPr>
          <p:cNvPr id="701" name="Google Shape;701;g3d93e1c57a8_3_327"/>
          <p:cNvSpPr/>
          <p:nvPr/>
        </p:nvSpPr>
        <p:spPr>
          <a:xfrm>
            <a:off x="0" y="4983480"/>
            <a:ext cx="9144000" cy="159900"/>
          </a:xfrm>
          <a:prstGeom prst="rect">
            <a:avLst/>
          </a:prstGeom>
          <a:solidFill>
            <a:srgbClr val="003D28"/>
          </a:solidFill>
          <a:ln cap="flat" cmpd="sng" w="9525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g3d93e1c57a8_3_327"/>
          <p:cNvSpPr/>
          <p:nvPr/>
        </p:nvSpPr>
        <p:spPr>
          <a:xfrm>
            <a:off x="365760" y="5001768"/>
            <a:ext cx="8412600" cy="12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7BAF96"/>
                </a:solidFill>
                <a:latin typeface="Cambria"/>
                <a:ea typeface="Cambria"/>
                <a:cs typeface="Cambria"/>
                <a:sym typeface="Cambria"/>
              </a:rPr>
              <a:t>UBC SAUDER  ·  COMM 486I  ·  GROUP 6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06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g3d93e1c57a8_3_414"/>
          <p:cNvSpPr/>
          <p:nvPr/>
        </p:nvSpPr>
        <p:spPr>
          <a:xfrm>
            <a:off x="0" y="0"/>
            <a:ext cx="9144000" cy="82200"/>
          </a:xfrm>
          <a:prstGeom prst="rect">
            <a:avLst/>
          </a:prstGeom>
          <a:solidFill>
            <a:srgbClr val="005C3B"/>
          </a:solidFill>
          <a:ln cap="flat" cmpd="sng" w="9525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g3d93e1c57a8_3_414"/>
          <p:cNvSpPr/>
          <p:nvPr/>
        </p:nvSpPr>
        <p:spPr>
          <a:xfrm>
            <a:off x="457200" y="228623"/>
            <a:ext cx="8046600" cy="39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05C3B"/>
                </a:solidFill>
                <a:latin typeface="Arial"/>
                <a:ea typeface="Arial"/>
                <a:cs typeface="Arial"/>
                <a:sym typeface="Arial"/>
              </a:rPr>
              <a:t>COMPANY CASE STUDIES</a:t>
            </a:r>
            <a:endParaRPr/>
          </a:p>
        </p:txBody>
      </p:sp>
      <p:sp>
        <p:nvSpPr>
          <p:cNvPr id="709" name="Google Shape;709;g3d93e1c57a8_3_414"/>
          <p:cNvSpPr/>
          <p:nvPr/>
        </p:nvSpPr>
        <p:spPr>
          <a:xfrm>
            <a:off x="457200" y="620000"/>
            <a:ext cx="80466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4E6057"/>
                </a:solidFill>
                <a:latin typeface="Arial"/>
                <a:ea typeface="Arial"/>
                <a:cs typeface="Arial"/>
                <a:sym typeface="Arial"/>
              </a:rPr>
              <a:t>Three firms that illustrate the signal - two confirmed ghosts and one instructive model miss</a:t>
            </a:r>
            <a:endParaRPr/>
          </a:p>
        </p:txBody>
      </p:sp>
      <p:sp>
        <p:nvSpPr>
          <p:cNvPr id="710" name="Google Shape;710;g3d93e1c57a8_3_414"/>
          <p:cNvSpPr/>
          <p:nvPr/>
        </p:nvSpPr>
        <p:spPr>
          <a:xfrm>
            <a:off x="457200" y="960000"/>
            <a:ext cx="2560200" cy="36999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AD1520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g3d93e1c57a8_3_414"/>
          <p:cNvSpPr/>
          <p:nvPr/>
        </p:nvSpPr>
        <p:spPr>
          <a:xfrm>
            <a:off x="457200" y="960000"/>
            <a:ext cx="2560200" cy="54900"/>
          </a:xfrm>
          <a:prstGeom prst="rect">
            <a:avLst/>
          </a:prstGeom>
          <a:solidFill>
            <a:srgbClr val="AD1520"/>
          </a:solidFill>
          <a:ln cap="flat" cmpd="sng" w="9525">
            <a:solidFill>
              <a:srgbClr val="AD15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2" name="Google Shape;712;g3d93e1c57a8_3_414"/>
          <p:cNvSpPr/>
          <p:nvPr/>
        </p:nvSpPr>
        <p:spPr>
          <a:xfrm>
            <a:off x="548640" y="1040000"/>
            <a:ext cx="2377500" cy="356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AD1520"/>
                </a:solidFill>
                <a:latin typeface="Arial"/>
                <a:ea typeface="Arial"/>
                <a:cs typeface="Arial"/>
                <a:sym typeface="Arial"/>
              </a:rPr>
              <a:t>AutoZone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AZO  |  Ghost Confirmed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Avg postings/quarter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AD1520"/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Actual fill rate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AD1520"/>
                </a:solidFill>
                <a:latin typeface="Arial"/>
                <a:ea typeface="Arial"/>
                <a:cs typeface="Arial"/>
                <a:sym typeface="Arial"/>
              </a:rPr>
              <a:t>3.9%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Predicted fill rate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AD1520"/>
                </a:solidFill>
                <a:latin typeface="Arial"/>
                <a:ea typeface="Arial"/>
                <a:cs typeface="Arial"/>
                <a:sym typeface="Arial"/>
              </a:rPr>
              <a:t>3.7%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E6057"/>
                </a:solidFill>
                <a:latin typeface="Arial"/>
                <a:ea typeface="Arial"/>
                <a:cs typeface="Arial"/>
                <a:sym typeface="Arial"/>
              </a:rPr>
              <a:t>Model and empirical fill rates agree perfectly. Flagged ghost all 20 quarters. Strongest validation case.</a:t>
            </a:r>
            <a:endParaRPr/>
          </a:p>
        </p:txBody>
      </p:sp>
      <p:sp>
        <p:nvSpPr>
          <p:cNvPr id="713" name="Google Shape;713;g3d93e1c57a8_3_414"/>
          <p:cNvSpPr/>
          <p:nvPr/>
        </p:nvSpPr>
        <p:spPr>
          <a:xfrm>
            <a:off x="3291840" y="960000"/>
            <a:ext cx="2560200" cy="36999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1F6095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g3d93e1c57a8_3_414"/>
          <p:cNvSpPr/>
          <p:nvPr/>
        </p:nvSpPr>
        <p:spPr>
          <a:xfrm>
            <a:off x="3291840" y="960000"/>
            <a:ext cx="2560200" cy="54900"/>
          </a:xfrm>
          <a:prstGeom prst="rect">
            <a:avLst/>
          </a:prstGeom>
          <a:solidFill>
            <a:srgbClr val="1F6095"/>
          </a:solidFill>
          <a:ln cap="flat" cmpd="sng" w="9525">
            <a:solidFill>
              <a:srgbClr val="1F609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g3d93e1c57a8_3_414"/>
          <p:cNvSpPr/>
          <p:nvPr/>
        </p:nvSpPr>
        <p:spPr>
          <a:xfrm>
            <a:off x="3383280" y="1040000"/>
            <a:ext cx="2377500" cy="356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F6095"/>
                </a:solidFill>
                <a:latin typeface="Arial"/>
                <a:ea typeface="Arial"/>
                <a:cs typeface="Arial"/>
                <a:sym typeface="Arial"/>
              </a:rPr>
              <a:t>H&amp;R Block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HRB  |  Highest Ghost Score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Ghost score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F6095"/>
                </a:solidFill>
                <a:latin typeface="Arial"/>
                <a:ea typeface="Arial"/>
                <a:cs typeface="Arial"/>
                <a:sym typeface="Arial"/>
              </a:rPr>
              <a:t>0.131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Quarters flagged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F6095"/>
                </a:solidFill>
                <a:latin typeface="Arial"/>
                <a:ea typeface="Arial"/>
                <a:cs typeface="Arial"/>
                <a:sym typeface="Arial"/>
              </a:rPr>
              <a:t>21 / 21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Avg postings/quarter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F6095"/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E6057"/>
                </a:solidFill>
                <a:latin typeface="Arial"/>
                <a:ea typeface="Arial"/>
                <a:cs typeface="Arial"/>
                <a:sym typeface="Arial"/>
              </a:rPr>
              <a:t>Persistent structural ghost. Posts heavily pre-tax season but doesn't convert. Flagged every quarter in dataset.</a:t>
            </a:r>
            <a:endParaRPr/>
          </a:p>
        </p:txBody>
      </p:sp>
      <p:sp>
        <p:nvSpPr>
          <p:cNvPr id="716" name="Google Shape;716;g3d93e1c57a8_3_414"/>
          <p:cNvSpPr/>
          <p:nvPr/>
        </p:nvSpPr>
        <p:spPr>
          <a:xfrm>
            <a:off x="6126480" y="960000"/>
            <a:ext cx="2560200" cy="36999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4E6057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2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g3d93e1c57a8_3_414"/>
          <p:cNvSpPr/>
          <p:nvPr/>
        </p:nvSpPr>
        <p:spPr>
          <a:xfrm>
            <a:off x="6126480" y="960000"/>
            <a:ext cx="2560200" cy="54900"/>
          </a:xfrm>
          <a:prstGeom prst="rect">
            <a:avLst/>
          </a:prstGeom>
          <a:solidFill>
            <a:srgbClr val="4E6057"/>
          </a:solidFill>
          <a:ln cap="flat" cmpd="sng" w="9525">
            <a:solidFill>
              <a:srgbClr val="4E605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g3d93e1c57a8_3_414"/>
          <p:cNvSpPr/>
          <p:nvPr/>
        </p:nvSpPr>
        <p:spPr>
          <a:xfrm>
            <a:off x="6217920" y="1040000"/>
            <a:ext cx="2377500" cy="356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4E6057"/>
                </a:solidFill>
                <a:latin typeface="Arial"/>
                <a:ea typeface="Arial"/>
                <a:cs typeface="Arial"/>
                <a:sym typeface="Arial"/>
              </a:rPr>
              <a:t>Amazon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AMZN  |  Instructive Miss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Predicted fill rate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E6057"/>
                </a:solidFill>
                <a:latin typeface="Arial"/>
                <a:ea typeface="Arial"/>
                <a:cs typeface="Arial"/>
                <a:sym typeface="Arial"/>
              </a:rPr>
              <a:t>0.47x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Actual fill rate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E6057"/>
                </a:solidFill>
                <a:latin typeface="Arial"/>
                <a:ea typeface="Arial"/>
                <a:cs typeface="Arial"/>
                <a:sym typeface="Arial"/>
              </a:rPr>
              <a:t>1.11x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1A2618"/>
                </a:solidFill>
                <a:latin typeface="Arial"/>
                <a:ea typeface="Arial"/>
                <a:cs typeface="Arial"/>
                <a:sym typeface="Arial"/>
              </a:rPr>
              <a:t>Avg postings/quarter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E6057"/>
                </a:solidFill>
                <a:latin typeface="Arial"/>
                <a:ea typeface="Arial"/>
                <a:cs typeface="Arial"/>
                <a:sym typeface="Arial"/>
              </a:rPr>
              <a:t>211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4E6057"/>
                </a:solidFill>
                <a:latin typeface="Arial"/>
                <a:ea typeface="Arial"/>
                <a:cs typeface="Arial"/>
                <a:sym typeface="Arial"/>
              </a:rPr>
              <a:t>Model under-predicted by 2.4x. Hiring surges driven by strategic decisions not visible in posting patterns alone.</a:t>
            </a:r>
            <a:endParaRPr/>
          </a:p>
        </p:txBody>
      </p:sp>
      <p:sp>
        <p:nvSpPr>
          <p:cNvPr id="719" name="Google Shape;719;g3d93e1c57a8_3_414"/>
          <p:cNvSpPr/>
          <p:nvPr/>
        </p:nvSpPr>
        <p:spPr>
          <a:xfrm>
            <a:off x="0" y="4983480"/>
            <a:ext cx="9144000" cy="159900"/>
          </a:xfrm>
          <a:prstGeom prst="rect">
            <a:avLst/>
          </a:prstGeom>
          <a:solidFill>
            <a:srgbClr val="003D28"/>
          </a:solidFill>
          <a:ln cap="flat" cmpd="sng" w="9525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g3d93e1c57a8_3_414"/>
          <p:cNvSpPr/>
          <p:nvPr/>
        </p:nvSpPr>
        <p:spPr>
          <a:xfrm>
            <a:off x="365760" y="5001768"/>
            <a:ext cx="8412600" cy="12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7BAF96"/>
                </a:solidFill>
                <a:latin typeface="Cambria"/>
                <a:ea typeface="Cambria"/>
                <a:cs typeface="Cambria"/>
                <a:sym typeface="Cambria"/>
              </a:rPr>
              <a:t>UBC SAUDER  ·  COMM 486I  ·  GROUP 6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25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p2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7" name="Google Shape;727;p20"/>
          <p:cNvSpPr/>
          <p:nvPr/>
        </p:nvSpPr>
        <p:spPr>
          <a:xfrm>
            <a:off x="457200" y="155448"/>
            <a:ext cx="8046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005C3B"/>
                </a:solidFill>
              </a:rPr>
              <a:t>LIMITATIONS &amp; FAILURE MODES</a:t>
            </a:r>
            <a:endParaRPr i="0" sz="2100" u="none" cap="none" strike="noStrike">
              <a:solidFill>
                <a:schemeClr val="dk1"/>
              </a:solidFill>
            </a:endParaRPr>
          </a:p>
        </p:txBody>
      </p:sp>
      <p:sp>
        <p:nvSpPr>
          <p:cNvPr id="728" name="Google Shape;728;p20"/>
          <p:cNvSpPr/>
          <p:nvPr/>
        </p:nvSpPr>
        <p:spPr>
          <a:xfrm>
            <a:off x="457200" y="640080"/>
            <a:ext cx="804672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4E6057"/>
                </a:solidFill>
              </a:rPr>
              <a:t>Honest assessment: what we can and cannot claim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729" name="Google Shape;729;p20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0" name="Google Shape;730;p20"/>
          <p:cNvSpPr/>
          <p:nvPr/>
        </p:nvSpPr>
        <p:spPr>
          <a:xfrm>
            <a:off x="365760" y="5001768"/>
            <a:ext cx="84124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i="0" lang="en-US" sz="800" u="none" cap="none" strike="noStrike">
                <a:solidFill>
                  <a:srgbClr val="7BAF96"/>
                </a:solidFill>
              </a:rPr>
              <a:t>UBC SAUDER  ·  COMM 486I  ·  GROUP 6</a:t>
            </a:r>
            <a:endParaRPr i="0" sz="800" u="none" cap="none" strike="noStrike">
              <a:solidFill>
                <a:schemeClr val="dk1"/>
              </a:solidFill>
            </a:endParaRPr>
          </a:p>
        </p:txBody>
      </p:sp>
      <p:sp>
        <p:nvSpPr>
          <p:cNvPr id="731" name="Google Shape;731;p20"/>
          <p:cNvSpPr/>
          <p:nvPr/>
        </p:nvSpPr>
        <p:spPr>
          <a:xfrm>
            <a:off x="457200" y="960120"/>
            <a:ext cx="4114800" cy="120700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2" name="Google Shape;732;p20"/>
          <p:cNvSpPr/>
          <p:nvPr/>
        </p:nvSpPr>
        <p:spPr>
          <a:xfrm>
            <a:off x="457200" y="960120"/>
            <a:ext cx="4114800" cy="54864"/>
          </a:xfrm>
          <a:prstGeom prst="rect">
            <a:avLst/>
          </a:prstGeom>
          <a:solidFill>
            <a:srgbClr val="9A6F00"/>
          </a:solidFill>
          <a:ln cap="flat" cmpd="sng" w="12700">
            <a:solidFill>
              <a:srgbClr val="9A6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3" name="Google Shape;733;p20"/>
          <p:cNvSpPr/>
          <p:nvPr/>
        </p:nvSpPr>
        <p:spPr>
          <a:xfrm>
            <a:off x="594360" y="1051560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F00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9A6F00"/>
                </a:solidFill>
              </a:rPr>
              <a:t>Hire Proxy Noise</a:t>
            </a:r>
            <a:endParaRPr i="0" sz="1200" u="none" cap="none" strike="noStrike">
              <a:solidFill>
                <a:schemeClr val="dk1"/>
              </a:solidFill>
            </a:endParaRPr>
          </a:p>
        </p:txBody>
      </p:sp>
      <p:sp>
        <p:nvSpPr>
          <p:cNvPr id="734" name="Google Shape;734;p20"/>
          <p:cNvSpPr/>
          <p:nvPr/>
        </p:nvSpPr>
        <p:spPr>
          <a:xfrm>
            <a:off x="3474720" y="105156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6F00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9A6F00"/>
                </a:solidFill>
              </a:rPr>
              <a:t>Severity: Medium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735" name="Google Shape;735;p20"/>
          <p:cNvSpPr/>
          <p:nvPr/>
        </p:nvSpPr>
        <p:spPr>
          <a:xfrm>
            <a:off x="594360" y="1344168"/>
            <a:ext cx="3840480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Cambria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LinkedIn profile start dates undercount actual hires — profiles are delayed, especially post-layoff. All firms appear more ghost-like in absolute terms. Relative rankings are more reliable than absolute scores.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736" name="Google Shape;736;p20"/>
          <p:cNvSpPr/>
          <p:nvPr/>
        </p:nvSpPr>
        <p:spPr>
          <a:xfrm>
            <a:off x="4754880" y="960120"/>
            <a:ext cx="4114800" cy="120700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7" name="Google Shape;737;p20"/>
          <p:cNvSpPr/>
          <p:nvPr/>
        </p:nvSpPr>
        <p:spPr>
          <a:xfrm>
            <a:off x="4754880" y="960120"/>
            <a:ext cx="4114800" cy="54864"/>
          </a:xfrm>
          <a:prstGeom prst="rect">
            <a:avLst/>
          </a:prstGeom>
          <a:solidFill>
            <a:srgbClr val="9A6F00"/>
          </a:solidFill>
          <a:ln cap="flat" cmpd="sng" w="12700">
            <a:solidFill>
              <a:srgbClr val="9A6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8" name="Google Shape;738;p20"/>
          <p:cNvSpPr/>
          <p:nvPr/>
        </p:nvSpPr>
        <p:spPr>
          <a:xfrm>
            <a:off x="4892040" y="1051560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F00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9A6F00"/>
                </a:solidFill>
              </a:rPr>
              <a:t>Survivorship Bias</a:t>
            </a:r>
            <a:endParaRPr i="0" sz="1200" u="none" cap="none" strike="noStrike">
              <a:solidFill>
                <a:schemeClr val="dk1"/>
              </a:solidFill>
            </a:endParaRPr>
          </a:p>
        </p:txBody>
      </p:sp>
      <p:sp>
        <p:nvSpPr>
          <p:cNvPr id="739" name="Google Shape;739;p20"/>
          <p:cNvSpPr/>
          <p:nvPr/>
        </p:nvSpPr>
        <p:spPr>
          <a:xfrm>
            <a:off x="7772400" y="105156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6F00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9A6F00"/>
                </a:solidFill>
              </a:rPr>
              <a:t>Severity: Medium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740" name="Google Shape;740;p20"/>
          <p:cNvSpPr/>
          <p:nvPr/>
        </p:nvSpPr>
        <p:spPr>
          <a:xfrm>
            <a:off x="4892040" y="1344168"/>
            <a:ext cx="3840480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Cambria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Only firms posting on Revelio-scraped platforms are visible. Private-channel hirers and referral-heavy firms are systematically excluded, biasing our ghost rate estimates.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741" name="Google Shape;741;p20"/>
          <p:cNvSpPr/>
          <p:nvPr/>
        </p:nvSpPr>
        <p:spPr>
          <a:xfrm>
            <a:off x="457200" y="2258568"/>
            <a:ext cx="4114800" cy="120700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2" name="Google Shape;742;p20"/>
          <p:cNvSpPr/>
          <p:nvPr/>
        </p:nvSpPr>
        <p:spPr>
          <a:xfrm>
            <a:off x="457200" y="2258568"/>
            <a:ext cx="4114800" cy="54864"/>
          </a:xfrm>
          <a:prstGeom prst="rect">
            <a:avLst/>
          </a:prstGeom>
          <a:solidFill>
            <a:srgbClr val="007A52"/>
          </a:solidFill>
          <a:ln cap="flat" cmpd="sng" w="12700">
            <a:solidFill>
              <a:srgbClr val="007A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3" name="Google Shape;743;p20"/>
          <p:cNvSpPr/>
          <p:nvPr/>
        </p:nvSpPr>
        <p:spPr>
          <a:xfrm>
            <a:off x="594360" y="2350008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7A52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007A52"/>
                </a:solidFill>
              </a:rPr>
              <a:t>Look-Ahead Caution</a:t>
            </a:r>
            <a:endParaRPr i="0" sz="1200" u="none" cap="none" strike="noStrike">
              <a:solidFill>
                <a:schemeClr val="dk1"/>
              </a:solidFill>
            </a:endParaRPr>
          </a:p>
        </p:txBody>
      </p:sp>
      <p:sp>
        <p:nvSpPr>
          <p:cNvPr id="744" name="Google Shape;744;p20"/>
          <p:cNvSpPr/>
          <p:nvPr/>
        </p:nvSpPr>
        <p:spPr>
          <a:xfrm>
            <a:off x="3474720" y="23500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7A52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007A52"/>
                </a:solidFill>
              </a:rPr>
              <a:t>Severity: Low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745" name="Google Shape;745;p20"/>
          <p:cNvSpPr/>
          <p:nvPr/>
        </p:nvSpPr>
        <p:spPr>
          <a:xfrm>
            <a:off x="594360" y="2642616"/>
            <a:ext cx="3840480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Cambria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Walk-forward backtest uses strict Q+1 prediction with no data leakage. Ghost score percentile ranking is recalculated quarterly in practice.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746" name="Google Shape;746;p20"/>
          <p:cNvSpPr/>
          <p:nvPr/>
        </p:nvSpPr>
        <p:spPr>
          <a:xfrm>
            <a:off x="4754880" y="2258568"/>
            <a:ext cx="4114800" cy="120700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7" name="Google Shape;747;p20"/>
          <p:cNvSpPr/>
          <p:nvPr/>
        </p:nvSpPr>
        <p:spPr>
          <a:xfrm>
            <a:off x="4754880" y="2258568"/>
            <a:ext cx="4114800" cy="54864"/>
          </a:xfrm>
          <a:prstGeom prst="rect">
            <a:avLst/>
          </a:prstGeom>
          <a:solidFill>
            <a:srgbClr val="9A6F00"/>
          </a:solidFill>
          <a:ln cap="flat" cmpd="sng" w="12700">
            <a:solidFill>
              <a:srgbClr val="9A6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8" name="Google Shape;748;p20"/>
          <p:cNvSpPr/>
          <p:nvPr/>
        </p:nvSpPr>
        <p:spPr>
          <a:xfrm>
            <a:off x="4892040" y="2350008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6F00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9A6F00"/>
                </a:solidFill>
              </a:rPr>
              <a:t>Market Regime Dependence</a:t>
            </a:r>
            <a:endParaRPr i="0" sz="1200" u="none" cap="none" strike="noStrike">
              <a:solidFill>
                <a:schemeClr val="dk1"/>
              </a:solidFill>
            </a:endParaRPr>
          </a:p>
        </p:txBody>
      </p:sp>
      <p:sp>
        <p:nvSpPr>
          <p:cNvPr id="749" name="Google Shape;749;p20"/>
          <p:cNvSpPr/>
          <p:nvPr/>
        </p:nvSpPr>
        <p:spPr>
          <a:xfrm>
            <a:off x="7772400" y="23500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6F00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9A6F00"/>
                </a:solidFill>
              </a:rPr>
              <a:t>Severity: Medium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750" name="Google Shape;750;p20"/>
          <p:cNvSpPr/>
          <p:nvPr/>
        </p:nvSpPr>
        <p:spPr>
          <a:xfrm>
            <a:off x="4892040" y="2642616"/>
            <a:ext cx="3840480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Cambria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Our backtest covers 2019–2026 — predominantly a bull-market period. The behavioural attention premium (H2) is likely stronger in risk-on environments. Bear-market performance is untested.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751" name="Google Shape;751;p20"/>
          <p:cNvSpPr/>
          <p:nvPr/>
        </p:nvSpPr>
        <p:spPr>
          <a:xfrm>
            <a:off x="457200" y="3557016"/>
            <a:ext cx="4114800" cy="120700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2" name="Google Shape;752;p20"/>
          <p:cNvSpPr/>
          <p:nvPr/>
        </p:nvSpPr>
        <p:spPr>
          <a:xfrm>
            <a:off x="457200" y="3557016"/>
            <a:ext cx="4114800" cy="54864"/>
          </a:xfrm>
          <a:prstGeom prst="rect">
            <a:avLst/>
          </a:prstGeom>
          <a:solidFill>
            <a:srgbClr val="AD1520"/>
          </a:solidFill>
          <a:ln cap="flat" cmpd="sng" w="12700">
            <a:solidFill>
              <a:srgbClr val="AD152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3" name="Google Shape;753;p20"/>
          <p:cNvSpPr/>
          <p:nvPr/>
        </p:nvSpPr>
        <p:spPr>
          <a:xfrm>
            <a:off x="594360" y="3648456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D1520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AD1520"/>
                </a:solidFill>
              </a:rPr>
              <a:t>Short Leg Failure</a:t>
            </a:r>
            <a:endParaRPr i="0" sz="1200" u="none" cap="none" strike="noStrike">
              <a:solidFill>
                <a:schemeClr val="dk1"/>
              </a:solidFill>
            </a:endParaRPr>
          </a:p>
        </p:txBody>
      </p:sp>
      <p:sp>
        <p:nvSpPr>
          <p:cNvPr id="754" name="Google Shape;754;p20"/>
          <p:cNvSpPr/>
          <p:nvPr/>
        </p:nvSpPr>
        <p:spPr>
          <a:xfrm>
            <a:off x="3474720" y="364845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D1520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AD1520"/>
                </a:solidFill>
              </a:rPr>
              <a:t>Severity: High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755" name="Google Shape;755;p20"/>
          <p:cNvSpPr/>
          <p:nvPr/>
        </p:nvSpPr>
        <p:spPr>
          <a:xfrm>
            <a:off x="594360" y="3941064"/>
            <a:ext cx="3840480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Cambria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Long/Short produces −22.1% return, Sharpe −0.32, max drawdown −43.4%. Market-wide upward drift overwhelms any fundamental short signal — shorting ghost firms requires factor-neutral construction.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  <p:sp>
        <p:nvSpPr>
          <p:cNvPr id="756" name="Google Shape;756;p20"/>
          <p:cNvSpPr/>
          <p:nvPr/>
        </p:nvSpPr>
        <p:spPr>
          <a:xfrm>
            <a:off x="4754880" y="3557016"/>
            <a:ext cx="4114800" cy="120700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7" name="Google Shape;757;p20"/>
          <p:cNvSpPr/>
          <p:nvPr/>
        </p:nvSpPr>
        <p:spPr>
          <a:xfrm>
            <a:off x="4754880" y="3557016"/>
            <a:ext cx="4114800" cy="54864"/>
          </a:xfrm>
          <a:prstGeom prst="rect">
            <a:avLst/>
          </a:prstGeom>
          <a:solidFill>
            <a:srgbClr val="007A52"/>
          </a:solidFill>
          <a:ln cap="flat" cmpd="sng" w="12700">
            <a:solidFill>
              <a:srgbClr val="007A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8" name="Google Shape;758;p20"/>
          <p:cNvSpPr/>
          <p:nvPr/>
        </p:nvSpPr>
        <p:spPr>
          <a:xfrm>
            <a:off x="4892040" y="3648456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7A52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007A52"/>
                </a:solidFill>
              </a:rPr>
              <a:t>Temporal Pooling</a:t>
            </a:r>
            <a:endParaRPr i="0" sz="1200" u="none" cap="none" strike="noStrike">
              <a:solidFill>
                <a:schemeClr val="dk1"/>
              </a:solidFill>
            </a:endParaRPr>
          </a:p>
        </p:txBody>
      </p:sp>
      <p:sp>
        <p:nvSpPr>
          <p:cNvPr id="759" name="Google Shape;759;p20"/>
          <p:cNvSpPr/>
          <p:nvPr/>
        </p:nvSpPr>
        <p:spPr>
          <a:xfrm>
            <a:off x="7772400" y="364845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7A52"/>
              </a:buClr>
              <a:buSzPts val="900"/>
              <a:buFont typeface="Cambria"/>
              <a:buNone/>
            </a:pPr>
            <a:r>
              <a:rPr b="1" i="0" lang="en-US" sz="900" u="none" cap="none" strike="noStrike">
                <a:solidFill>
                  <a:srgbClr val="007A52"/>
                </a:solidFill>
              </a:rPr>
              <a:t>Severity: Low</a:t>
            </a:r>
            <a:endParaRPr i="0" sz="900" u="none" cap="none" strike="noStrike">
              <a:solidFill>
                <a:schemeClr val="dk1"/>
              </a:solidFill>
            </a:endParaRPr>
          </a:p>
        </p:txBody>
      </p:sp>
      <p:sp>
        <p:nvSpPr>
          <p:cNvPr id="760" name="Google Shape;760;p20"/>
          <p:cNvSpPr/>
          <p:nvPr/>
        </p:nvSpPr>
        <p:spPr>
          <a:xfrm>
            <a:off x="4892040" y="3941064"/>
            <a:ext cx="3840480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950"/>
              <a:buFont typeface="Cambria"/>
              <a:buNone/>
            </a:pPr>
            <a:r>
              <a:rPr i="0" lang="en-US" sz="950" u="none" cap="none" strike="noStrike">
                <a:solidFill>
                  <a:srgbClr val="1A2618"/>
                </a:solidFill>
              </a:rPr>
              <a:t>Ghost behaviour is cyclical — firms that ghost in one quarter but genuinely hire the next get averaged. Quarter-specific scores address this, but are noisier for firms with &lt;5 postings per quarter.</a:t>
            </a:r>
            <a:endParaRPr i="0" sz="95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D28"/>
        </a:solidFill>
      </p:bgPr>
    </p:bg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2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7" name="Google Shape;767;p21"/>
          <p:cNvSpPr/>
          <p:nvPr/>
        </p:nvSpPr>
        <p:spPr>
          <a:xfrm>
            <a:off x="457200" y="457200"/>
            <a:ext cx="18288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8000"/>
              <a:buFont typeface="Times New Roman"/>
              <a:buNone/>
            </a:pPr>
            <a:r>
              <a:rPr b="1" i="0" lang="en-US" sz="8000" u="none" cap="none" strike="noStrike">
                <a:solidFill>
                  <a:srgbClr val="005C3B"/>
                </a:solidFill>
              </a:rPr>
              <a:t>05</a:t>
            </a:r>
            <a:endParaRPr i="0" sz="8000" u="none" cap="none" strike="noStrike">
              <a:solidFill>
                <a:schemeClr val="dk1"/>
              </a:solidFill>
            </a:endParaRPr>
          </a:p>
        </p:txBody>
      </p:sp>
      <p:sp>
        <p:nvSpPr>
          <p:cNvPr id="768" name="Google Shape;768;p21"/>
          <p:cNvSpPr/>
          <p:nvPr/>
        </p:nvSpPr>
        <p:spPr>
          <a:xfrm>
            <a:off x="457200" y="1920240"/>
            <a:ext cx="80467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</a:rPr>
              <a:t>Implications for Financial</a:t>
            </a:r>
            <a:endParaRPr i="0" sz="3600" u="none" cap="none" strike="noStrike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mbria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</a:rPr>
              <a:t>Decision-Making</a:t>
            </a:r>
            <a:endParaRPr i="0" sz="3600" u="none" cap="none" strike="noStrike">
              <a:solidFill>
                <a:schemeClr val="dk1"/>
              </a:solidFill>
            </a:endParaRPr>
          </a:p>
        </p:txBody>
      </p:sp>
      <p:cxnSp>
        <p:nvCxnSpPr>
          <p:cNvPr id="769" name="Google Shape;769;p21"/>
          <p:cNvCxnSpPr/>
          <p:nvPr/>
        </p:nvCxnSpPr>
        <p:spPr>
          <a:xfrm>
            <a:off x="457200" y="3090672"/>
            <a:ext cx="7772400" cy="0"/>
          </a:xfrm>
          <a:prstGeom prst="straightConnector1">
            <a:avLst/>
          </a:prstGeom>
          <a:noFill/>
          <a:ln cap="flat" cmpd="sng" w="15225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70" name="Google Shape;770;p21"/>
          <p:cNvSpPr/>
          <p:nvPr/>
        </p:nvSpPr>
        <p:spPr>
          <a:xfrm>
            <a:off x="457200" y="3218688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1400"/>
              <a:buFont typeface="Cambria"/>
              <a:buNone/>
            </a:pPr>
            <a:r>
              <a:rPr i="0" lang="en-US" sz="1400" u="none" cap="none" strike="noStrike">
                <a:solidFill>
                  <a:srgbClr val="7BAF96"/>
                </a:solidFill>
              </a:rPr>
              <a:t>Trading signals · institutional relevance · next steps</a:t>
            </a:r>
            <a:endParaRPr i="0" sz="1400" u="none" cap="none" strike="noStrike">
              <a:solidFill>
                <a:schemeClr val="dk1"/>
              </a:solidFill>
            </a:endParaRPr>
          </a:p>
        </p:txBody>
      </p:sp>
      <p:sp>
        <p:nvSpPr>
          <p:cNvPr id="771" name="Google Shape;771;p21"/>
          <p:cNvSpPr/>
          <p:nvPr/>
        </p:nvSpPr>
        <p:spPr>
          <a:xfrm>
            <a:off x="5029200" y="466344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50"/>
              <a:buFont typeface="Cambria"/>
              <a:buNone/>
            </a:pPr>
            <a:r>
              <a:rPr i="0" lang="en-US" sz="850" u="none" cap="none" strike="noStrike">
                <a:solidFill>
                  <a:srgbClr val="7BAF96"/>
                </a:solidFill>
              </a:rPr>
              <a:t>UBC SAUDER  ·  COMM 486I  ·  GROUP 6</a:t>
            </a:r>
            <a:endParaRPr i="0" sz="85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22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8" name="Google Shape;778;p22"/>
          <p:cNvSpPr/>
          <p:nvPr/>
        </p:nvSpPr>
        <p:spPr>
          <a:xfrm>
            <a:off x="457200" y="155448"/>
            <a:ext cx="80467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005C3B"/>
                </a:solidFill>
              </a:rPr>
              <a:t>IMPLICATIONS &amp; NEXT STEPS</a:t>
            </a:r>
            <a:endParaRPr i="0" sz="2100" u="none" cap="none" strike="noStrike">
              <a:solidFill>
                <a:schemeClr val="dk1"/>
              </a:solidFill>
            </a:endParaRPr>
          </a:p>
        </p:txBody>
      </p:sp>
      <p:sp>
        <p:nvSpPr>
          <p:cNvPr id="779" name="Google Shape;779;p22"/>
          <p:cNvSpPr/>
          <p:nvPr/>
        </p:nvSpPr>
        <p:spPr>
          <a:xfrm>
            <a:off x="457200" y="640080"/>
            <a:ext cx="804672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50"/>
              <a:buFont typeface="Cambria"/>
              <a:buNone/>
            </a:pPr>
            <a:r>
              <a:rPr i="0" lang="en-US" sz="1050" u="none" cap="none" strike="noStrike">
                <a:solidFill>
                  <a:srgbClr val="4E6057"/>
                </a:solidFill>
              </a:rPr>
              <a:t>What our results mean for investors, researchers, and practitioners</a:t>
            </a:r>
            <a:endParaRPr i="0" sz="1050" u="none" cap="none" strike="noStrike">
              <a:solidFill>
                <a:schemeClr val="dk1"/>
              </a:solidFill>
            </a:endParaRPr>
          </a:p>
        </p:txBody>
      </p:sp>
      <p:sp>
        <p:nvSpPr>
          <p:cNvPr id="780" name="Google Shape;780;p22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1" name="Google Shape;781;p22"/>
          <p:cNvSpPr/>
          <p:nvPr/>
        </p:nvSpPr>
        <p:spPr>
          <a:xfrm>
            <a:off x="365760" y="5001768"/>
            <a:ext cx="84124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i="0" lang="en-US" sz="800" u="none" cap="none" strike="noStrike">
                <a:solidFill>
                  <a:srgbClr val="7BAF96"/>
                </a:solidFill>
              </a:rPr>
              <a:t>UBC SAUDER  ·  COMM 486I  ·  GROUP 6</a:t>
            </a:r>
            <a:endParaRPr i="0" sz="800" u="none" cap="none" strike="noStrike">
              <a:solidFill>
                <a:schemeClr val="dk1"/>
              </a:solidFill>
            </a:endParaRPr>
          </a:p>
        </p:txBody>
      </p:sp>
      <p:sp>
        <p:nvSpPr>
          <p:cNvPr id="782" name="Google Shape;782;p22"/>
          <p:cNvSpPr/>
          <p:nvPr/>
        </p:nvSpPr>
        <p:spPr>
          <a:xfrm>
            <a:off x="457200" y="960120"/>
            <a:ext cx="4114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005C3B"/>
                </a:solidFill>
              </a:rPr>
              <a:t>For Investors</a:t>
            </a:r>
            <a:endParaRPr i="0" sz="1300" u="none" cap="none" strike="noStrike">
              <a:solidFill>
                <a:schemeClr val="dk1"/>
              </a:solidFill>
            </a:endParaRPr>
          </a:p>
        </p:txBody>
      </p:sp>
      <p:sp>
        <p:nvSpPr>
          <p:cNvPr id="783" name="Google Shape;783;p22"/>
          <p:cNvSpPr/>
          <p:nvPr/>
        </p:nvSpPr>
        <p:spPr>
          <a:xfrm>
            <a:off x="457200" y="1307592"/>
            <a:ext cx="4114800" cy="79552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4" name="Google Shape;784;p22"/>
          <p:cNvSpPr/>
          <p:nvPr/>
        </p:nvSpPr>
        <p:spPr>
          <a:xfrm>
            <a:off x="457200" y="1307592"/>
            <a:ext cx="91440" cy="795528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5" name="Google Shape;785;p22"/>
          <p:cNvSpPr/>
          <p:nvPr/>
        </p:nvSpPr>
        <p:spPr>
          <a:xfrm>
            <a:off x="658368" y="1371600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100"/>
              <a:buFont typeface="Cambria"/>
              <a:buNone/>
            </a:pPr>
            <a:r>
              <a:rPr b="1" i="0" lang="en-US" sz="1100" u="none" cap="none" strike="noStrike">
                <a:solidFill>
                  <a:srgbClr val="005C3B"/>
                </a:solidFill>
              </a:rPr>
              <a:t>Ghost Intensity as Factor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786" name="Google Shape;786;p22"/>
          <p:cNvSpPr/>
          <p:nvPr/>
        </p:nvSpPr>
        <p:spPr>
          <a:xfrm>
            <a:off x="658368" y="1655064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Add ghost score as a signal in multi-factor models; complements size, value, and momentum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787" name="Google Shape;787;p22"/>
          <p:cNvSpPr/>
          <p:nvPr/>
        </p:nvSpPr>
        <p:spPr>
          <a:xfrm>
            <a:off x="457200" y="2194560"/>
            <a:ext cx="4114800" cy="79552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8" name="Google Shape;788;p22"/>
          <p:cNvSpPr/>
          <p:nvPr/>
        </p:nvSpPr>
        <p:spPr>
          <a:xfrm>
            <a:off x="457200" y="2194560"/>
            <a:ext cx="91440" cy="795528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9" name="Google Shape;789;p22"/>
          <p:cNvSpPr/>
          <p:nvPr/>
        </p:nvSpPr>
        <p:spPr>
          <a:xfrm>
            <a:off x="658368" y="225856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100"/>
              <a:buFont typeface="Cambria"/>
              <a:buNone/>
            </a:pPr>
            <a:r>
              <a:rPr b="1" i="0" lang="en-US" sz="1100" u="none" cap="none" strike="noStrike">
                <a:solidFill>
                  <a:srgbClr val="005C3B"/>
                </a:solidFill>
              </a:rPr>
              <a:t>Long-Bias Strategies Work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790" name="Google Shape;790;p22"/>
          <p:cNvSpPr/>
          <p:nvPr/>
        </p:nvSpPr>
        <p:spPr>
          <a:xfrm>
            <a:off x="658368" y="2542032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Ghost Barbell (+216.9%, Sharpe 0.84) beats SPY (+180.1%, 0.82); robust across 5/10/25% concentration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791" name="Google Shape;791;p22"/>
          <p:cNvSpPr/>
          <p:nvPr/>
        </p:nvSpPr>
        <p:spPr>
          <a:xfrm>
            <a:off x="457200" y="3081528"/>
            <a:ext cx="4114800" cy="79552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2" name="Google Shape;792;p22"/>
          <p:cNvSpPr/>
          <p:nvPr/>
        </p:nvSpPr>
        <p:spPr>
          <a:xfrm>
            <a:off x="457200" y="3081528"/>
            <a:ext cx="91440" cy="795528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3" name="Google Shape;793;p22"/>
          <p:cNvSpPr/>
          <p:nvPr/>
        </p:nvSpPr>
        <p:spPr>
          <a:xfrm>
            <a:off x="658368" y="3145536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100"/>
              <a:buFont typeface="Cambria"/>
              <a:buNone/>
            </a:pPr>
            <a:r>
              <a:rPr b="1" i="0" lang="en-US" sz="1100" u="none" cap="none" strike="noStrike">
                <a:solidFill>
                  <a:srgbClr val="005C3B"/>
                </a:solidFill>
              </a:rPr>
              <a:t>Avoid Naked Shorts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794" name="Google Shape;794;p22"/>
          <p:cNvSpPr/>
          <p:nvPr/>
        </p:nvSpPr>
        <p:spPr>
          <a:xfrm>
            <a:off x="658368" y="3429000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Short-only strategies are punished by market drift; use only within factor-neutral portfolios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795" name="Google Shape;795;p22"/>
          <p:cNvSpPr/>
          <p:nvPr/>
        </p:nvSpPr>
        <p:spPr>
          <a:xfrm>
            <a:off x="457200" y="3968496"/>
            <a:ext cx="4114800" cy="79552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6" name="Google Shape;796;p22"/>
          <p:cNvSpPr/>
          <p:nvPr/>
        </p:nvSpPr>
        <p:spPr>
          <a:xfrm>
            <a:off x="457200" y="3968496"/>
            <a:ext cx="91440" cy="795528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7" name="Google Shape;797;p22"/>
          <p:cNvSpPr/>
          <p:nvPr/>
        </p:nvSpPr>
        <p:spPr>
          <a:xfrm>
            <a:off x="658368" y="4032504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5C3B"/>
              </a:buClr>
              <a:buSzPts val="1100"/>
              <a:buFont typeface="Cambria"/>
              <a:buNone/>
            </a:pPr>
            <a:r>
              <a:rPr b="1" i="0" lang="en-US" sz="1100" u="none" cap="none" strike="noStrike">
                <a:solidFill>
                  <a:srgbClr val="005C3B"/>
                </a:solidFill>
              </a:rPr>
              <a:t>Monitoring Use Case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798" name="Google Shape;798;p22"/>
          <p:cNvSpPr/>
          <p:nvPr/>
        </p:nvSpPr>
        <p:spPr>
          <a:xfrm>
            <a:off x="658368" y="4315968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Ghost intensity changes can flag potential earnings misses before analyst consensus updates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799" name="Google Shape;799;p22"/>
          <p:cNvSpPr/>
          <p:nvPr/>
        </p:nvSpPr>
        <p:spPr>
          <a:xfrm>
            <a:off x="4754880" y="960120"/>
            <a:ext cx="4114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1300"/>
              <a:buFont typeface="Cambria"/>
              <a:buNone/>
            </a:pPr>
            <a:r>
              <a:rPr b="1" i="0" lang="en-US" sz="1300" u="none" cap="none" strike="noStrike">
                <a:solidFill>
                  <a:srgbClr val="002145"/>
                </a:solidFill>
              </a:rPr>
              <a:t>Next Steps</a:t>
            </a:r>
            <a:endParaRPr i="0" sz="1300" u="none" cap="none" strike="noStrike">
              <a:solidFill>
                <a:schemeClr val="dk1"/>
              </a:solidFill>
            </a:endParaRPr>
          </a:p>
        </p:txBody>
      </p:sp>
      <p:sp>
        <p:nvSpPr>
          <p:cNvPr id="800" name="Google Shape;800;p22"/>
          <p:cNvSpPr/>
          <p:nvPr/>
        </p:nvSpPr>
        <p:spPr>
          <a:xfrm>
            <a:off x="4754880" y="1307592"/>
            <a:ext cx="4114800" cy="79552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1" name="Google Shape;801;p22"/>
          <p:cNvSpPr/>
          <p:nvPr/>
        </p:nvSpPr>
        <p:spPr>
          <a:xfrm>
            <a:off x="4754880" y="1307592"/>
            <a:ext cx="91440" cy="795528"/>
          </a:xfrm>
          <a:prstGeom prst="rect">
            <a:avLst/>
          </a:prstGeom>
          <a:solidFill>
            <a:srgbClr val="002145"/>
          </a:solidFill>
          <a:ln cap="flat" cmpd="sng" w="1270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2" name="Google Shape;802;p22"/>
          <p:cNvSpPr/>
          <p:nvPr/>
        </p:nvSpPr>
        <p:spPr>
          <a:xfrm>
            <a:off x="4956048" y="1371600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1100"/>
              <a:buFont typeface="Cambria"/>
              <a:buNone/>
            </a:pPr>
            <a:r>
              <a:rPr b="1" i="0" lang="en-US" sz="1100" u="none" cap="none" strike="noStrike">
                <a:solidFill>
                  <a:srgbClr val="002145"/>
                </a:solidFill>
              </a:rPr>
              <a:t>Earnings Surprise Test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803" name="Google Shape;803;p22"/>
          <p:cNvSpPr/>
          <p:nvPr/>
        </p:nvSpPr>
        <p:spPr>
          <a:xfrm>
            <a:off x="4956048" y="1655064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Regress analyst forecast errors on ghost intensity — test the earnings mechanism directly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804" name="Google Shape;804;p22"/>
          <p:cNvSpPr/>
          <p:nvPr/>
        </p:nvSpPr>
        <p:spPr>
          <a:xfrm>
            <a:off x="4754880" y="2194560"/>
            <a:ext cx="4114800" cy="79552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5" name="Google Shape;805;p22"/>
          <p:cNvSpPr/>
          <p:nvPr/>
        </p:nvSpPr>
        <p:spPr>
          <a:xfrm>
            <a:off x="4754880" y="2194560"/>
            <a:ext cx="91440" cy="795528"/>
          </a:xfrm>
          <a:prstGeom prst="rect">
            <a:avLst/>
          </a:prstGeom>
          <a:solidFill>
            <a:srgbClr val="002145"/>
          </a:solidFill>
          <a:ln cap="flat" cmpd="sng" w="1270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6" name="Google Shape;806;p22"/>
          <p:cNvSpPr/>
          <p:nvPr/>
        </p:nvSpPr>
        <p:spPr>
          <a:xfrm>
            <a:off x="4956048" y="225856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1100"/>
              <a:buFont typeface="Cambria"/>
              <a:buNone/>
            </a:pPr>
            <a:r>
              <a:rPr b="1" i="0" lang="en-US" sz="1100" u="none" cap="none" strike="noStrike">
                <a:solidFill>
                  <a:srgbClr val="002145"/>
                </a:solidFill>
              </a:rPr>
              <a:t>Fama-MacBeth Regressions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807" name="Google Shape;807;p22"/>
          <p:cNvSpPr/>
          <p:nvPr/>
        </p:nvSpPr>
        <p:spPr>
          <a:xfrm>
            <a:off x="4956048" y="2542032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Control for size, value, momentum; isolate the incremental alpha of ghost intensity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808" name="Google Shape;808;p22"/>
          <p:cNvSpPr/>
          <p:nvPr/>
        </p:nvSpPr>
        <p:spPr>
          <a:xfrm>
            <a:off x="4754880" y="3081528"/>
            <a:ext cx="4114800" cy="79552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9" name="Google Shape;809;p22"/>
          <p:cNvSpPr/>
          <p:nvPr/>
        </p:nvSpPr>
        <p:spPr>
          <a:xfrm>
            <a:off x="4754880" y="3081528"/>
            <a:ext cx="91440" cy="795528"/>
          </a:xfrm>
          <a:prstGeom prst="rect">
            <a:avLst/>
          </a:prstGeom>
          <a:solidFill>
            <a:srgbClr val="002145"/>
          </a:solidFill>
          <a:ln cap="flat" cmpd="sng" w="1270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0" name="Google Shape;810;p22"/>
          <p:cNvSpPr/>
          <p:nvPr/>
        </p:nvSpPr>
        <p:spPr>
          <a:xfrm>
            <a:off x="4956048" y="3145536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1100"/>
              <a:buFont typeface="Cambria"/>
              <a:buNone/>
            </a:pPr>
            <a:r>
              <a:rPr b="1" i="0" lang="en-US" sz="1100" u="none" cap="none" strike="noStrike">
                <a:solidFill>
                  <a:srgbClr val="002145"/>
                </a:solidFill>
              </a:rPr>
              <a:t>Factor-Neutral L/S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811" name="Google Shape;811;p22"/>
          <p:cNvSpPr/>
          <p:nvPr/>
        </p:nvSpPr>
        <p:spPr>
          <a:xfrm>
            <a:off x="4956048" y="3429000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Construct long-short with hedged market and factor exposure to make the short leg viable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sp>
        <p:nvSpPr>
          <p:cNvPr id="812" name="Google Shape;812;p22"/>
          <p:cNvSpPr/>
          <p:nvPr/>
        </p:nvSpPr>
        <p:spPr>
          <a:xfrm>
            <a:off x="4754880" y="3968496"/>
            <a:ext cx="4114800" cy="795528"/>
          </a:xfrm>
          <a:prstGeom prst="rect">
            <a:avLst/>
          </a:prstGeom>
          <a:solidFill>
            <a:srgbClr val="FFFFFF"/>
          </a:solidFill>
          <a:ln cap="flat" cmpd="sng" w="10150">
            <a:solidFill>
              <a:srgbClr val="DDE9E3"/>
            </a:solidFill>
            <a:prstDash val="solid"/>
            <a:round/>
            <a:headEnd len="sm" w="sm" type="none"/>
            <a:tailEnd len="sm" w="sm" type="none"/>
          </a:ln>
          <a:effectLst>
            <a:outerShdw blurRad="889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3" name="Google Shape;813;p22"/>
          <p:cNvSpPr/>
          <p:nvPr/>
        </p:nvSpPr>
        <p:spPr>
          <a:xfrm>
            <a:off x="4754880" y="3968496"/>
            <a:ext cx="91440" cy="795528"/>
          </a:xfrm>
          <a:prstGeom prst="rect">
            <a:avLst/>
          </a:prstGeom>
          <a:solidFill>
            <a:srgbClr val="002145"/>
          </a:solidFill>
          <a:ln cap="flat" cmpd="sng" w="1270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4" name="Google Shape;814;p22"/>
          <p:cNvSpPr/>
          <p:nvPr/>
        </p:nvSpPr>
        <p:spPr>
          <a:xfrm>
            <a:off x="4956048" y="4032504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1100"/>
              <a:buFont typeface="Cambria"/>
              <a:buNone/>
            </a:pPr>
            <a:r>
              <a:rPr b="1" i="0" lang="en-US" sz="1100" u="none" cap="none" strike="noStrike">
                <a:solidFill>
                  <a:srgbClr val="002145"/>
                </a:solidFill>
              </a:rPr>
              <a:t>Real-Time Score API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815" name="Google Shape;815;p22"/>
          <p:cNvSpPr/>
          <p:nvPr/>
        </p:nvSpPr>
        <p:spPr>
          <a:xfrm>
            <a:off x="4956048" y="4315968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2618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1A2618"/>
                </a:solidFill>
              </a:rPr>
              <a:t>Integrate with live Revelio data for dynamic portfolio rebalancing and alerting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3D28"/>
        </a:solidFill>
      </p:bgPr>
    </p:bg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23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2" name="Google Shape;822;p23"/>
          <p:cNvSpPr/>
          <p:nvPr/>
        </p:nvSpPr>
        <p:spPr>
          <a:xfrm>
            <a:off x="502920" y="502920"/>
            <a:ext cx="8046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Cambria"/>
              <a:buNone/>
            </a:pPr>
            <a:r>
              <a:rPr b="1" i="0" lang="en-US" sz="5200" u="none" cap="none" strike="noStrike">
                <a:solidFill>
                  <a:srgbClr val="FFFFFF"/>
                </a:solidFill>
              </a:rPr>
              <a:t>Thank You</a:t>
            </a:r>
            <a:endParaRPr i="0" sz="5200" u="none" cap="none" strike="noStrike">
              <a:solidFill>
                <a:schemeClr val="dk1"/>
              </a:solidFill>
            </a:endParaRPr>
          </a:p>
        </p:txBody>
      </p:sp>
      <p:sp>
        <p:nvSpPr>
          <p:cNvPr id="823" name="Google Shape;823;p23"/>
          <p:cNvSpPr/>
          <p:nvPr/>
        </p:nvSpPr>
        <p:spPr>
          <a:xfrm>
            <a:off x="502920" y="1572768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2200"/>
              <a:buFont typeface="Cambria"/>
              <a:buNone/>
            </a:pPr>
            <a:r>
              <a:rPr i="0" lang="en-US" sz="2200" u="none" cap="none" strike="noStrike">
                <a:solidFill>
                  <a:srgbClr val="D4EDE2"/>
                </a:solidFill>
              </a:rPr>
              <a:t>Questions &amp; Discussion</a:t>
            </a:r>
            <a:endParaRPr i="0" sz="2200" u="none" cap="none" strike="noStrike">
              <a:solidFill>
                <a:schemeClr val="dk1"/>
              </a:solidFill>
            </a:endParaRPr>
          </a:p>
        </p:txBody>
      </p:sp>
      <p:cxnSp>
        <p:nvCxnSpPr>
          <p:cNvPr id="824" name="Google Shape;824;p23"/>
          <p:cNvCxnSpPr/>
          <p:nvPr/>
        </p:nvCxnSpPr>
        <p:spPr>
          <a:xfrm>
            <a:off x="502920" y="2212848"/>
            <a:ext cx="8138160" cy="0"/>
          </a:xfrm>
          <a:prstGeom prst="straightConnector1">
            <a:avLst/>
          </a:prstGeom>
          <a:noFill/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5" name="Google Shape;825;p23"/>
          <p:cNvSpPr/>
          <p:nvPr/>
        </p:nvSpPr>
        <p:spPr>
          <a:xfrm>
            <a:off x="502920" y="2432304"/>
            <a:ext cx="91440" cy="347472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6" name="Google Shape;826;p23"/>
          <p:cNvSpPr/>
          <p:nvPr/>
        </p:nvSpPr>
        <p:spPr>
          <a:xfrm>
            <a:off x="713232" y="2432304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1100"/>
              <a:buFont typeface="Cambria"/>
              <a:buNone/>
            </a:pPr>
            <a:r>
              <a:rPr b="1" i="0" lang="en-US" sz="1100" u="none" cap="none" strike="noStrike">
                <a:solidFill>
                  <a:srgbClr val="D4EDE2"/>
                </a:solidFill>
              </a:rPr>
              <a:t xml:space="preserve">Ghost Intensity Signal: 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827" name="Google Shape;827;p23"/>
          <p:cNvSpPr/>
          <p:nvPr/>
        </p:nvSpPr>
        <p:spPr>
          <a:xfrm>
            <a:off x="2944368" y="2432304"/>
            <a:ext cx="5577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1100"/>
              <a:buFont typeface="Cambria"/>
              <a:buNone/>
            </a:pPr>
            <a:r>
              <a:rPr i="0" lang="en-US" sz="1100" u="none" cap="none" strike="noStrike">
                <a:solidFill>
                  <a:srgbClr val="7BAF96"/>
                </a:solidFill>
              </a:rPr>
              <a:t>XGBoost-predicted fill rate detects systematic non-hiring behaviour at the firm-quarter level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828" name="Google Shape;828;p23"/>
          <p:cNvSpPr/>
          <p:nvPr/>
        </p:nvSpPr>
        <p:spPr>
          <a:xfrm>
            <a:off x="502920" y="3026664"/>
            <a:ext cx="91440" cy="347472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9" name="Google Shape;829;p23"/>
          <p:cNvSpPr/>
          <p:nvPr/>
        </p:nvSpPr>
        <p:spPr>
          <a:xfrm>
            <a:off x="713232" y="3026664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1100"/>
              <a:buFont typeface="Cambria"/>
              <a:buNone/>
            </a:pPr>
            <a:r>
              <a:rPr b="1" i="0" lang="en-US" sz="1100" u="none" cap="none" strike="noStrike">
                <a:solidFill>
                  <a:srgbClr val="D4EDE2"/>
                </a:solidFill>
              </a:rPr>
              <a:t xml:space="preserve">Walk-Forward Backtest: 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830" name="Google Shape;830;p23"/>
          <p:cNvSpPr/>
          <p:nvPr/>
        </p:nvSpPr>
        <p:spPr>
          <a:xfrm>
            <a:off x="2944368" y="3026664"/>
            <a:ext cx="5577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1100"/>
              <a:buFont typeface="Cambria"/>
              <a:buNone/>
            </a:pPr>
            <a:r>
              <a:rPr i="0" lang="en-US" sz="1100" u="none" cap="none" strike="noStrike">
                <a:solidFill>
                  <a:srgbClr val="7BAF96"/>
                </a:solidFill>
              </a:rPr>
              <a:t>Ghost Barbell (+216.9%, Sharpe 0.84) and Long High Ghost (~220%) both beat SPY (+180.1%)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831" name="Google Shape;831;p23"/>
          <p:cNvSpPr/>
          <p:nvPr/>
        </p:nvSpPr>
        <p:spPr>
          <a:xfrm>
            <a:off x="502920" y="3621024"/>
            <a:ext cx="91440" cy="347472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2" name="Google Shape;832;p23"/>
          <p:cNvSpPr/>
          <p:nvPr/>
        </p:nvSpPr>
        <p:spPr>
          <a:xfrm>
            <a:off x="713232" y="3621024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1100"/>
              <a:buFont typeface="Cambria"/>
              <a:buNone/>
            </a:pPr>
            <a:r>
              <a:rPr b="1" i="0" lang="en-US" sz="1100" u="none" cap="none" strike="noStrike">
                <a:solidFill>
                  <a:srgbClr val="D4EDE2"/>
                </a:solidFill>
              </a:rPr>
              <a:t xml:space="preserve">GMM Validation: 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833" name="Google Shape;833;p23"/>
          <p:cNvSpPr/>
          <p:nvPr/>
        </p:nvSpPr>
        <p:spPr>
          <a:xfrm>
            <a:off x="2944368" y="3621024"/>
            <a:ext cx="5577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1100"/>
              <a:buFont typeface="Cambria"/>
              <a:buNone/>
            </a:pPr>
            <a:r>
              <a:rPr i="0" lang="en-US" sz="1100" u="none" cap="none" strike="noStrike">
                <a:solidFill>
                  <a:srgbClr val="7BAF96"/>
                </a:solidFill>
              </a:rPr>
              <a:t>k=7 BIC-optimal: clusters 3 &amp; 4 show 44–50% ghost rates; consistent across concentrations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834" name="Google Shape;834;p23"/>
          <p:cNvSpPr/>
          <p:nvPr/>
        </p:nvSpPr>
        <p:spPr>
          <a:xfrm>
            <a:off x="502920" y="4215384"/>
            <a:ext cx="91440" cy="347472"/>
          </a:xfrm>
          <a:prstGeom prst="rect">
            <a:avLst/>
          </a:prstGeom>
          <a:solidFill>
            <a:srgbClr val="005C3B"/>
          </a:solidFill>
          <a:ln cap="flat" cmpd="sng" w="12700">
            <a:solidFill>
              <a:srgbClr val="005C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5" name="Google Shape;835;p23"/>
          <p:cNvSpPr/>
          <p:nvPr/>
        </p:nvSpPr>
        <p:spPr>
          <a:xfrm>
            <a:off x="713232" y="4215384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4EDE2"/>
              </a:buClr>
              <a:buSzPts val="1100"/>
              <a:buFont typeface="Cambria"/>
              <a:buNone/>
            </a:pPr>
            <a:r>
              <a:rPr b="1" i="0" lang="en-US" sz="1100" u="none" cap="none" strike="noStrike">
                <a:solidFill>
                  <a:srgbClr val="D4EDE2"/>
                </a:solidFill>
              </a:rPr>
              <a:t xml:space="preserve">Ghost Premium Explanation: 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836" name="Google Shape;836;p23"/>
          <p:cNvSpPr/>
          <p:nvPr/>
        </p:nvSpPr>
        <p:spPr>
          <a:xfrm>
            <a:off x="2944368" y="4215384"/>
            <a:ext cx="55778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1100"/>
              <a:buFont typeface="Cambria"/>
              <a:buNone/>
            </a:pPr>
            <a:r>
              <a:rPr i="0" lang="en-US" sz="1100" u="none" cap="none" strike="noStrike">
                <a:solidFill>
                  <a:srgbClr val="7BAF96"/>
                </a:solidFill>
              </a:rPr>
              <a:t>H2 mechanism: attention premium + limits to arbitrage; H1 correction likely at 3–5 yr horizon</a:t>
            </a:r>
            <a:endParaRPr i="0" sz="1100" u="none" cap="none" strike="noStrike">
              <a:solidFill>
                <a:schemeClr val="dk1"/>
              </a:solidFill>
            </a:endParaRPr>
          </a:p>
        </p:txBody>
      </p:sp>
      <p:sp>
        <p:nvSpPr>
          <p:cNvPr id="837" name="Google Shape;837;p23"/>
          <p:cNvSpPr/>
          <p:nvPr/>
        </p:nvSpPr>
        <p:spPr>
          <a:xfrm>
            <a:off x="5565670" y="109345"/>
            <a:ext cx="8412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7BAF96"/>
                </a:solidFill>
              </a:rPr>
              <a:t>COMM 486I  ·  Group 6  ·  UBC Sauder School of Business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2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24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2145"/>
          </a:solidFill>
          <a:ln cap="flat" cmpd="sng" w="1270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4" name="Google Shape;844;p24"/>
          <p:cNvSpPr/>
          <p:nvPr/>
        </p:nvSpPr>
        <p:spPr>
          <a:xfrm>
            <a:off x="457200" y="155448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1600"/>
              <a:buFont typeface="Cambria"/>
              <a:buNone/>
            </a:pPr>
            <a:r>
              <a:rPr b="1" i="0" lang="en-US" sz="1600" u="none" cap="none" strike="noStrike">
                <a:solidFill>
                  <a:srgbClr val="002145"/>
                </a:solidFill>
              </a:rPr>
              <a:t>APPENDIX A  —  XGBoost Feature Importance (Gain)</a:t>
            </a:r>
            <a:endParaRPr i="0" sz="1600" u="none" cap="none" strike="noStrike">
              <a:solidFill>
                <a:schemeClr val="dk1"/>
              </a:solidFill>
            </a:endParaRPr>
          </a:p>
        </p:txBody>
      </p:sp>
      <p:sp>
        <p:nvSpPr>
          <p:cNvPr id="845" name="Google Shape;845;p24"/>
          <p:cNvSpPr/>
          <p:nvPr/>
        </p:nvSpPr>
        <p:spPr>
          <a:xfrm>
            <a:off x="457200" y="59436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4E6057"/>
                </a:solidFill>
              </a:rPr>
              <a:t>Information gain contributed by each feature across all splits. Complements SHAP mean |SHAP| analysis shown on slide 11.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pic>
        <p:nvPicPr>
          <p:cNvPr descr="preencoded.png" id="846" name="Google Shape;84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7280" y="868680"/>
            <a:ext cx="6949440" cy="3913632"/>
          </a:xfrm>
          <a:prstGeom prst="rect">
            <a:avLst/>
          </a:prstGeom>
          <a:noFill/>
          <a:ln>
            <a:noFill/>
          </a:ln>
        </p:spPr>
      </p:pic>
      <p:sp>
        <p:nvSpPr>
          <p:cNvPr id="847" name="Google Shape;847;p2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8" name="Google Shape;848;p24"/>
          <p:cNvSpPr/>
          <p:nvPr/>
        </p:nvSpPr>
        <p:spPr>
          <a:xfrm>
            <a:off x="365760" y="5001768"/>
            <a:ext cx="84124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i="0" lang="en-US" sz="800" u="none" cap="none" strike="noStrike">
                <a:solidFill>
                  <a:srgbClr val="7BAF96"/>
                </a:solidFill>
              </a:rPr>
              <a:t>UBC SAUDER  ·  COMM 486I  ·  GROUP 6</a:t>
            </a:r>
            <a:endParaRPr i="0" sz="80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5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02145"/>
          </a:solidFill>
          <a:ln cap="flat" cmpd="sng" w="12700">
            <a:solidFill>
              <a:srgbClr val="00214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5" name="Google Shape;855;p25"/>
          <p:cNvSpPr/>
          <p:nvPr/>
        </p:nvSpPr>
        <p:spPr>
          <a:xfrm>
            <a:off x="457200" y="155448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145"/>
              </a:buClr>
              <a:buSzPts val="1600"/>
              <a:buFont typeface="Cambria"/>
              <a:buNone/>
            </a:pPr>
            <a:r>
              <a:rPr b="1" i="0" lang="en-US" sz="1600" u="none" cap="none" strike="noStrike">
                <a:solidFill>
                  <a:srgbClr val="002145"/>
                </a:solidFill>
              </a:rPr>
              <a:t>APPENDIX B  —  SHAP Feature Importance (Mean |SHAP|)</a:t>
            </a:r>
            <a:endParaRPr i="0" sz="1600" u="none" cap="none" strike="noStrike">
              <a:solidFill>
                <a:schemeClr val="dk1"/>
              </a:solidFill>
            </a:endParaRPr>
          </a:p>
        </p:txBody>
      </p:sp>
      <p:sp>
        <p:nvSpPr>
          <p:cNvPr id="856" name="Google Shape;856;p25"/>
          <p:cNvSpPr/>
          <p:nvPr/>
        </p:nvSpPr>
        <p:spPr>
          <a:xfrm>
            <a:off x="457200" y="59436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E6057"/>
              </a:buClr>
              <a:buSzPts val="1000"/>
              <a:buFont typeface="Cambria"/>
              <a:buNone/>
            </a:pPr>
            <a:r>
              <a:rPr i="0" lang="en-US" sz="1000" u="none" cap="none" strike="noStrike">
                <a:solidFill>
                  <a:srgbClr val="4E6057"/>
                </a:solidFill>
              </a:rPr>
              <a:t>Mean absolute SHAP values on 886 test samples. Summarises magnitude ranking without directional information — see slide 11 beeswarm for full direction and distribution.</a:t>
            </a:r>
            <a:endParaRPr i="0" sz="1000" u="none" cap="none" strike="noStrike">
              <a:solidFill>
                <a:schemeClr val="dk1"/>
              </a:solidFill>
            </a:endParaRPr>
          </a:p>
        </p:txBody>
      </p:sp>
      <p:pic>
        <p:nvPicPr>
          <p:cNvPr descr="preencoded.png" id="857" name="Google Shape;85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7280" y="868680"/>
            <a:ext cx="6949440" cy="3913632"/>
          </a:xfrm>
          <a:prstGeom prst="rect">
            <a:avLst/>
          </a:prstGeom>
          <a:noFill/>
          <a:ln>
            <a:noFill/>
          </a:ln>
        </p:spPr>
      </p:pic>
      <p:sp>
        <p:nvSpPr>
          <p:cNvPr id="858" name="Google Shape;858;p25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03D28"/>
          </a:solidFill>
          <a:ln cap="flat" cmpd="sng" w="12700">
            <a:solidFill>
              <a:srgbClr val="003D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9" name="Google Shape;859;p25"/>
          <p:cNvSpPr/>
          <p:nvPr/>
        </p:nvSpPr>
        <p:spPr>
          <a:xfrm>
            <a:off x="365760" y="5001768"/>
            <a:ext cx="8412480" cy="12801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BAF96"/>
              </a:buClr>
              <a:buSzPts val="800"/>
              <a:buFont typeface="Cambria"/>
              <a:buNone/>
            </a:pPr>
            <a:r>
              <a:rPr i="0" lang="en-US" sz="800" u="none" cap="none" strike="noStrike">
                <a:solidFill>
                  <a:srgbClr val="7BAF96"/>
                </a:solidFill>
              </a:rPr>
              <a:t>UBC SAUDER  ·  COMM 486I  ·  GROUP 6</a:t>
            </a:r>
            <a:endParaRPr i="0" sz="800" u="none" cap="none" strike="noStrike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2026-04-24T20:44:45Z</dcterms:created>
  <dc:creator>Group 6 — COMM 486I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1CB3B137F6CE4AF63DD6EB69D6F848FA_42</vt:lpwstr>
  </property>
  <property fmtid="{D5CDD505-2E9C-101B-9397-08002B2CF9AE}" pid="3" name="KSOProductBuildVer">
    <vt:lpwstr>1033-6.11.0.8885</vt:lpwstr>
  </property>
</Properties>
</file>