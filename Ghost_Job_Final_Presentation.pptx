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g5yVDt9okFJ7ohBZQOileWFwTD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005600-F0F1-4CD3-83A6-77999014D7D3}">
  <a:tblStyle styleId="{92005600-F0F1-4CD3-83A6-77999014D7D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93e1c57a8_3_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93e1c57a8_3_4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93e1c57a8_3_4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93e1c57a8_3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d93e1c57a8_3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93e1c57a8_2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g3d93e1c57a8_2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d93e1c57a8_2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93e1c57a8_3_5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g3d93e1c57a8_3_5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d93e1c57a8_3_5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d93e1c57a8_3_5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g3d93e1c57a8_3_5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d93e1c57a8_3_5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d93e1c57a8_2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g3d93e1c57a8_2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3d93e1c57a8_2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d93e1c57a8_3_3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d93e1c57a8_3_3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d93e1c57a8_3_4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g3d93e1c57a8_3_4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d93e1c57a8_3_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d93e1c57a8_3_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d93e1c57a8_3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93e1c57a8_3_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d93e1c57a8_3_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93e1c57a8_3_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d93e1c57a8_3_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d93e1c57a8_3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93e1c57a8_3_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d93e1c57a8_3_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d93e1c57a8_3_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d93e1c57a8_3_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d93e1c57a8_3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d93e1c57a8_3_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d93e1c57a8_3_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d93e1c57a8_3_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d93e1c57a8_3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d93e1c57a8_3_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d93e1c57a8_3_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d93e1c57a8_3_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d93e1c57a8_3_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d93e1c57a8_3_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d93e1c57a8_3_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d93e1c57a8_3_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d93e1c57a8_3_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d93e1c57a8_3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93e1c57a8_3_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d93e1c57a8_3_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d93e1c57a8_3_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93e1c57a8_3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93e1c57a8_3_4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g3d93e1c57a8_3_4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g3d93e1c57a8_3_4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93e1c57a8_3_4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" name="Google Shape;66;g3d93e1c57a8_3_4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3e1c57a8_3_4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g3d93e1c57a8_3_4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g3d93e1c57a8_3_4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93e1c57a8_3_4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g3d93e1c57a8_3_44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g3d93e1c57a8_3_44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g3d93e1c57a8_3_4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93e1c57a8_3_4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g3d93e1c57a8_3_4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93e1c57a8_3_45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g3d93e1c57a8_3_45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g3d93e1c57a8_3_4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93e1c57a8_3_45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g3d93e1c57a8_3_4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93e1c57a8_3_46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d93e1c57a8_3_4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g3d93e1c57a8_3_46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g3d93e1c57a8_3_46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g3d93e1c57a8_3_4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93e1c57a8_3_46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4" name="Google Shape;94;g3d93e1c57a8_3_4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93e1c57a8_3_47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" name="Google Shape;97;g3d93e1c57a8_3_47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g3d93e1c57a8_3_4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93e1c57a8_3_4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d93e1c57a8_3_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d93e1c57a8_3_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d93e1c57a8_3_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93e1c57a8_3_4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d93e1c57a8_3_4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d93e1c57a8_3_4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C3B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/>
          <p:nvPr/>
        </p:nvSpPr>
        <p:spPr>
          <a:xfrm>
            <a:off x="6126480" y="0"/>
            <a:ext cx="3017400" cy="514350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6080760" y="0"/>
            <a:ext cx="73152" cy="5143500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502920" y="548640"/>
            <a:ext cx="5394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mbria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</a:rPr>
              <a:t>GHOST JOB</a:t>
            </a:r>
            <a:endParaRPr i="0" sz="5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mbria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</a:rPr>
              <a:t>DETECTION</a:t>
            </a:r>
            <a:endParaRPr i="0" sz="5000" u="none" cap="none" strike="noStrike"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502920" y="2651760"/>
            <a:ext cx="5303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1800"/>
              <a:buFont typeface="Cambria"/>
              <a:buNone/>
            </a:pPr>
            <a:r>
              <a:rPr i="0" lang="en-US" sz="1800" u="none" cap="none" strike="noStrike">
                <a:solidFill>
                  <a:srgbClr val="D4EDE2"/>
                </a:solidFill>
              </a:rPr>
              <a:t>A Labor Market Mispricing Signal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10" name="Google Shape;110;p1"/>
          <p:cNvCxnSpPr/>
          <p:nvPr/>
        </p:nvCxnSpPr>
        <p:spPr>
          <a:xfrm>
            <a:off x="502920" y="3246120"/>
            <a:ext cx="4937760" cy="0"/>
          </a:xfrm>
          <a:prstGeom prst="straightConnector1">
            <a:avLst/>
          </a:prstGeom>
          <a:noFill/>
          <a:ln cap="flat" cmpd="sng" w="15225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"/>
          <p:cNvSpPr/>
          <p:nvPr/>
        </p:nvSpPr>
        <p:spPr>
          <a:xfrm>
            <a:off x="502920" y="33832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200"/>
              <a:buFont typeface="Cambria"/>
              <a:buNone/>
            </a:pPr>
            <a:r>
              <a:rPr i="0" lang="en-US" sz="1200" u="none" cap="none" strike="noStrike">
                <a:solidFill>
                  <a:srgbClr val="7BAF96"/>
                </a:solidFill>
              </a:rPr>
              <a:t>COMM 486I  ·  UBC Sauder School of Business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502920" y="370332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200"/>
              <a:buFont typeface="Cambria"/>
              <a:buNone/>
            </a:pPr>
            <a:r>
              <a:rPr i="0" lang="en-US" sz="1200" u="none" cap="none" strike="noStrike">
                <a:solidFill>
                  <a:srgbClr val="7BAF96"/>
                </a:solidFill>
              </a:rPr>
              <a:t>Carter Jaquette  ·  Nilabh Agrawal  ·  Zixi Lian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502920" y="402336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100"/>
              <a:buFont typeface="Cambria"/>
              <a:buNone/>
            </a:pPr>
            <a:r>
              <a:rPr i="0" lang="en-US" sz="1100" u="none" cap="none" strike="noStrike">
                <a:solidFill>
                  <a:srgbClr val="7BAF96"/>
                </a:solidFill>
              </a:rPr>
              <a:t>Group 6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6675015" y="1611595"/>
            <a:ext cx="1920300" cy="1920300"/>
          </a:xfrm>
          <a:prstGeom prst="ellipse">
            <a:avLst/>
          </a:prstGeom>
          <a:solidFill>
            <a:srgbClr val="1B2A3B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3615" y="1767043"/>
            <a:ext cx="1463040" cy="146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457200" y="15544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AGENDA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457200" y="809445"/>
            <a:ext cx="82296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457200" y="809445"/>
            <a:ext cx="502800" cy="7131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457200" y="937461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</a:rPr>
              <a:t>01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1078992" y="864309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</a:rPr>
              <a:t>Theoretical Framework &amp; Motivation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1078992" y="1193493"/>
            <a:ext cx="704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Ghost jobs: literature, theory, financial relevance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457200" y="1604973"/>
            <a:ext cx="82296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457200" y="1604973"/>
            <a:ext cx="502800" cy="7131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457200" y="1732989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</a:rPr>
              <a:t>02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1078992" y="1659837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</a:rPr>
              <a:t>Model Design &amp; Implementation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078992" y="1989021"/>
            <a:ext cx="704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XGBoost + SHAP + GMM pipeline; feature engineering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457200" y="2400501"/>
            <a:ext cx="82296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457200" y="2400501"/>
            <a:ext cx="502800" cy="7131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457200" y="2528517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</a:rPr>
              <a:t>03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1078992" y="2455365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</a:rPr>
              <a:t>Empirical Results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1078992" y="2784549"/>
            <a:ext cx="704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Walk-forward backtest; strategy performance; concentration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457200" y="3196029"/>
            <a:ext cx="82296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457200" y="3196029"/>
            <a:ext cx="502800" cy="7131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"/>
          <p:cNvSpPr/>
          <p:nvPr/>
        </p:nvSpPr>
        <p:spPr>
          <a:xfrm>
            <a:off x="457200" y="3324045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</a:rPr>
              <a:t>04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1078992" y="3250893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</a:rPr>
              <a:t>Robustness, Stability &amp; Limitations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1078992" y="3580077"/>
            <a:ext cx="704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Failure modes, data constraints, out-of-sample caveats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457200" y="3991557"/>
            <a:ext cx="82296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"/>
          <p:cNvSpPr/>
          <p:nvPr/>
        </p:nvSpPr>
        <p:spPr>
          <a:xfrm>
            <a:off x="457200" y="3991557"/>
            <a:ext cx="502800" cy="7131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457200" y="4119573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</a:rPr>
              <a:t>05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1078992" y="4046421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</a:rPr>
              <a:t>Implications for Financial Decision-Making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1078992" y="4375605"/>
            <a:ext cx="704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Trading signals, investor relevance, next steps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D28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457200" y="457200"/>
            <a:ext cx="1828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8000"/>
              <a:buFont typeface="Times New Roman"/>
              <a:buNone/>
            </a:pPr>
            <a:r>
              <a:rPr b="1" i="0" lang="en-US" sz="8000" u="none" cap="none" strike="noStrike">
                <a:solidFill>
                  <a:srgbClr val="005C3B"/>
                </a:solidFill>
              </a:rPr>
              <a:t>01</a:t>
            </a:r>
            <a:endParaRPr i="0" sz="8000" u="none" cap="none" strike="noStrike">
              <a:solidFill>
                <a:schemeClr val="dk1"/>
              </a:solidFill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57200" y="192024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Theoretical Framework</a:t>
            </a:r>
            <a:endParaRPr i="0" sz="36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&amp; Motivation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58" name="Google Shape;158;p3"/>
          <p:cNvCxnSpPr/>
          <p:nvPr/>
        </p:nvCxnSpPr>
        <p:spPr>
          <a:xfrm>
            <a:off x="457200" y="3090672"/>
            <a:ext cx="7772400" cy="0"/>
          </a:xfrm>
          <a:prstGeom prst="straightConnector1">
            <a:avLst/>
          </a:prstGeom>
          <a:noFill/>
          <a:ln cap="flat" cmpd="sng" w="152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3"/>
          <p:cNvSpPr/>
          <p:nvPr/>
        </p:nvSpPr>
        <p:spPr>
          <a:xfrm>
            <a:off x="457200" y="321868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400"/>
              <a:buFont typeface="Cambria"/>
              <a:buNone/>
            </a:pPr>
            <a:r>
              <a:rPr i="0" lang="en-US" sz="1400" u="none" cap="none" strike="noStrike">
                <a:solidFill>
                  <a:srgbClr val="7BAF96"/>
                </a:solidFill>
              </a:rPr>
              <a:t>Ghost jobs in context: what the research says and why it matters for finance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5029200" y="4663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457200" y="228623"/>
            <a:ext cx="8046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WHAT ARE GHOST JOBS?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Job listings posted by real companies with no present intention to hire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457200" y="1196040"/>
            <a:ext cx="2560200" cy="141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457200" y="1196040"/>
            <a:ext cx="2560200" cy="54900"/>
          </a:xfrm>
          <a:prstGeom prst="rect">
            <a:avLst/>
          </a:prstGeom>
          <a:solidFill>
            <a:srgbClr val="AD1520"/>
          </a:solidFill>
          <a:ln cap="flat" cmpd="sng" w="1270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517475" y="1337709"/>
            <a:ext cx="25602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1520"/>
              </a:buClr>
              <a:buSzPts val="2800"/>
              <a:buFont typeface="Times New Roman"/>
              <a:buNone/>
            </a:pPr>
            <a:r>
              <a:rPr b="1" i="0" lang="en-US" sz="4100" u="none" cap="none" strike="noStrike">
                <a:solidFill>
                  <a:srgbClr val="AD1520"/>
                </a:solidFill>
              </a:rPr>
              <a:t>21%</a:t>
            </a:r>
            <a:endParaRPr b="1" i="0" sz="4100" u="none" cap="none" strike="noStrike">
              <a:solidFill>
                <a:schemeClr val="dk1"/>
              </a:solidFill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48640" y="2046432"/>
            <a:ext cx="2377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of postings may be ghost jobs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(Ng 2024)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3291840" y="1196040"/>
            <a:ext cx="2560200" cy="141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3291840" y="1196040"/>
            <a:ext cx="2560200" cy="54900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3352115" y="1337709"/>
            <a:ext cx="25602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2800"/>
              <a:buFont typeface="Times New Roman"/>
              <a:buNone/>
            </a:pPr>
            <a:r>
              <a:rPr b="1" i="0" lang="en-US" sz="4100" u="none" cap="none" strike="noStrike">
                <a:solidFill>
                  <a:srgbClr val="1F6095"/>
                </a:solidFill>
              </a:rPr>
              <a:t>40%</a:t>
            </a:r>
            <a:endParaRPr b="1" i="0" sz="4100" u="none" cap="none" strike="noStrike">
              <a:solidFill>
                <a:schemeClr val="dk1"/>
              </a:solidFill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3383280" y="2046432"/>
            <a:ext cx="2377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of companies admit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posting ghost jobs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6126480" y="1196040"/>
            <a:ext cx="2560200" cy="141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6126480" y="1196040"/>
            <a:ext cx="2560200" cy="5490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6186755" y="1337709"/>
            <a:ext cx="25602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2800"/>
              <a:buFont typeface="Times New Roman"/>
              <a:buNone/>
            </a:pPr>
            <a:r>
              <a:rPr b="1" i="0" lang="en-US" sz="4100" u="none" cap="none" strike="noStrike">
                <a:solidFill>
                  <a:srgbClr val="002145"/>
                </a:solidFill>
              </a:rPr>
              <a:t>50%</a:t>
            </a:r>
            <a:endParaRPr b="1" i="0" sz="4100" u="none" cap="none" strike="noStrike">
              <a:solidFill>
                <a:schemeClr val="dk1"/>
              </a:solidFill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217920" y="2046432"/>
            <a:ext cx="2377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of postings now lead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to no hire (vs 20% in 2018)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457200" y="2796248"/>
            <a:ext cx="8229600" cy="1713600"/>
          </a:xfrm>
          <a:prstGeom prst="rect">
            <a:avLst/>
          </a:prstGeom>
          <a:solidFill>
            <a:srgbClr val="D4EDE2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457200" y="2796248"/>
            <a:ext cx="91500" cy="17136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658368" y="2915112"/>
            <a:ext cx="7818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</a:rPr>
              <a:t>Why Ghost Jobs Matter for Finance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58375" y="3280874"/>
            <a:ext cx="7818000" cy="11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200"/>
              <a:buChar char="●"/>
            </a:pPr>
            <a:r>
              <a:rPr i="0" lang="en-US" sz="1200" u="none" cap="none" strike="noStrike">
                <a:solidFill>
                  <a:srgbClr val="1A2618"/>
                </a:solidFill>
              </a:rPr>
              <a:t>Investors read job postings as growth signals (Gutiérrez et al. 2020, Management Science)</a:t>
            </a:r>
            <a:endParaRPr i="0" sz="1200" u="none" cap="none" strike="noStrike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200"/>
              <a:buChar char="●"/>
            </a:pPr>
            <a:r>
              <a:rPr i="0" lang="en-US" sz="1200" u="none" cap="none" strike="noStrike">
                <a:solidFill>
                  <a:srgbClr val="1A2618"/>
                </a:solidFill>
              </a:rPr>
              <a:t>Ghost postings inflate vacancy counts → distort the Beveridge Curve and aggregate labor statistics</a:t>
            </a:r>
            <a:endParaRPr i="0" sz="1200" u="none" cap="none" strike="noStrike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200"/>
              <a:buChar char="●"/>
            </a:pPr>
            <a:r>
              <a:rPr i="0" lang="en-US" sz="1200" u="none" cap="none" strike="noStrike">
                <a:solidFill>
                  <a:srgbClr val="1A2618"/>
                </a:solidFill>
              </a:rPr>
              <a:t>If ghost-heavy firms appear stronger than they are, a ghost-adjusted measure could predict underperformance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3d93e1c57a8_3_477"/>
          <p:cNvPicPr preferRelativeResize="0"/>
          <p:nvPr/>
        </p:nvPicPr>
        <p:blipFill rotWithShape="1">
          <a:blip r:embed="rId3">
            <a:alphaModFix/>
          </a:blip>
          <a:srcRect b="11285" l="0" r="0" t="0"/>
          <a:stretch/>
        </p:blipFill>
        <p:spPr>
          <a:xfrm>
            <a:off x="1749336" y="76200"/>
            <a:ext cx="6563739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93e1c57a8_3_123"/>
          <p:cNvSpPr/>
          <p:nvPr/>
        </p:nvSpPr>
        <p:spPr>
          <a:xfrm>
            <a:off x="0" y="0"/>
            <a:ext cx="9144000" cy="82200"/>
          </a:xfrm>
          <a:prstGeom prst="rect">
            <a:avLst/>
          </a:prstGeom>
          <a:solidFill>
            <a:srgbClr val="005C3B"/>
          </a:solidFill>
          <a:ln cap="flat" cmpd="sng" w="95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d93e1c57a8_3_123"/>
          <p:cNvSpPr/>
          <p:nvPr/>
        </p:nvSpPr>
        <p:spPr>
          <a:xfrm>
            <a:off x="457200" y="228623"/>
            <a:ext cx="8046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  <a:latin typeface="Arial"/>
                <a:ea typeface="Arial"/>
                <a:cs typeface="Arial"/>
                <a:sym typeface="Arial"/>
              </a:rPr>
              <a:t>THE POSTING vs HIRING GAP</a:t>
            </a:r>
            <a:endParaRPr/>
          </a:p>
        </p:txBody>
      </p:sp>
      <p:sp>
        <p:nvSpPr>
          <p:cNvPr id="199" name="Google Shape;199;g3d93e1c57a8_3_123"/>
          <p:cNvSpPr/>
          <p:nvPr/>
        </p:nvSpPr>
        <p:spPr>
          <a:xfrm>
            <a:off x="457200" y="620000"/>
            <a:ext cx="80466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E6057"/>
                </a:solidFill>
                <a:latin typeface="Arial"/>
                <a:ea typeface="Arial"/>
                <a:cs typeface="Arial"/>
                <a:sym typeface="Arial"/>
              </a:rPr>
              <a:t>Investors see postings. Revelio lets us see what actually happened. The gap is the signal.</a:t>
            </a:r>
            <a:endParaRPr/>
          </a:p>
        </p:txBody>
      </p:sp>
      <p:sp>
        <p:nvSpPr>
          <p:cNvPr id="200" name="Google Shape;200;g3d93e1c57a8_3_123"/>
          <p:cNvSpPr/>
          <p:nvPr/>
        </p:nvSpPr>
        <p:spPr>
          <a:xfrm>
            <a:off x="457200" y="1000000"/>
            <a:ext cx="3900000" cy="1599900"/>
          </a:xfrm>
          <a:prstGeom prst="rect">
            <a:avLst/>
          </a:prstGeom>
          <a:solidFill>
            <a:srgbClr val="003D28"/>
          </a:solidFill>
          <a:ln cap="flat" cmpd="sng" w="9525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d93e1c57a8_3_123"/>
          <p:cNvSpPr/>
          <p:nvPr/>
        </p:nvSpPr>
        <p:spPr>
          <a:xfrm>
            <a:off x="457200" y="1050000"/>
            <a:ext cx="39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5EC996"/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  <a:endParaRPr/>
          </a:p>
        </p:txBody>
      </p:sp>
      <p:sp>
        <p:nvSpPr>
          <p:cNvPr id="202" name="Google Shape;202;g3d93e1c57a8_3_123"/>
          <p:cNvSpPr/>
          <p:nvPr/>
        </p:nvSpPr>
        <p:spPr>
          <a:xfrm>
            <a:off x="457200" y="1960000"/>
            <a:ext cx="3900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jobs posted per quarter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EC996"/>
                </a:solidFill>
                <a:latin typeface="Arial"/>
                <a:ea typeface="Arial"/>
                <a:cs typeface="Arial"/>
                <a:sym typeface="Arial"/>
              </a:rPr>
              <a:t>AutoZone (AZO)</a:t>
            </a:r>
            <a:endParaRPr/>
          </a:p>
        </p:txBody>
      </p:sp>
      <p:sp>
        <p:nvSpPr>
          <p:cNvPr id="203" name="Google Shape;203;g3d93e1c57a8_3_123"/>
          <p:cNvSpPr/>
          <p:nvPr/>
        </p:nvSpPr>
        <p:spPr>
          <a:xfrm>
            <a:off x="4786800" y="1000000"/>
            <a:ext cx="3900000" cy="1599900"/>
          </a:xfrm>
          <a:prstGeom prst="rect">
            <a:avLst/>
          </a:prstGeom>
          <a:solidFill>
            <a:srgbClr val="AD1520"/>
          </a:solidFill>
          <a:ln cap="flat" cmpd="sng" w="9525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d93e1c57a8_3_123"/>
          <p:cNvSpPr/>
          <p:nvPr/>
        </p:nvSpPr>
        <p:spPr>
          <a:xfrm>
            <a:off x="4786800" y="1050000"/>
            <a:ext cx="39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3.9%</a:t>
            </a:r>
            <a:endParaRPr/>
          </a:p>
        </p:txBody>
      </p:sp>
      <p:sp>
        <p:nvSpPr>
          <p:cNvPr id="205" name="Google Shape;205;g3d93e1c57a8_3_123"/>
          <p:cNvSpPr/>
          <p:nvPr/>
        </p:nvSpPr>
        <p:spPr>
          <a:xfrm>
            <a:off x="4786800" y="1960000"/>
            <a:ext cx="3900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actually lead to a hire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CCCC"/>
                </a:solidFill>
                <a:latin typeface="Arial"/>
                <a:ea typeface="Arial"/>
                <a:cs typeface="Arial"/>
                <a:sym typeface="Arial"/>
              </a:rPr>
              <a:t>96 of 100 postings = noise</a:t>
            </a:r>
            <a:endParaRPr/>
          </a:p>
        </p:txBody>
      </p:sp>
      <p:sp>
        <p:nvSpPr>
          <p:cNvPr id="206" name="Google Shape;206;g3d93e1c57a8_3_123"/>
          <p:cNvSpPr/>
          <p:nvPr/>
        </p:nvSpPr>
        <p:spPr>
          <a:xfrm>
            <a:off x="457200" y="2800000"/>
            <a:ext cx="8229600" cy="1800000"/>
          </a:xfrm>
          <a:prstGeom prst="rect">
            <a:avLst/>
          </a:prstGeom>
          <a:solidFill>
            <a:srgbClr val="D4EDE2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d93e1c57a8_3_123"/>
          <p:cNvSpPr/>
          <p:nvPr/>
        </p:nvSpPr>
        <p:spPr>
          <a:xfrm>
            <a:off x="457200" y="2800000"/>
            <a:ext cx="91500" cy="1800000"/>
          </a:xfrm>
          <a:prstGeom prst="rect">
            <a:avLst/>
          </a:prstGeom>
          <a:solidFill>
            <a:srgbClr val="005C3B"/>
          </a:solidFill>
          <a:ln cap="flat" cmpd="sng" w="95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d93e1c57a8_3_123"/>
          <p:cNvSpPr/>
          <p:nvPr/>
        </p:nvSpPr>
        <p:spPr>
          <a:xfrm>
            <a:off x="658368" y="2850000"/>
            <a:ext cx="7818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  <a:latin typeface="Arial"/>
                <a:ea typeface="Arial"/>
                <a:cs typeface="Arial"/>
                <a:sym typeface="Arial"/>
              </a:rPr>
              <a:t>Why This Gap Exists and Why It Matters for Finance</a:t>
            </a:r>
            <a:endParaRPr/>
          </a:p>
        </p:txBody>
      </p:sp>
      <p:sp>
        <p:nvSpPr>
          <p:cNvPr id="209" name="Google Shape;209;g3d93e1c57a8_3_123"/>
          <p:cNvSpPr/>
          <p:nvPr/>
        </p:nvSpPr>
        <p:spPr>
          <a:xfrm>
            <a:off x="658375" y="3180000"/>
            <a:ext cx="7818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Investors treat posting volume as a growth signal -- Gutierrez et al. (2020) show hiring announcements move stock prices</a:t>
            </a:r>
            <a:endParaRPr sz="1100"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If 96 of 100 postings are never filled, the signal investors are reading is largely noise -- creating a systematic mispricing opportunity</a:t>
            </a:r>
            <a:endParaRPr sz="1100"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Our model quantifies that gap for 204 public firms across 15 years -- turning a qualitative observation into a tradeable signal</a:t>
            </a:r>
            <a:endParaRPr sz="1100"/>
          </a:p>
        </p:txBody>
      </p:sp>
      <p:sp>
        <p:nvSpPr>
          <p:cNvPr id="210" name="Google Shape;210;g3d93e1c57a8_3_123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3D28"/>
          </a:solidFill>
          <a:ln cap="flat" cmpd="sng" w="9525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d93e1c57a8_3_123"/>
          <p:cNvSpPr/>
          <p:nvPr/>
        </p:nvSpPr>
        <p:spPr>
          <a:xfrm>
            <a:off x="365760" y="5001768"/>
            <a:ext cx="8412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KEY LITERATURE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457200" y="557780"/>
            <a:ext cx="8046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Three papers that frame our work — findings, gaps, and our contribution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457200" y="881070"/>
            <a:ext cx="8229600" cy="119916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457200" y="881070"/>
            <a:ext cx="109728" cy="119916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658368" y="962831"/>
            <a:ext cx="530352" cy="236199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658368" y="962831"/>
            <a:ext cx="530352" cy="23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imes New Roman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2024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1280160" y="953746"/>
            <a:ext cx="4663440" cy="254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5C3B"/>
                </a:solidFill>
              </a:rPr>
              <a:t>Ng  —  Ghost Job Detection via BERT on Glassdoor Reviews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676234" y="1269338"/>
            <a:ext cx="58713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02145"/>
                </a:solidFill>
              </a:rPr>
              <a:t>Finding: </a:t>
            </a:r>
            <a:r>
              <a:rPr i="0" lang="en-US" sz="1050" u="none" cap="none" strike="noStrike">
                <a:solidFill>
                  <a:srgbClr val="1A2618"/>
                </a:solidFill>
              </a:rPr>
              <a:t>~21% of postings are ghost jobs; mid-sized tech firms peak at 25%. BERT classifier trained on Glassdoor reviews.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676076" y="1571546"/>
            <a:ext cx="5871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02145"/>
                </a:solidFill>
              </a:rPr>
              <a:t>Gap: </a:t>
            </a:r>
            <a:r>
              <a:rPr i="1" lang="en-US" sz="1050" u="none" cap="none" strike="noStrike">
                <a:solidFill>
                  <a:srgbClr val="4E6057"/>
                </a:solidFill>
              </a:rPr>
              <a:t>Labels confounded by sentiment — negative reviews ≠ ghost intent.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658384" y="1780450"/>
            <a:ext cx="589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950"/>
              <a:buFont typeface="Cambria"/>
              <a:buNone/>
            </a:pPr>
            <a:r>
              <a:rPr i="1" lang="en-US" sz="650" u="none" cap="none" strike="noStrike">
                <a:solidFill>
                  <a:srgbClr val="005C3B"/>
                </a:solidFill>
              </a:rPr>
              <a:t>↳ Outcome-anchored labels from actual hire data; XGBoost on behavioral features</a:t>
            </a:r>
            <a:endParaRPr i="0" sz="650" u="none" cap="none" strike="noStrike">
              <a:solidFill>
                <a:schemeClr val="dk1"/>
              </a:solidFill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6656826" y="953750"/>
            <a:ext cx="1911000" cy="1053900"/>
          </a:xfrm>
          <a:prstGeom prst="rect">
            <a:avLst/>
          </a:prstGeom>
          <a:solidFill>
            <a:srgbClr val="D4EDE2"/>
          </a:solidFill>
          <a:ln cap="flat" cmpd="sng" w="1015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6740219" y="1008257"/>
            <a:ext cx="1744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4E6057"/>
                </a:solidFill>
              </a:rPr>
              <a:t>KEY NUMBER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6740219" y="1199033"/>
            <a:ext cx="17442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200"/>
              <a:buFont typeface="Times New Roman"/>
              <a:buNone/>
            </a:pPr>
            <a:r>
              <a:rPr b="1" i="0" lang="en-US" sz="2700" u="none" cap="none" strike="noStrike">
                <a:solidFill>
                  <a:srgbClr val="005C3B"/>
                </a:solidFill>
              </a:rPr>
              <a:t>21%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6740219" y="1644175"/>
            <a:ext cx="17442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00"/>
              <a:buFont typeface="Cambria"/>
              <a:buNone/>
            </a:pPr>
            <a:r>
              <a:rPr i="0" lang="en-US" sz="900" u="none" cap="none" strike="noStrike">
                <a:solidFill>
                  <a:srgbClr val="1A2618"/>
                </a:solidFill>
              </a:rPr>
              <a:t>ghost rate → our percentile cutoff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457200" y="2180162"/>
            <a:ext cx="8229600" cy="119916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457200" y="2180162"/>
            <a:ext cx="109728" cy="1199162"/>
          </a:xfrm>
          <a:prstGeom prst="rect">
            <a:avLst/>
          </a:prstGeom>
          <a:solidFill>
            <a:srgbClr val="9A6F00"/>
          </a:solidFill>
          <a:ln cap="flat" cmpd="sng" w="1270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658368" y="2261923"/>
            <a:ext cx="530352" cy="236199"/>
          </a:xfrm>
          <a:prstGeom prst="rect">
            <a:avLst/>
          </a:prstGeom>
          <a:solidFill>
            <a:srgbClr val="9A6F00"/>
          </a:solidFill>
          <a:ln cap="flat" cmpd="sng" w="1270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658368" y="2261923"/>
            <a:ext cx="530352" cy="23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imes New Roman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2022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1280160" y="2252839"/>
            <a:ext cx="4663440" cy="254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9A6F00"/>
                </a:solidFill>
              </a:rPr>
              <a:t>Amaar et al.  —  Fake Job Detection with TF-IDF + ML Classifiers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658376" y="2543545"/>
            <a:ext cx="58716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02145"/>
                </a:solidFill>
              </a:rPr>
              <a:t>Finding: </a:t>
            </a:r>
            <a:r>
              <a:rPr i="0" lang="en-US" sz="1050" u="none" cap="none" strike="noStrike">
                <a:solidFill>
                  <a:srgbClr val="1A2618"/>
                </a:solidFill>
              </a:rPr>
              <a:t>99.9% accuracy with Extra Trees on Kaggle scam job dataset.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658376" y="2834251"/>
            <a:ext cx="5871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02145"/>
                </a:solidFill>
              </a:rPr>
              <a:t>Gap: </a:t>
            </a:r>
            <a:r>
              <a:rPr i="1" lang="en-US" sz="1050" u="none" cap="none" strike="noStrike">
                <a:solidFill>
                  <a:srgbClr val="4E6057"/>
                </a:solidFill>
              </a:rPr>
              <a:t>Detects fraudulent scam postings — not ghost jobs posted by real firms</a:t>
            </a:r>
            <a:r>
              <a:rPr i="1" lang="en-US" sz="1050">
                <a:solidFill>
                  <a:srgbClr val="4E6057"/>
                </a:solidFill>
              </a:rPr>
              <a:t>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658376" y="3079534"/>
            <a:ext cx="5871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950"/>
              <a:buFont typeface="Cambria"/>
              <a:buNone/>
            </a:pPr>
            <a:r>
              <a:rPr i="1" lang="en-US" sz="650" u="none" cap="none" strike="noStrike">
                <a:solidFill>
                  <a:srgbClr val="9A6F00"/>
                </a:solidFill>
              </a:rPr>
              <a:t>↳ Ghost jobs are a distinct phenomenon: real firms, real postings, zero hiring intent.</a:t>
            </a:r>
            <a:endParaRPr i="0" sz="650" u="none" cap="none" strike="noStrike">
              <a:solidFill>
                <a:schemeClr val="dk1"/>
              </a:solidFill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6656826" y="2252839"/>
            <a:ext cx="1911000" cy="1053900"/>
          </a:xfrm>
          <a:prstGeom prst="rect">
            <a:avLst/>
          </a:prstGeom>
          <a:solidFill>
            <a:srgbClr val="D4EDE2"/>
          </a:solidFill>
          <a:ln cap="flat" cmpd="sng" w="1015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6740219" y="2307346"/>
            <a:ext cx="1744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4E6057"/>
                </a:solidFill>
              </a:rPr>
              <a:t>ACCURACY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6740219" y="2498122"/>
            <a:ext cx="17442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2200"/>
              <a:buFont typeface="Times New Roman"/>
              <a:buNone/>
            </a:pPr>
            <a:r>
              <a:rPr b="1" i="0" lang="en-US" sz="2700" u="none" cap="none" strike="noStrike">
                <a:solidFill>
                  <a:srgbClr val="9A6F00"/>
                </a:solidFill>
              </a:rPr>
              <a:t>99.9%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6740219" y="2943264"/>
            <a:ext cx="17442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00"/>
              <a:buFont typeface="Cambria"/>
              <a:buNone/>
            </a:pPr>
            <a:r>
              <a:rPr i="0" lang="en-US" sz="900" u="none" cap="none" strike="noStrike">
                <a:solidFill>
                  <a:srgbClr val="1A2618"/>
                </a:solidFill>
              </a:rPr>
              <a:t>on scams — not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00"/>
              <a:buFont typeface="Cambria"/>
              <a:buNone/>
            </a:pPr>
            <a:r>
              <a:rPr i="0" lang="en-US" sz="900" u="none" cap="none" strike="noStrike">
                <a:solidFill>
                  <a:srgbClr val="1A2618"/>
                </a:solidFill>
              </a:rPr>
              <a:t>ghost jobs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57200" y="3479255"/>
            <a:ext cx="8229600" cy="119916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457200" y="3479255"/>
            <a:ext cx="109728" cy="1199162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658368" y="3561016"/>
            <a:ext cx="530352" cy="236199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658368" y="3561016"/>
            <a:ext cx="530352" cy="23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imes New Roman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2025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1280150" y="3551925"/>
            <a:ext cx="51351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F6095"/>
                </a:solidFill>
              </a:rPr>
              <a:t>Singer &amp; Oktay  —  Framework for Ghost Posting ID from Behavioral Data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658376" y="3864534"/>
            <a:ext cx="58716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02145"/>
                </a:solidFill>
              </a:rPr>
              <a:t>Finding: </a:t>
            </a:r>
            <a:r>
              <a:rPr i="0" lang="en-US" sz="1050" u="none" cap="none" strike="noStrike">
                <a:solidFill>
                  <a:srgbClr val="1A2618"/>
                </a:solidFill>
              </a:rPr>
              <a:t>Behavioral features (duration, still-active rate, salary) can identify ghost postings from CoreSignal data.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676076" y="4168915"/>
            <a:ext cx="5871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02145"/>
                </a:solidFill>
              </a:rPr>
              <a:t>Gap: </a:t>
            </a:r>
            <a:r>
              <a:rPr i="1" lang="en-US" sz="1050" u="none" cap="none" strike="noStrike">
                <a:solidFill>
                  <a:srgbClr val="4E6057"/>
                </a:solidFill>
              </a:rPr>
              <a:t>Framework only — no model, no validated measure, no link to financial outcomes.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658376" y="4378626"/>
            <a:ext cx="5871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950"/>
              <a:buFont typeface="Cambria"/>
              <a:buNone/>
            </a:pPr>
            <a:r>
              <a:rPr i="1" lang="en-US" sz="650" u="none" cap="none" strike="noStrike">
                <a:solidFill>
                  <a:srgbClr val="1F6095"/>
                </a:solidFill>
              </a:rPr>
              <a:t>↳ Implement end-to-end: XGBoost + SHAP; extend to portfolio construction and walk-forward backtesting.</a:t>
            </a:r>
            <a:endParaRPr i="0" sz="650" u="none" cap="none" strike="noStrike">
              <a:solidFill>
                <a:schemeClr val="dk1"/>
              </a:solidFill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6656826" y="3551928"/>
            <a:ext cx="1911000" cy="1053900"/>
          </a:xfrm>
          <a:prstGeom prst="rect">
            <a:avLst/>
          </a:prstGeom>
          <a:solidFill>
            <a:srgbClr val="D4EDE2"/>
          </a:solidFill>
          <a:ln cap="flat" cmpd="sng" w="1015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6740219" y="3606435"/>
            <a:ext cx="1744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4E6057"/>
                </a:solidFill>
              </a:rPr>
              <a:t>KEY INSIGHT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6740219" y="3797211"/>
            <a:ext cx="17442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22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1F6095"/>
                </a:solidFill>
              </a:rPr>
              <a:t>Behavioral</a:t>
            </a:r>
            <a:endParaRPr i="0" sz="15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22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1F6095"/>
                </a:solidFill>
              </a:rPr>
              <a:t>features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6740219" y="4242353"/>
            <a:ext cx="17442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00"/>
              <a:buFont typeface="Cambria"/>
              <a:buNone/>
            </a:pPr>
            <a:r>
              <a:rPr i="0" lang="en-US" sz="900" u="none" cap="none" strike="noStrike">
                <a:solidFill>
                  <a:srgbClr val="1A2618"/>
                </a:solidFill>
              </a:rPr>
              <a:t>right signal — not text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457200" y="4723840"/>
            <a:ext cx="8229600" cy="16352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594360" y="4732925"/>
            <a:ext cx="7955280" cy="136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None of these papers produces a validated, outcome-linked ghost measure with financial return implications — this is our contribution.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HYPOTHESES &amp; THEORETICAL FRAMEWORK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Bridging the literature to our empirical design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457200" y="960125"/>
            <a:ext cx="3977700" cy="15987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457200" y="960120"/>
            <a:ext cx="3977640" cy="347472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"/>
          <p:cNvSpPr/>
          <p:nvPr/>
        </p:nvSpPr>
        <p:spPr>
          <a:xfrm>
            <a:off x="594360" y="987552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</a:rPr>
              <a:t>H1  —  Fundamental Mispricing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594360" y="1271000"/>
            <a:ext cx="370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Ghost postings inflate perceived growth. Investors over-extrapolate hiring signals into future earnings. Once the fundamental gap is revealed — through missed earnings or hiring stalls — prices correct downward.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594360" y="2231120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50"/>
              <a:buFont typeface="Cambria"/>
              <a:buNone/>
            </a:pPr>
            <a:r>
              <a:rPr b="1" i="0" lang="en-US" sz="950" u="none" cap="none" strike="noStrike">
                <a:solidFill>
                  <a:srgbClr val="002145"/>
                </a:solidFill>
              </a:rPr>
              <a:t>→  Prediction: Ghost firms earn negative long-run abnormal returns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4709160" y="960125"/>
            <a:ext cx="3977700" cy="15987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4709160" y="960120"/>
            <a:ext cx="3977640" cy="34747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4846320" y="987552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</a:rPr>
              <a:t>H2  —  Attention &amp; Behavioural Premium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4846320" y="1271000"/>
            <a:ext cx="370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High posting volume attracts investor attention and signals growth ambition. Sentiment-driven demand can persist even without fundamental support, and limits to arbitrage prevent rapid correction of the resulting mispricing.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4846320" y="2231120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950"/>
              <a:buFont typeface="Cambria"/>
              <a:buNone/>
            </a:pPr>
            <a:r>
              <a:rPr b="1" i="0" lang="en-US" sz="950" u="none" cap="none" strike="noStrike">
                <a:solidFill>
                  <a:srgbClr val="005C3B"/>
                </a:solidFill>
              </a:rPr>
              <a:t>→  Prediction: Ghost firms earn a near-to-medium-term attention premium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4233672" y="1417320"/>
            <a:ext cx="6766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457200" y="2633472"/>
            <a:ext cx="8229600" cy="566928"/>
          </a:xfrm>
          <a:prstGeom prst="rect">
            <a:avLst/>
          </a:prstGeom>
          <a:solidFill>
            <a:srgbClr val="D4EDE2"/>
          </a:solidFill>
          <a:ln cap="flat" cmpd="sng" w="12700">
            <a:solidFill>
              <a:srgbClr val="D4E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502920" y="2688336"/>
            <a:ext cx="1554480" cy="45720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502920" y="268833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Ghost Posting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284" name="Google Shape;284;p6"/>
          <p:cNvCxnSpPr/>
          <p:nvPr/>
        </p:nvCxnSpPr>
        <p:spPr>
          <a:xfrm>
            <a:off x="2057400" y="2916936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4E60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6"/>
          <p:cNvSpPr/>
          <p:nvPr/>
        </p:nvSpPr>
        <p:spPr>
          <a:xfrm>
            <a:off x="2148840" y="2688336"/>
            <a:ext cx="1554480" cy="457200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"/>
          <p:cNvSpPr/>
          <p:nvPr/>
        </p:nvSpPr>
        <p:spPr>
          <a:xfrm>
            <a:off x="2148840" y="268833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Inflated Growth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Signal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287" name="Google Shape;287;p6"/>
          <p:cNvCxnSpPr/>
          <p:nvPr/>
        </p:nvCxnSpPr>
        <p:spPr>
          <a:xfrm>
            <a:off x="3703320" y="2916936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4E60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6"/>
          <p:cNvSpPr/>
          <p:nvPr/>
        </p:nvSpPr>
        <p:spPr>
          <a:xfrm>
            <a:off x="3794760" y="2688336"/>
            <a:ext cx="1554480" cy="457200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3794760" y="268833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Investor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Perception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290" name="Google Shape;290;p6"/>
          <p:cNvCxnSpPr/>
          <p:nvPr/>
        </p:nvCxnSpPr>
        <p:spPr>
          <a:xfrm>
            <a:off x="5349240" y="2916936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4E60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6"/>
          <p:cNvSpPr/>
          <p:nvPr/>
        </p:nvSpPr>
        <p:spPr>
          <a:xfrm>
            <a:off x="5440680" y="2688336"/>
            <a:ext cx="1554480" cy="4572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5440680" y="268833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Near-term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Demand ↑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293" name="Google Shape;293;p6"/>
          <p:cNvCxnSpPr/>
          <p:nvPr/>
        </p:nvCxnSpPr>
        <p:spPr>
          <a:xfrm>
            <a:off x="6995160" y="2916936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4E60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6"/>
          <p:cNvSpPr/>
          <p:nvPr/>
        </p:nvSpPr>
        <p:spPr>
          <a:xfrm>
            <a:off x="7086600" y="2688336"/>
            <a:ext cx="1554480" cy="457200"/>
          </a:xfrm>
          <a:prstGeom prst="rect">
            <a:avLst/>
          </a:prstGeom>
          <a:solidFill>
            <a:srgbClr val="AD1520"/>
          </a:solidFill>
          <a:ln cap="flat" cmpd="sng" w="1270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7086600" y="268833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Fundamental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Gap Widens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457200" y="3310128"/>
            <a:ext cx="8229600" cy="1481328"/>
          </a:xfrm>
          <a:prstGeom prst="rect">
            <a:avLst/>
          </a:prstGeom>
          <a:solidFill>
            <a:srgbClr val="D4EDE2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"/>
          <p:cNvSpPr/>
          <p:nvPr/>
        </p:nvSpPr>
        <p:spPr>
          <a:xfrm>
            <a:off x="457200" y="3310128"/>
            <a:ext cx="91440" cy="1481328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658368" y="3401568"/>
            <a:ext cx="7818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05C3B"/>
                </a:solidFill>
              </a:rPr>
              <a:t>Ghost Score Formula</a:t>
            </a:r>
            <a:endParaRPr b="1"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658368" y="3721608"/>
            <a:ext cx="7818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400"/>
              <a:buFont typeface="Bookman Old Style"/>
              <a:buNone/>
            </a:pPr>
            <a:r>
              <a:rPr b="1" i="1" lang="en-US" u="none" cap="none" strike="noStrike">
                <a:solidFill>
                  <a:srgbClr val="002145"/>
                </a:solidFill>
              </a:rPr>
              <a:t>GhostScore</a:t>
            </a:r>
            <a:r>
              <a:rPr lang="en-US" u="none" cap="none" strike="noStrike">
                <a:solidFill>
                  <a:srgbClr val="1A2618"/>
                </a:solidFill>
              </a:rPr>
              <a:t>(i, t)  =  1  −  </a:t>
            </a:r>
            <a:r>
              <a:rPr lang="en-US" u="none" cap="none" strike="noStrike">
                <a:solidFill>
                  <a:srgbClr val="1F6095"/>
                </a:solidFill>
              </a:rPr>
              <a:t>Rankt</a:t>
            </a:r>
            <a:r>
              <a:rPr lang="en-US" u="none" cap="none" strike="noStrike">
                <a:solidFill>
                  <a:srgbClr val="1A2618"/>
                </a:solidFill>
              </a:rPr>
              <a:t> [ </a:t>
            </a:r>
            <a:r>
              <a:rPr b="1" lang="en-US" u="none" cap="none" strike="noStrike">
                <a:solidFill>
                  <a:srgbClr val="005C3B"/>
                </a:solidFill>
              </a:rPr>
              <a:t>PredFillRate</a:t>
            </a:r>
            <a:r>
              <a:rPr lang="en-US" u="none" cap="none" strike="noStrike">
                <a:solidFill>
                  <a:srgbClr val="1A2618"/>
                </a:solidFill>
              </a:rPr>
              <a:t>(i, t) ] / Nt</a:t>
            </a:r>
            <a:endParaRPr u="none" cap="none" strike="noStrike">
              <a:solidFill>
                <a:schemeClr val="dk1"/>
              </a:solidFill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658368" y="4087368"/>
            <a:ext cx="7818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200"/>
              <a:buFont typeface="Bookman Old Style"/>
              <a:buNone/>
            </a:pPr>
            <a:r>
              <a:rPr b="1" i="1" lang="en-US" u="none" cap="none" strike="noStrike">
                <a:solidFill>
                  <a:srgbClr val="005C3B"/>
                </a:solidFill>
              </a:rPr>
              <a:t>PredFillRate</a:t>
            </a:r>
            <a:r>
              <a:rPr lang="en-US" u="none" cap="none" strike="noStrike">
                <a:solidFill>
                  <a:srgbClr val="1A2618"/>
                </a:solidFill>
              </a:rPr>
              <a:t>(i, t)  =  XGBoost[X(i, t)]  /  Postings(i, t)</a:t>
            </a:r>
            <a:r>
              <a:rPr lang="en-US" u="none" cap="none" strike="noStrike">
                <a:solidFill>
                  <a:srgbClr val="4E6057"/>
                </a:solidFill>
              </a:rPr>
              <a:t>   predicting inflows at  t + 1  [no lookahead]</a:t>
            </a:r>
            <a:endParaRPr u="none" cap="none" strike="noStrike">
              <a:solidFill>
                <a:schemeClr val="dk1"/>
              </a:solidFill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658368" y="4443984"/>
            <a:ext cx="7818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00"/>
              <a:buFont typeface="Cambria"/>
              <a:buNone/>
            </a:pPr>
            <a:r>
              <a:rPr i="1" lang="en-US" sz="1000" u="none" cap="none" strike="noStrike">
                <a:solidFill>
                  <a:srgbClr val="4E6057"/>
                </a:solidFill>
              </a:rPr>
              <a:t>Score → 0: genuine hirer   |   Score → 1: ghost firm (low predicted fill relative to all firms in same quarter)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D28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457200" y="457200"/>
            <a:ext cx="1828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8000"/>
              <a:buFont typeface="Times New Roman"/>
              <a:buNone/>
            </a:pPr>
            <a:r>
              <a:rPr b="1" i="0" lang="en-US" sz="8000" u="none" cap="none" strike="noStrike">
                <a:solidFill>
                  <a:srgbClr val="005C3B"/>
                </a:solidFill>
              </a:rPr>
              <a:t>02</a:t>
            </a:r>
            <a:endParaRPr i="0" sz="8000" u="none" cap="none" strike="noStrike">
              <a:solidFill>
                <a:schemeClr val="dk1"/>
              </a:solidFill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457200" y="192024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Model Design &amp;</a:t>
            </a:r>
            <a:endParaRPr i="0" sz="36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Implementation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310" name="Google Shape;310;p7"/>
          <p:cNvCxnSpPr/>
          <p:nvPr/>
        </p:nvCxnSpPr>
        <p:spPr>
          <a:xfrm>
            <a:off x="457200" y="3090672"/>
            <a:ext cx="7772400" cy="0"/>
          </a:xfrm>
          <a:prstGeom prst="straightConnector1">
            <a:avLst/>
          </a:prstGeom>
          <a:noFill/>
          <a:ln cap="flat" cmpd="sng" w="152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7"/>
          <p:cNvSpPr/>
          <p:nvPr/>
        </p:nvSpPr>
        <p:spPr>
          <a:xfrm>
            <a:off x="457200" y="321868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400"/>
              <a:buFont typeface="Cambria"/>
              <a:buNone/>
            </a:pPr>
            <a:r>
              <a:rPr i="0" lang="en-US" sz="1400" u="none" cap="none" strike="noStrike">
                <a:solidFill>
                  <a:srgbClr val="7BAF96"/>
                </a:solidFill>
              </a:rPr>
              <a:t>XGBoost prediction · SHAP attribution · GMM cluster validation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5029200" y="4663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400" u="none" cap="none" strike="noStrike">
                <a:solidFill>
                  <a:srgbClr val="005C3B"/>
                </a:solidFill>
              </a:rPr>
              <a:t>PIPELINE OVERVIEW</a:t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Three-output framework: predicted fill rate · actual fill rate · posting volume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347472" y="960120"/>
            <a:ext cx="1325880" cy="146304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347472" y="1088136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Revelio Labs</a:t>
            </a:r>
            <a:endParaRPr i="0" sz="11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Data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347472" y="1618488"/>
            <a:ext cx="1325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310k postings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2,919 firms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2009–2024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326" name="Google Shape;326;p8"/>
          <p:cNvCxnSpPr/>
          <p:nvPr/>
        </p:nvCxnSpPr>
        <p:spPr>
          <a:xfrm>
            <a:off x="1673352" y="169164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8"/>
          <p:cNvSpPr/>
          <p:nvPr/>
        </p:nvSpPr>
        <p:spPr>
          <a:xfrm>
            <a:off x="1783080" y="960120"/>
            <a:ext cx="1325880" cy="1463040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1783080" y="1088136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Feature</a:t>
            </a:r>
            <a:endParaRPr i="0" sz="11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Engineering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1783080" y="1618488"/>
            <a:ext cx="1325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14 features: 10 posting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behavioural + 4 company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330" name="Google Shape;330;p8"/>
          <p:cNvCxnSpPr/>
          <p:nvPr/>
        </p:nvCxnSpPr>
        <p:spPr>
          <a:xfrm>
            <a:off x="3108960" y="169164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8"/>
          <p:cNvSpPr/>
          <p:nvPr/>
        </p:nvSpPr>
        <p:spPr>
          <a:xfrm>
            <a:off x="3218688" y="960120"/>
            <a:ext cx="1325880" cy="146304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3218688" y="1088136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XGBoost</a:t>
            </a:r>
            <a:endParaRPr i="0" sz="11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Regression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3218688" y="1618488"/>
            <a:ext cx="1325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Predicts Q+1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inflows (no leakage)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Test R²=0.49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334" name="Google Shape;334;p8"/>
          <p:cNvCxnSpPr/>
          <p:nvPr/>
        </p:nvCxnSpPr>
        <p:spPr>
          <a:xfrm>
            <a:off x="4544568" y="169164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8"/>
          <p:cNvSpPr/>
          <p:nvPr/>
        </p:nvSpPr>
        <p:spPr>
          <a:xfrm>
            <a:off x="4654296" y="960120"/>
            <a:ext cx="1325880" cy="1463040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4654296" y="1088136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SHAP</a:t>
            </a:r>
            <a:endParaRPr i="0" sz="11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Analysis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4654296" y="1618488"/>
            <a:ext cx="1325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Feature attribution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per firm-quarter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338" name="Google Shape;338;p8"/>
          <p:cNvCxnSpPr/>
          <p:nvPr/>
        </p:nvCxnSpPr>
        <p:spPr>
          <a:xfrm>
            <a:off x="5980176" y="169164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8"/>
          <p:cNvSpPr/>
          <p:nvPr/>
        </p:nvSpPr>
        <p:spPr>
          <a:xfrm>
            <a:off x="6089904" y="960120"/>
            <a:ext cx="1325880" cy="1463040"/>
          </a:xfrm>
          <a:prstGeom prst="rect">
            <a:avLst/>
          </a:prstGeom>
          <a:solidFill>
            <a:srgbClr val="9A6F00"/>
          </a:solidFill>
          <a:ln cap="flat" cmpd="sng" w="1270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6089904" y="1088136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Ghost</a:t>
            </a:r>
            <a:endParaRPr i="0" sz="11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Intensity Score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6089904" y="1618488"/>
            <a:ext cx="1325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Pred fill rate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→ percentile rank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→ 0–1 score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342" name="Google Shape;342;p8"/>
          <p:cNvCxnSpPr/>
          <p:nvPr/>
        </p:nvCxnSpPr>
        <p:spPr>
          <a:xfrm>
            <a:off x="7415784" y="169164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8"/>
          <p:cNvSpPr/>
          <p:nvPr/>
        </p:nvSpPr>
        <p:spPr>
          <a:xfrm>
            <a:off x="7525512" y="960120"/>
            <a:ext cx="1325880" cy="146304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7525512" y="1088136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GMM</a:t>
            </a:r>
            <a:endParaRPr i="0" sz="11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Validation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7525512" y="1618488"/>
            <a:ext cx="1325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k=7 clusters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validates ghost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behaviour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57200" y="2606040"/>
            <a:ext cx="8229600" cy="22402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457200" y="2606040"/>
            <a:ext cx="91440" cy="224028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658368" y="2715768"/>
            <a:ext cx="7818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05C3B"/>
                </a:solidFill>
              </a:rPr>
              <a:t>Trading Strategy: Walk-Forward Backtest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658368" y="3090672"/>
            <a:ext cx="91440" cy="320040"/>
          </a:xfrm>
          <a:prstGeom prst="rect">
            <a:avLst/>
          </a:prstGeom>
          <a:solidFill>
            <a:srgbClr val="AD1520"/>
          </a:solidFill>
          <a:ln cap="flat" cmpd="sng" w="1270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822960" y="3090672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Long High Ghost: Long top-decile ghost firms (anomaly persistence)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658368" y="3621024"/>
            <a:ext cx="91440" cy="32004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822960" y="3621024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Long Low Ghost: Long genuine-hirer firms (quality signal)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658368" y="4151376"/>
            <a:ext cx="91440" cy="320040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822960" y="415137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Long / Short: Long Low Ghost vs Short High Ghost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4773168" y="3090672"/>
            <a:ext cx="91440" cy="320040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4937760" y="3090672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Ghost Barbell: Long both extremes (High + Low Ghost)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4773168" y="3621024"/>
            <a:ext cx="91440" cy="320040"/>
          </a:xfrm>
          <a:prstGeom prst="rect">
            <a:avLst/>
          </a:prstGeom>
          <a:solidFill>
            <a:srgbClr val="9A6F00"/>
          </a:solidFill>
          <a:ln cap="flat" cmpd="sng" w="1270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4937760" y="3621024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Ghost Momentum: Sort on changes in ghost intensity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4773168" y="4151376"/>
            <a:ext cx="91440" cy="32004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4937760" y="415137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Threshold (is_ghost): Binary flag based on 21st-pct threshold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9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457200" y="287333"/>
            <a:ext cx="8046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700" u="none" cap="none" strike="noStrike">
                <a:solidFill>
                  <a:srgbClr val="005C3B"/>
                </a:solidFill>
              </a:rPr>
              <a:t>DATA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457200" y="960120"/>
            <a:ext cx="1965960" cy="11887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457200" y="960120"/>
            <a:ext cx="1965960" cy="54864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457200" y="1051560"/>
            <a:ext cx="1965960" cy="618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5C3B"/>
                </a:solidFill>
              </a:rPr>
              <a:t>310,821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548640" y="1673352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job postings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(unified, deduplicated)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2514600" y="960120"/>
            <a:ext cx="1965960" cy="11887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2514600" y="960120"/>
            <a:ext cx="1965960" cy="54864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2514600" y="1051560"/>
            <a:ext cx="1965960" cy="618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2145"/>
                </a:solidFill>
              </a:rPr>
              <a:t>2,919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2606040" y="1673352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US public firms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with tickers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4562856" y="960120"/>
            <a:ext cx="1965960" cy="11887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4562856" y="960120"/>
            <a:ext cx="1965960" cy="54864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4562856" y="1051560"/>
            <a:ext cx="1965960" cy="618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1F6095"/>
                </a:solidFill>
              </a:rPr>
              <a:t>1,017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4654296" y="1673352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firms with ≥3 postings/qtr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entering the model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6601968" y="960120"/>
            <a:ext cx="1965960" cy="11887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6601968" y="960120"/>
            <a:ext cx="1965960" cy="54864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6601968" y="1051560"/>
            <a:ext cx="1965960" cy="618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52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7A52"/>
                </a:solidFill>
              </a:rPr>
              <a:t>2009–24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6693408" y="1673352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temporal coverage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15 years of data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457200" y="23317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05C3B"/>
                </a:solidFill>
              </a:rPr>
              <a:t>Key Feature Sets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graphicFrame>
        <p:nvGraphicFramePr>
          <p:cNvPr id="387" name="Google Shape;387;p9"/>
          <p:cNvGraphicFramePr/>
          <p:nvPr/>
        </p:nvGraphicFramePr>
        <p:xfrm>
          <a:off x="457200" y="2651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{92005600-F0F1-4CD3-83A6-77999014D7D3}</a:tableStyleId>
              </a:tblPr>
              <a:tblGrid>
                <a:gridCol w="1188725"/>
                <a:gridCol w="5303525"/>
                <a:gridCol w="1737350"/>
              </a:tblGrid>
              <a:tr h="52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mbr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Track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mbr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mbr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Source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Posting Behavioural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num_postings, avg/median duration, still_active_rate, salary_disclosure_rate, avg_salary, total/avg_expected_hires, role_diversity, remote_rate  (10 features)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Unified postings (COSMOS)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Company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headcount, headcount_growth_4q (YoY %), log_headcount, naics_int  (4 features)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Individual positions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Outcome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actual_inflows Q+1 (regression target); actual_fill_rate for validation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Individual positions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FEATURE ENGINEERING &amp; XGBOOST MODEL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Target: actual inflows Q+1  |  Train: 7,167 rows (813 firms)  |  Val: 884  |  Test: 886  |  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57200" y="946395"/>
            <a:ext cx="475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5C3B"/>
                </a:solidFill>
              </a:rPr>
              <a:t>Feature Matrix — 14 features, firm-quarter level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57200" y="1280150"/>
            <a:ext cx="4118100" cy="283500"/>
          </a:xfrm>
          <a:prstGeom prst="rect">
            <a:avLst/>
          </a:prstGeom>
          <a:solidFill>
            <a:srgbClr val="F6FAF8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566928" y="132588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num_postings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2029968" y="132588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Volume without hires = suspicious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457200" y="1586476"/>
            <a:ext cx="4118100" cy="28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566928" y="163220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avg/median_duration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2029968" y="1632204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Longer duration = lower fill intent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457200" y="1892802"/>
            <a:ext cx="4118100" cy="283500"/>
          </a:xfrm>
          <a:prstGeom prst="rect">
            <a:avLst/>
          </a:prstGeom>
          <a:solidFill>
            <a:srgbClr val="F6FAF8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566928" y="193852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still_active_rate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2029968" y="19385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Behavioural ghost signal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457200" y="2199128"/>
            <a:ext cx="4118100" cy="28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566928" y="224485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salary_disc_rate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2029968" y="224485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Low disclosure → low commitment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457200" y="2505453"/>
            <a:ext cx="4118100" cy="283500"/>
          </a:xfrm>
          <a:prstGeom prst="rect">
            <a:avLst/>
          </a:prstGeom>
          <a:solidFill>
            <a:srgbClr val="F6FAF8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566928" y="255117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avg_salary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2029968" y="255117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Higher salary → more genuine roles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457200" y="2811779"/>
            <a:ext cx="4118100" cy="28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566928" y="285750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total/avg_exp_hires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2029968" y="285750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Expected fill, per posting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457200" y="3118105"/>
            <a:ext cx="4118100" cy="283500"/>
          </a:xfrm>
          <a:prstGeom prst="rect">
            <a:avLst/>
          </a:prstGeom>
          <a:solidFill>
            <a:srgbClr val="F6FAF8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566928" y="316382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role_diversity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2029968" y="3163824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Low diversity = repeated ghost posting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457200" y="3424431"/>
            <a:ext cx="4118100" cy="28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566928" y="347014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remote_rate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2029968" y="347014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Context control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457200" y="3730757"/>
            <a:ext cx="4118100" cy="283500"/>
          </a:xfrm>
          <a:prstGeom prst="rect">
            <a:avLst/>
          </a:prstGeom>
          <a:solidFill>
            <a:srgbClr val="F6FAF8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457200" y="3730752"/>
            <a:ext cx="54864" cy="283464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566928" y="377647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headcount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2029968" y="37764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#1 SHAP driver — size predicts hires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457200" y="4037083"/>
            <a:ext cx="4118100" cy="28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457200" y="4037076"/>
            <a:ext cx="54864" cy="283464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566928" y="408279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log_headcount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2029968" y="408279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#2 SHAP driver — log firm size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457200" y="4343408"/>
            <a:ext cx="4118100" cy="283500"/>
          </a:xfrm>
          <a:prstGeom prst="rect">
            <a:avLst/>
          </a:prstGeom>
          <a:solidFill>
            <a:srgbClr val="F6FAF8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457200" y="4343400"/>
            <a:ext cx="54864" cy="283464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566928" y="438912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headcount_growth_4q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2029968" y="438912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#3 SHAP — growing firms hire more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457200" y="4649734"/>
            <a:ext cx="4118100" cy="28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566928" y="469544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naics_int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2029968" y="4695444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Industry controls hiring rates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4699950" y="960125"/>
            <a:ext cx="4288500" cy="3886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4699950" y="960125"/>
            <a:ext cx="4288500" cy="549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4809912" y="1051565"/>
            <a:ext cx="406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005C3B"/>
                </a:solidFill>
              </a:rPr>
              <a:t>Model Output  —  Test Set  &amp;  Ghost Score Distribution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441" name="Google Shape;441;p10"/>
          <p:cNvCxnSpPr/>
          <p:nvPr/>
        </p:nvCxnSpPr>
        <p:spPr>
          <a:xfrm>
            <a:off x="4805540" y="3712469"/>
            <a:ext cx="3907200" cy="0"/>
          </a:xfrm>
          <a:prstGeom prst="straightConnector1">
            <a:avLst/>
          </a:prstGeom>
          <a:noFill/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10"/>
          <p:cNvSpPr/>
          <p:nvPr/>
        </p:nvSpPr>
        <p:spPr>
          <a:xfrm>
            <a:off x="4809912" y="3767333"/>
            <a:ext cx="126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950"/>
              <a:buFont typeface="Cambria"/>
              <a:buNone/>
            </a:pPr>
            <a:r>
              <a:rPr b="1" i="0" lang="en-US" sz="950" u="none" cap="none" strike="noStrike">
                <a:solidFill>
                  <a:srgbClr val="1F6095"/>
                </a:solidFill>
              </a:rPr>
              <a:t>Test R²: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5558777" y="3767333"/>
            <a:ext cx="2859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Times New Roman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0.486   MAE = 3.1  (XGBoost)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4809912" y="4014221"/>
            <a:ext cx="126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950"/>
              <a:buFont typeface="Cambria"/>
              <a:buNone/>
            </a:pPr>
            <a:r>
              <a:rPr b="1" i="0" lang="en-US" sz="950" u="none" cap="none" strike="noStrike">
                <a:solidFill>
                  <a:srgbClr val="1F6095"/>
                </a:solidFill>
              </a:rPr>
              <a:t>vs Ridge: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5558777" y="4014221"/>
            <a:ext cx="2859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Times New Roman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Test R² = 0.279  (baseline)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4809912" y="4261109"/>
            <a:ext cx="126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950"/>
              <a:buFont typeface="Cambria"/>
              <a:buNone/>
            </a:pPr>
            <a:r>
              <a:rPr b="1" i="0" lang="en-US" sz="950" u="none" cap="none" strike="noStrike">
                <a:solidFill>
                  <a:srgbClr val="1F6095"/>
                </a:solidFill>
              </a:rPr>
              <a:t>Ghost flag: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5558777" y="4261109"/>
            <a:ext cx="2859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Times New Roman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43 / 204 firms  (21.0%,  score &gt; 0.10)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pic>
        <p:nvPicPr>
          <p:cNvPr id="448" name="Google Shape;448;p10" title="model_and_ghost_sco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963" y="1550130"/>
            <a:ext cx="4288486" cy="19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SHAP FEATURE ATTRIBUTION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SHAP beeswarm on 886 test samples — magnitude (x-axis) and direction (red=high value, blue=low value) per feature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457200" y="960120"/>
            <a:ext cx="8229600" cy="53035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594360" y="1024128"/>
            <a:ext cx="7955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i="0" lang="en-US" sz="1100" u="none" cap="none" strike="noStrike">
                <a:solidFill>
                  <a:srgbClr val="FFFFFF"/>
                </a:solidFill>
              </a:rPr>
              <a:t>Firm size (headcount, log_headcount) overwhelmingly drives predicted inflows. Among ghost-specific behavioural features, high still_active_rate pushes predictions downward (left of zero) — confirming it captures low-fill behaviour.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461" name="Google Shape;4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2074" y="1559063"/>
            <a:ext cx="5176976" cy="329182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1"/>
          <p:cNvSpPr/>
          <p:nvPr/>
        </p:nvSpPr>
        <p:spPr>
          <a:xfrm>
            <a:off x="457200" y="481888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850"/>
              <a:buFont typeface="Cambria"/>
              <a:buNone/>
            </a:pPr>
            <a:r>
              <a:rPr i="1" lang="en-US" sz="850" u="none" cap="none" strike="noStrike">
                <a:solidFill>
                  <a:srgbClr val="4E6057"/>
                </a:solidFill>
              </a:rPr>
              <a:t>Red = high feature value → pushes prediction up (↑ inflows).  Blue = low value.  Dots left of zero reduce predicted inflows — key ghost signal for still_active_rate.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2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GMM CLUSTER VALIDATION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Gaussian Mixture Model on 14 features · 174 firms · BIC optimal k=7 · ghost behaviour is systematic across multiple profiles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457200" y="9601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5C3B"/>
                </a:solidFill>
              </a:rPr>
              <a:t>Model Selection (BIC/AIC)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474" name="Google Shape;4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43584"/>
            <a:ext cx="374904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2"/>
          <p:cNvSpPr/>
          <p:nvPr/>
        </p:nvSpPr>
        <p:spPr>
          <a:xfrm>
            <a:off x="4343400" y="9601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5C3B"/>
                </a:solidFill>
              </a:rPr>
              <a:t>Cluster Profiles  (z-scored feature means)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476" name="Google Shape;47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243584"/>
            <a:ext cx="452628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2"/>
          <p:cNvSpPr/>
          <p:nvPr/>
        </p:nvSpPr>
        <p:spPr>
          <a:xfrm>
            <a:off x="457200" y="3840480"/>
            <a:ext cx="8229600" cy="987552"/>
          </a:xfrm>
          <a:prstGeom prst="rect">
            <a:avLst/>
          </a:prstGeom>
          <a:solidFill>
            <a:srgbClr val="D4EDE2"/>
          </a:solidFill>
          <a:ln cap="flat" cmpd="sng" w="1015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"/>
          <p:cNvSpPr/>
          <p:nvPr/>
        </p:nvSpPr>
        <p:spPr>
          <a:xfrm>
            <a:off x="457200" y="3840480"/>
            <a:ext cx="91440" cy="98755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658368" y="3913632"/>
            <a:ext cx="78181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5C3B"/>
                </a:solidFill>
              </a:rPr>
              <a:t>Key Finding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658368" y="4169664"/>
            <a:ext cx="7818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k=7 selected by BIC. Clusters 3 (long duration, 44% ghost) and 4 (small firms, 50% ghost) are clearest ghost groups; Cluster 0 is near-purely genuine (1.6%). Cluster 5 (</a:t>
            </a:r>
            <a:r>
              <a:rPr lang="en-US" sz="1000">
                <a:solidFill>
                  <a:srgbClr val="1A2618"/>
                </a:solidFill>
              </a:rPr>
              <a:t>G</a:t>
            </a:r>
            <a:r>
              <a:rPr i="0" lang="en-US" sz="1000" u="none" cap="none" strike="noStrike">
                <a:solidFill>
                  <a:srgbClr val="1A2618"/>
                </a:solidFill>
              </a:rPr>
              <a:t>reen, far-right column in heatmap) shows high headcount + strong headcount growth — the high-volume genuine hirer. Ghost behaviour is systematic and learnable — it manifests in distinct structural profiles, not as random noise.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3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3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GHOST INTENSITY RANKINGS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Actual vs predicted fill rate · 204 firms · blue = actual fill rate · orange = predicted fill rate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3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457200" y="95097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1520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AD1520"/>
                </a:solidFill>
              </a:rPr>
              <a:t>Most Ghost-Like  (lowest predicted fill rate)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4663440" y="950976"/>
            <a:ext cx="4297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5C3B"/>
                </a:solidFill>
              </a:rPr>
              <a:t>Most Genuine Hirers  (highest predicted fill rate)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493" name="Google Shape;4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225296"/>
            <a:ext cx="4251960" cy="283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4" name="Google Shape;4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1225296"/>
            <a:ext cx="43434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3"/>
          <p:cNvSpPr/>
          <p:nvPr/>
        </p:nvSpPr>
        <p:spPr>
          <a:xfrm>
            <a:off x="457200" y="4151376"/>
            <a:ext cx="8229600" cy="804672"/>
          </a:xfrm>
          <a:prstGeom prst="rect">
            <a:avLst/>
          </a:prstGeom>
          <a:solidFill>
            <a:srgbClr val="D4EDE2"/>
          </a:solidFill>
          <a:ln cap="flat" cmpd="sng" w="1015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3"/>
          <p:cNvSpPr/>
          <p:nvPr/>
        </p:nvSpPr>
        <p:spPr>
          <a:xfrm>
            <a:off x="457200" y="4151376"/>
            <a:ext cx="91440" cy="80467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3"/>
          <p:cNvSpPr/>
          <p:nvPr/>
        </p:nvSpPr>
        <p:spPr>
          <a:xfrm>
            <a:off x="678658" y="4114935"/>
            <a:ext cx="7818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5C3B"/>
                </a:solidFill>
              </a:rPr>
              <a:t>Interpretation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658368" y="4391257"/>
            <a:ext cx="7818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1A2618"/>
                </a:solidFill>
              </a:rPr>
              <a:t>Ghost-like firms (BFAM, CPRT, HRB, COKE, SRCL…) are established service and consumer-facing companies with large posting pipelines but very low fill rates — predicted 0.03–0.19 hires per posting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1A2618"/>
                </a:solidFill>
              </a:rPr>
              <a:t>Genuine hirers (EXPI, F, LUV, DAL, BX…) convert aggressively — predicted fill rates approaching or exceeding 1.0 hire per posting per quarter, confirmed by high actual fill rates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D28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"/>
          <p:cNvSpPr/>
          <p:nvPr/>
        </p:nvSpPr>
        <p:spPr>
          <a:xfrm>
            <a:off x="457200" y="457200"/>
            <a:ext cx="1828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8000"/>
              <a:buFont typeface="Times New Roman"/>
              <a:buNone/>
            </a:pPr>
            <a:r>
              <a:rPr b="1" i="0" lang="en-US" sz="8000" u="none" cap="none" strike="noStrike">
                <a:solidFill>
                  <a:srgbClr val="005C3B"/>
                </a:solidFill>
              </a:rPr>
              <a:t>03</a:t>
            </a:r>
            <a:endParaRPr i="0" sz="8000" u="none" cap="none" strike="noStrike">
              <a:solidFill>
                <a:schemeClr val="dk1"/>
              </a:solidFill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457200" y="192024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Empirical Results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507" name="Google Shape;507;p14"/>
          <p:cNvCxnSpPr/>
          <p:nvPr/>
        </p:nvCxnSpPr>
        <p:spPr>
          <a:xfrm>
            <a:off x="457200" y="3090672"/>
            <a:ext cx="7772400" cy="0"/>
          </a:xfrm>
          <a:prstGeom prst="straightConnector1">
            <a:avLst/>
          </a:prstGeom>
          <a:noFill/>
          <a:ln cap="flat" cmpd="sng" w="152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p14"/>
          <p:cNvSpPr/>
          <p:nvPr/>
        </p:nvSpPr>
        <p:spPr>
          <a:xfrm>
            <a:off x="457200" y="321868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400"/>
              <a:buFont typeface="Cambria"/>
              <a:buNone/>
            </a:pPr>
            <a:r>
              <a:rPr i="0" lang="en-US" sz="1400" u="none" cap="none" strike="noStrike">
                <a:solidFill>
                  <a:srgbClr val="7BAF96"/>
                </a:solidFill>
              </a:rPr>
              <a:t>Walk-forward backtest · strategy performance · concentration analysis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5029200" y="4663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93e1c57a8_2_7"/>
          <p:cNvSpPr/>
          <p:nvPr/>
        </p:nvSpPr>
        <p:spPr>
          <a:xfrm>
            <a:off x="0" y="0"/>
            <a:ext cx="9144000" cy="822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d93e1c57a8_2_7"/>
          <p:cNvSpPr/>
          <p:nvPr/>
        </p:nvSpPr>
        <p:spPr>
          <a:xfrm>
            <a:off x="457200" y="137160"/>
            <a:ext cx="685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05C3B"/>
                </a:solidFill>
              </a:rPr>
              <a:t>WALK-FORWARD BACKTEST </a:t>
            </a:r>
            <a:r>
              <a:rPr b="1" lang="en-US" sz="1800">
                <a:solidFill>
                  <a:srgbClr val="005C3B"/>
                </a:solidFill>
              </a:rPr>
              <a:t>DESIGN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517" name="Google Shape;517;g3d93e1c57a8_2_7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d93e1c57a8_2_7"/>
          <p:cNvSpPr/>
          <p:nvPr/>
        </p:nvSpPr>
        <p:spPr>
          <a:xfrm>
            <a:off x="365760" y="5001768"/>
            <a:ext cx="8412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d93e1c57a8_2_7"/>
          <p:cNvSpPr/>
          <p:nvPr/>
        </p:nvSpPr>
        <p:spPr>
          <a:xfrm>
            <a:off x="457200" y="576100"/>
            <a:ext cx="8458200" cy="475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d93e1c57a8_2_7"/>
          <p:cNvSpPr/>
          <p:nvPr/>
        </p:nvSpPr>
        <p:spPr>
          <a:xfrm>
            <a:off x="594360" y="630964"/>
            <a:ext cx="795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</a:rPr>
              <a:t>Walk-forward backtest using the ghost_scores_fq.parquet output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</a:rPr>
              <a:t>combined with real historical stock prices from Yahoo Finance.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521" name="Google Shape;521;g3d93e1c57a8_2_7"/>
          <p:cNvSpPr/>
          <p:nvPr/>
        </p:nvSpPr>
        <p:spPr>
          <a:xfrm>
            <a:off x="457200" y="1125375"/>
            <a:ext cx="4114800" cy="1223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d93e1c57a8_2_7"/>
          <p:cNvSpPr/>
          <p:nvPr/>
        </p:nvSpPr>
        <p:spPr>
          <a:xfrm>
            <a:off x="594360" y="1216824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2145"/>
                </a:solidFill>
              </a:rPr>
              <a:t>1.  </a:t>
            </a:r>
            <a:r>
              <a:rPr b="1" lang="en-US" sz="1150">
                <a:solidFill>
                  <a:srgbClr val="002145"/>
                </a:solidFill>
              </a:rPr>
              <a:t>Daily Return Winsorisation</a:t>
            </a:r>
            <a:endParaRPr b="1" sz="1150">
              <a:solidFill>
                <a:srgbClr val="002145"/>
              </a:solidFill>
            </a:endParaRPr>
          </a:p>
        </p:txBody>
      </p:sp>
      <p:sp>
        <p:nvSpPr>
          <p:cNvPr id="523" name="Google Shape;523;g3d93e1c57a8_2_7"/>
          <p:cNvSpPr/>
          <p:nvPr/>
        </p:nvSpPr>
        <p:spPr>
          <a:xfrm>
            <a:off x="594360" y="1457619"/>
            <a:ext cx="38406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1A2618"/>
                </a:solidFill>
              </a:rPr>
              <a:t>At ±max_daily_ret (default ±25%), single bad adjusted-price data points can create 1000%+ single-day "returns" for delisted/reverse-merged tickers.  No real equity position in a diversified portfolio can move ±25% every day.</a:t>
            </a:r>
            <a:endParaRPr sz="1000">
              <a:solidFill>
                <a:srgbClr val="1A2618"/>
              </a:solidFill>
            </a:endParaRPr>
          </a:p>
        </p:txBody>
      </p:sp>
      <p:sp>
        <p:nvSpPr>
          <p:cNvPr id="524" name="Google Shape;524;g3d93e1c57a8_2_7"/>
          <p:cNvSpPr/>
          <p:nvPr/>
        </p:nvSpPr>
        <p:spPr>
          <a:xfrm>
            <a:off x="4800600" y="1125377"/>
            <a:ext cx="4114800" cy="1223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d93e1c57a8_2_7"/>
          <p:cNvSpPr/>
          <p:nvPr/>
        </p:nvSpPr>
        <p:spPr>
          <a:xfrm>
            <a:off x="4937760" y="1216824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1F6095"/>
                </a:solidFill>
              </a:rPr>
              <a:t>2.  </a:t>
            </a:r>
            <a:r>
              <a:rPr b="1" lang="en-US" sz="1150">
                <a:solidFill>
                  <a:srgbClr val="1F6095"/>
                </a:solidFill>
              </a:rPr>
              <a:t>Volatility Filter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526" name="Google Shape;526;g3d93e1c57a8_2_7"/>
          <p:cNvSpPr/>
          <p:nvPr/>
        </p:nvSpPr>
        <p:spPr>
          <a:xfrm>
            <a:off x="4937750" y="1527724"/>
            <a:ext cx="38406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1A2618"/>
                </a:solidFill>
              </a:rPr>
              <a:t>Tickers whose trailing 252-day ann. vol exceeds vol_filter_threshold (default 150%) are dropped before the backtest.</a:t>
            </a:r>
            <a:endParaRPr sz="1000">
              <a:solidFill>
                <a:srgbClr val="1A2618"/>
              </a:solidFill>
            </a:endParaRPr>
          </a:p>
        </p:txBody>
      </p:sp>
      <p:sp>
        <p:nvSpPr>
          <p:cNvPr id="527" name="Google Shape;527;g3d93e1c57a8_2_7"/>
          <p:cNvSpPr/>
          <p:nvPr/>
        </p:nvSpPr>
        <p:spPr>
          <a:xfrm>
            <a:off x="457200" y="2420777"/>
            <a:ext cx="4114800" cy="1223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d93e1c57a8_2_7"/>
          <p:cNvSpPr/>
          <p:nvPr/>
        </p:nvSpPr>
        <p:spPr>
          <a:xfrm>
            <a:off x="457200" y="2420784"/>
            <a:ext cx="4114800" cy="549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d93e1c57a8_2_7"/>
          <p:cNvSpPr/>
          <p:nvPr/>
        </p:nvSpPr>
        <p:spPr>
          <a:xfrm>
            <a:off x="594360" y="2512224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5C3B"/>
                </a:solidFill>
              </a:rPr>
              <a:t>3.  </a:t>
            </a:r>
            <a:r>
              <a:rPr b="1" lang="en-US" sz="1150">
                <a:solidFill>
                  <a:srgbClr val="005C3B"/>
                </a:solidFill>
              </a:rPr>
              <a:t>Liquidity Filter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530" name="Google Shape;530;g3d93e1c57a8_2_7"/>
          <p:cNvSpPr/>
          <p:nvPr/>
        </p:nvSpPr>
        <p:spPr>
          <a:xfrm>
            <a:off x="594350" y="2823124"/>
            <a:ext cx="38406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1A2618"/>
                </a:solidFill>
              </a:rPr>
              <a:t>Tickers with avg daily volume below min_adv_usd (default $1M) are dropped.  These names are untradeable in size.</a:t>
            </a:r>
            <a:endParaRPr sz="1000">
              <a:solidFill>
                <a:srgbClr val="1A261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t/>
            </a:r>
            <a:endParaRPr sz="1000">
              <a:solidFill>
                <a:srgbClr val="1A2618"/>
              </a:solidFill>
            </a:endParaRPr>
          </a:p>
        </p:txBody>
      </p:sp>
      <p:sp>
        <p:nvSpPr>
          <p:cNvPr id="531" name="Google Shape;531;g3d93e1c57a8_2_7"/>
          <p:cNvSpPr/>
          <p:nvPr/>
        </p:nvSpPr>
        <p:spPr>
          <a:xfrm>
            <a:off x="4800600" y="2420777"/>
            <a:ext cx="4114800" cy="1223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d93e1c57a8_2_7"/>
          <p:cNvSpPr/>
          <p:nvPr/>
        </p:nvSpPr>
        <p:spPr>
          <a:xfrm>
            <a:off x="4800600" y="2420784"/>
            <a:ext cx="4114800" cy="54900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d93e1c57a8_2_7"/>
          <p:cNvSpPr/>
          <p:nvPr/>
        </p:nvSpPr>
        <p:spPr>
          <a:xfrm>
            <a:off x="4937760" y="2512224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52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7A52"/>
                </a:solidFill>
              </a:rPr>
              <a:t>4.  </a:t>
            </a:r>
            <a:r>
              <a:rPr b="1" lang="en-US" sz="1150">
                <a:solidFill>
                  <a:srgbClr val="007A52"/>
                </a:solidFill>
              </a:rPr>
              <a:t>Ticker Identity Check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534" name="Google Shape;534;g3d93e1c57a8_2_7"/>
          <p:cNvSpPr/>
          <p:nvPr/>
        </p:nvSpPr>
        <p:spPr>
          <a:xfrm>
            <a:off x="4937750" y="2823124"/>
            <a:ext cx="38406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lang="en-US" sz="1000">
                <a:solidFill>
                  <a:srgbClr val="1A2618"/>
                </a:solidFill>
              </a:rPr>
              <a:t>Cross-references the 'company' column from the ghost file against yfinance's longName.  Flags mismatches (reused tickers return data for the wrong company).</a:t>
            </a:r>
            <a:endParaRPr sz="1000">
              <a:solidFill>
                <a:srgbClr val="1A261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t/>
            </a:r>
            <a:endParaRPr sz="1000">
              <a:solidFill>
                <a:srgbClr val="1A2618"/>
              </a:solidFill>
            </a:endParaRPr>
          </a:p>
        </p:txBody>
      </p:sp>
      <p:sp>
        <p:nvSpPr>
          <p:cNvPr id="535" name="Google Shape;535;g3d93e1c57a8_2_7"/>
          <p:cNvSpPr/>
          <p:nvPr/>
        </p:nvSpPr>
        <p:spPr>
          <a:xfrm>
            <a:off x="457250" y="3844850"/>
            <a:ext cx="8458200" cy="993000"/>
          </a:xfrm>
          <a:prstGeom prst="rect">
            <a:avLst/>
          </a:prstGeom>
          <a:solidFill>
            <a:srgbClr val="FFFFFF"/>
          </a:solidFill>
          <a:ln cap="flat" cmpd="sng" w="34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29920" rotWithShape="0" algn="bl" dir="8100000" dist="8549">
              <a:srgbClr val="000000">
                <a:alpha val="10200"/>
              </a:srgbClr>
            </a:outerShdw>
          </a:effectLst>
        </p:spPr>
        <p:txBody>
          <a:bodyPr anchorCtr="0" anchor="ctr" bIns="30775" lIns="30775" spcFirstLastPara="1" rIns="30775" wrap="square" tIns="3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1"/>
          </a:p>
        </p:txBody>
      </p:sp>
      <p:sp>
        <p:nvSpPr>
          <p:cNvPr id="536" name="Google Shape;536;g3d93e1c57a8_2_7"/>
          <p:cNvSpPr/>
          <p:nvPr/>
        </p:nvSpPr>
        <p:spPr>
          <a:xfrm>
            <a:off x="457250" y="3844850"/>
            <a:ext cx="8458200" cy="36900"/>
          </a:xfrm>
          <a:prstGeom prst="rect">
            <a:avLst/>
          </a:prstGeom>
          <a:solidFill>
            <a:srgbClr val="005C3B"/>
          </a:solidFill>
          <a:ln cap="flat" cmpd="sng" w="427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775" lIns="30775" spcFirstLastPara="1" rIns="30775" wrap="square" tIns="3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1"/>
          </a:p>
        </p:txBody>
      </p:sp>
      <p:sp>
        <p:nvSpPr>
          <p:cNvPr id="537" name="Google Shape;537;g3d93e1c57a8_2_7"/>
          <p:cNvSpPr/>
          <p:nvPr/>
        </p:nvSpPr>
        <p:spPr>
          <a:xfrm>
            <a:off x="594310" y="3946075"/>
            <a:ext cx="38406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005C3B"/>
                </a:solidFill>
              </a:rPr>
              <a:t>5. No Lookahead Bias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538" name="Google Shape;538;g3d93e1c57a8_2_7"/>
          <p:cNvSpPr/>
          <p:nvPr/>
        </p:nvSpPr>
        <p:spPr>
          <a:xfrm>
            <a:off x="594300" y="4188100"/>
            <a:ext cx="81840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1A2618"/>
                </a:solidFill>
              </a:rPr>
              <a:t>At every rebalancing date T, only ghost scores whose available_date (= quarter_end + publication_lag_days) &lt;= T are used. For each ticker, the MOST RECENT available quarter's score is selected.</a:t>
            </a:r>
            <a:endParaRPr sz="1000">
              <a:solidFill>
                <a:srgbClr val="1A2618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5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457200" y="137160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05C3B"/>
                </a:solidFill>
              </a:rPr>
              <a:t>WALK-FORWARD BACKTEST RESULTS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457200" y="54864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4E6057"/>
                </a:solidFill>
              </a:rPr>
              <a:t>No lookahead bias  ·  features from Q predict returns in Q+1  ·  20 bps transaction cost  ·  vol filter &gt;150% ann.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457200" y="804672"/>
            <a:ext cx="1920240" cy="475488"/>
          </a:xfrm>
          <a:prstGeom prst="rect">
            <a:avLst/>
          </a:prstGeom>
          <a:solidFill>
            <a:srgbClr val="AD1520"/>
          </a:solidFill>
          <a:ln cap="flat" cmpd="sng" w="1270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457200" y="82296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Long High Ghost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~220%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2514600" y="804672"/>
            <a:ext cx="1920240" cy="475488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2514600" y="82296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Ghost Barbell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+217%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4572000" y="804672"/>
            <a:ext cx="1920240" cy="475488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4572000" y="82296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Long Low Ghost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~120%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6629400" y="804672"/>
            <a:ext cx="1920240" cy="475488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6629400" y="82296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SPY (Buy &amp; Hold)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+180%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7" name="Google Shape;557;p15"/>
          <p:cNvPicPr preferRelativeResize="0"/>
          <p:nvPr/>
        </p:nvPicPr>
        <p:blipFill rotWithShape="1">
          <a:blip r:embed="rId3">
            <a:alphaModFix/>
          </a:blip>
          <a:srcRect b="59654" l="0" r="0" t="7806"/>
          <a:stretch/>
        </p:blipFill>
        <p:spPr>
          <a:xfrm>
            <a:off x="365750" y="1366076"/>
            <a:ext cx="8312699" cy="3373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d93e1c57a8_3_526"/>
          <p:cNvSpPr/>
          <p:nvPr/>
        </p:nvSpPr>
        <p:spPr>
          <a:xfrm>
            <a:off x="0" y="0"/>
            <a:ext cx="9144000" cy="822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d93e1c57a8_3_526"/>
          <p:cNvSpPr/>
          <p:nvPr/>
        </p:nvSpPr>
        <p:spPr>
          <a:xfrm>
            <a:off x="457200" y="137160"/>
            <a:ext cx="685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05C3B"/>
                </a:solidFill>
              </a:rPr>
              <a:t>WALK-FORWARD BACKTEST RESULTS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565" name="Google Shape;565;g3d93e1c57a8_3_526"/>
          <p:cNvSpPr/>
          <p:nvPr/>
        </p:nvSpPr>
        <p:spPr>
          <a:xfrm>
            <a:off x="457200" y="548640"/>
            <a:ext cx="841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4E6057"/>
                </a:solidFill>
              </a:rPr>
              <a:t>No lookahead bias  ·  features from Q predict returns in Q+1  ·  20 bps transaction cost  ·  vol filter &gt;150% ann.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566" name="Google Shape;566;g3d93e1c57a8_3_526"/>
          <p:cNvSpPr/>
          <p:nvPr/>
        </p:nvSpPr>
        <p:spPr>
          <a:xfrm>
            <a:off x="457200" y="804672"/>
            <a:ext cx="1920300" cy="475500"/>
          </a:xfrm>
          <a:prstGeom prst="rect">
            <a:avLst/>
          </a:prstGeom>
          <a:solidFill>
            <a:srgbClr val="AD1520"/>
          </a:solidFill>
          <a:ln cap="flat" cmpd="sng" w="1270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d93e1c57a8_3_526"/>
          <p:cNvSpPr/>
          <p:nvPr/>
        </p:nvSpPr>
        <p:spPr>
          <a:xfrm>
            <a:off x="4572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Long High Ghost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~220%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68" name="Google Shape;568;g3d93e1c57a8_3_526"/>
          <p:cNvSpPr/>
          <p:nvPr/>
        </p:nvSpPr>
        <p:spPr>
          <a:xfrm>
            <a:off x="2514600" y="804672"/>
            <a:ext cx="1920300" cy="475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d93e1c57a8_3_526"/>
          <p:cNvSpPr/>
          <p:nvPr/>
        </p:nvSpPr>
        <p:spPr>
          <a:xfrm>
            <a:off x="25146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Ghost Barbell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+217%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70" name="Google Shape;570;g3d93e1c57a8_3_526"/>
          <p:cNvSpPr/>
          <p:nvPr/>
        </p:nvSpPr>
        <p:spPr>
          <a:xfrm>
            <a:off x="4572000" y="804672"/>
            <a:ext cx="1920300" cy="475500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d93e1c57a8_3_526"/>
          <p:cNvSpPr/>
          <p:nvPr/>
        </p:nvSpPr>
        <p:spPr>
          <a:xfrm>
            <a:off x="45720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Long Low Ghost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~120%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72" name="Google Shape;572;g3d93e1c57a8_3_526"/>
          <p:cNvSpPr/>
          <p:nvPr/>
        </p:nvSpPr>
        <p:spPr>
          <a:xfrm>
            <a:off x="6629400" y="804672"/>
            <a:ext cx="1920300" cy="47550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d93e1c57a8_3_526"/>
          <p:cNvSpPr/>
          <p:nvPr/>
        </p:nvSpPr>
        <p:spPr>
          <a:xfrm>
            <a:off x="66294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SPY (Buy &amp; Hold)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+180%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74" name="Google Shape;574;g3d93e1c57a8_3_526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d93e1c57a8_3_526"/>
          <p:cNvSpPr/>
          <p:nvPr/>
        </p:nvSpPr>
        <p:spPr>
          <a:xfrm>
            <a:off x="365760" y="5001768"/>
            <a:ext cx="8412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6" name="Google Shape;576;g3d93e1c57a8_3_526"/>
          <p:cNvPicPr preferRelativeResize="0"/>
          <p:nvPr/>
        </p:nvPicPr>
        <p:blipFill rotWithShape="1">
          <a:blip r:embed="rId3">
            <a:alphaModFix/>
          </a:blip>
          <a:srcRect b="28340" l="0" r="0" t="41831"/>
          <a:stretch/>
        </p:blipFill>
        <p:spPr>
          <a:xfrm>
            <a:off x="365750" y="1497825"/>
            <a:ext cx="8321102" cy="3095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g3d93e1c57a8_3_5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650" y="2950300"/>
            <a:ext cx="1285350" cy="11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d93e1c57a8_3_506"/>
          <p:cNvSpPr/>
          <p:nvPr/>
        </p:nvSpPr>
        <p:spPr>
          <a:xfrm>
            <a:off x="0" y="0"/>
            <a:ext cx="9144000" cy="822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d93e1c57a8_3_506"/>
          <p:cNvSpPr/>
          <p:nvPr/>
        </p:nvSpPr>
        <p:spPr>
          <a:xfrm>
            <a:off x="457200" y="137160"/>
            <a:ext cx="685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05C3B"/>
                </a:solidFill>
              </a:rPr>
              <a:t>WALK-FORWARD BACKTEST RESULTS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585" name="Google Shape;585;g3d93e1c57a8_3_506"/>
          <p:cNvSpPr/>
          <p:nvPr/>
        </p:nvSpPr>
        <p:spPr>
          <a:xfrm>
            <a:off x="457200" y="548640"/>
            <a:ext cx="841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4E6057"/>
                </a:solidFill>
              </a:rPr>
              <a:t>No lookahead bias  ·  features from Q predict returns in Q+1  ·  20 bps transaction cost  ·  vol filter &gt;150% ann.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586" name="Google Shape;586;g3d93e1c57a8_3_506"/>
          <p:cNvSpPr/>
          <p:nvPr/>
        </p:nvSpPr>
        <p:spPr>
          <a:xfrm>
            <a:off x="457200" y="804672"/>
            <a:ext cx="1920300" cy="475500"/>
          </a:xfrm>
          <a:prstGeom prst="rect">
            <a:avLst/>
          </a:prstGeom>
          <a:solidFill>
            <a:srgbClr val="AD1520"/>
          </a:solidFill>
          <a:ln cap="flat" cmpd="sng" w="1270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d93e1c57a8_3_506"/>
          <p:cNvSpPr/>
          <p:nvPr/>
        </p:nvSpPr>
        <p:spPr>
          <a:xfrm>
            <a:off x="4572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Long High Ghost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~220%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88" name="Google Shape;588;g3d93e1c57a8_3_506"/>
          <p:cNvSpPr/>
          <p:nvPr/>
        </p:nvSpPr>
        <p:spPr>
          <a:xfrm>
            <a:off x="2514600" y="804672"/>
            <a:ext cx="1920300" cy="475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d93e1c57a8_3_506"/>
          <p:cNvSpPr/>
          <p:nvPr/>
        </p:nvSpPr>
        <p:spPr>
          <a:xfrm>
            <a:off x="25146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Ghost Barbell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+217%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90" name="Google Shape;590;g3d93e1c57a8_3_506"/>
          <p:cNvSpPr/>
          <p:nvPr/>
        </p:nvSpPr>
        <p:spPr>
          <a:xfrm>
            <a:off x="4572000" y="804672"/>
            <a:ext cx="1920300" cy="475500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d93e1c57a8_3_506"/>
          <p:cNvSpPr/>
          <p:nvPr/>
        </p:nvSpPr>
        <p:spPr>
          <a:xfrm>
            <a:off x="45720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Long Low Ghost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~120%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92" name="Google Shape;592;g3d93e1c57a8_3_506"/>
          <p:cNvSpPr/>
          <p:nvPr/>
        </p:nvSpPr>
        <p:spPr>
          <a:xfrm>
            <a:off x="6629400" y="804672"/>
            <a:ext cx="1920300" cy="47550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d93e1c57a8_3_506"/>
          <p:cNvSpPr/>
          <p:nvPr/>
        </p:nvSpPr>
        <p:spPr>
          <a:xfrm>
            <a:off x="66294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SPY (Buy &amp; Hold)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+180%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94" name="Google Shape;594;g3d93e1c57a8_3_506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3d93e1c57a8_3_506"/>
          <p:cNvSpPr/>
          <p:nvPr/>
        </p:nvSpPr>
        <p:spPr>
          <a:xfrm>
            <a:off x="365760" y="5001768"/>
            <a:ext cx="8412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6" name="Google Shape;596;g3d93e1c57a8_3_506"/>
          <p:cNvPicPr preferRelativeResize="0"/>
          <p:nvPr/>
        </p:nvPicPr>
        <p:blipFill rotWithShape="1">
          <a:blip r:embed="rId3">
            <a:alphaModFix/>
          </a:blip>
          <a:srcRect b="0" l="2961" r="51827" t="71622"/>
          <a:stretch/>
        </p:blipFill>
        <p:spPr>
          <a:xfrm>
            <a:off x="115682" y="1243700"/>
            <a:ext cx="4364576" cy="3416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g3d93e1c57a8_3_506"/>
          <p:cNvPicPr preferRelativeResize="0"/>
          <p:nvPr/>
        </p:nvPicPr>
        <p:blipFill rotWithShape="1">
          <a:blip r:embed="rId3">
            <a:alphaModFix/>
          </a:blip>
          <a:srcRect b="0" l="54226" r="1051" t="73735"/>
          <a:stretch/>
        </p:blipFill>
        <p:spPr>
          <a:xfrm>
            <a:off x="4480257" y="1488538"/>
            <a:ext cx="4511801" cy="3304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6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6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INTERPRETING THE LONG HIGH GHOST PREMIUM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Why ghost-heavy firms outperform in the medium term — consistent with H2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6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457200" y="914400"/>
            <a:ext cx="8229600" cy="475488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6"/>
          <p:cNvSpPr/>
          <p:nvPr/>
        </p:nvSpPr>
        <p:spPr>
          <a:xfrm>
            <a:off x="594360" y="969264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i="0" lang="en-US" sz="1100" u="none" cap="none" strike="noStrike">
                <a:solidFill>
                  <a:srgbClr val="FFFFFF"/>
                </a:solidFill>
              </a:rPr>
              <a:t>Finding: Long High Ghost earns ~220% cumulative return (2019–2026), outpacing SPY (+180.1%). This is consistent with H2 and four well-grounded behavioural mechanisms.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457200" y="1517904"/>
            <a:ext cx="4114800" cy="14813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6"/>
          <p:cNvSpPr/>
          <p:nvPr/>
        </p:nvSpPr>
        <p:spPr>
          <a:xfrm>
            <a:off x="457200" y="1517904"/>
            <a:ext cx="4114800" cy="54864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6"/>
          <p:cNvSpPr/>
          <p:nvPr/>
        </p:nvSpPr>
        <p:spPr>
          <a:xfrm>
            <a:off x="594360" y="16093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2145"/>
                </a:solidFill>
              </a:rPr>
              <a:t>1.  Investor Attention Effect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594360" y="1920240"/>
            <a:ext cx="384048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Ghost-heavy firms post aggressively — high posting volume drives investor attention. Attention-grabbing stocks tend to earn positive near-term returns as retail and institutional buyers respond to visibility signals, independent of fundamental quality.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4800600" y="1517904"/>
            <a:ext cx="4114800" cy="14813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6"/>
          <p:cNvSpPr/>
          <p:nvPr/>
        </p:nvSpPr>
        <p:spPr>
          <a:xfrm>
            <a:off x="4800600" y="1517904"/>
            <a:ext cx="4114800" cy="54864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6"/>
          <p:cNvSpPr/>
          <p:nvPr/>
        </p:nvSpPr>
        <p:spPr>
          <a:xfrm>
            <a:off x="4937760" y="16093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1F6095"/>
                </a:solidFill>
              </a:rPr>
              <a:t>2.  Extrapolation of Growth Narratives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4937760" y="1920240"/>
            <a:ext cx="384048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Investors interpret posting volume as a growth signal and extrapolate it into earnings forecasts. Ghost firms look like growth stocks based on posting signals — they command a growth premium because growth expectations are systematically overweighted.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457200" y="3118104"/>
            <a:ext cx="4114800" cy="14813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6"/>
          <p:cNvSpPr/>
          <p:nvPr/>
        </p:nvSpPr>
        <p:spPr>
          <a:xfrm>
            <a:off x="457200" y="3118104"/>
            <a:ext cx="4114800" cy="54864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6"/>
          <p:cNvSpPr/>
          <p:nvPr/>
        </p:nvSpPr>
        <p:spPr>
          <a:xfrm>
            <a:off x="594360" y="32095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5C3B"/>
                </a:solidFill>
              </a:rPr>
              <a:t>3.  Limits to Arbitrage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621" name="Google Shape;621;p16"/>
          <p:cNvSpPr/>
          <p:nvPr/>
        </p:nvSpPr>
        <p:spPr>
          <a:xfrm>
            <a:off x="594360" y="3520440"/>
            <a:ext cx="384048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Even investors who detect the mispricing cannot profitably short ghost firms: borrowing costs are high, noise traders can push prices further before correction, and idiosyncratic volatility creates convergence risk that deters informed trading.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4800600" y="3118104"/>
            <a:ext cx="4114800" cy="14813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/>
          <p:nvPr/>
        </p:nvSpPr>
        <p:spPr>
          <a:xfrm>
            <a:off x="4800600" y="3118104"/>
            <a:ext cx="4114800" cy="54864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6"/>
          <p:cNvSpPr/>
          <p:nvPr/>
        </p:nvSpPr>
        <p:spPr>
          <a:xfrm>
            <a:off x="4937760" y="32095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52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7A52"/>
                </a:solidFill>
              </a:rPr>
              <a:t>4.  Signal Horizon Mismatch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4937760" y="3520440"/>
            <a:ext cx="384048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The fundamental correction — where earnings disappoint and hiring stalls are priced in — likely materialises on a 3–5 year horizon. Our quarterly rebalancing captures the persistence phase, not the eventual reversal.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900"/>
              <a:buFont typeface="Cambria"/>
              <a:buNone/>
            </a:pPr>
            <a:r>
              <a:rPr i="1" lang="en-US" sz="900" u="none" cap="none" strike="noStrike">
                <a:solidFill>
                  <a:srgbClr val="4E6057"/>
                </a:solidFill>
              </a:rPr>
              <a:t>Synthesis: H1 and H2 are not mutually exclusive. Ghost firms may earn a behavioural premium in the medium term while remaining fundamentally mispriced. Testing H1 requires longer event windows (3–5 yr) and factor-controlled returns.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7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7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STRATEGY PERFORMANCE SUMMARY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634" name="Google Shape;634;p17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10% concentration  ·  Walk-forward 2019–2026  ·  Transaction cost 20 bps  ·  SPY benchmark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7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graphicFrame>
        <p:nvGraphicFramePr>
          <p:cNvPr id="637" name="Google Shape;637;p17"/>
          <p:cNvGraphicFramePr/>
          <p:nvPr/>
        </p:nvGraphicFramePr>
        <p:xfrm>
          <a:off x="45720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{92005600-F0F1-4CD3-83A6-77999014D7D3}</a:tableStyleId>
              </a:tblPr>
              <a:tblGrid>
                <a:gridCol w="1417325"/>
                <a:gridCol w="1005850"/>
                <a:gridCol w="822950"/>
                <a:gridCol w="731525"/>
                <a:gridCol w="777250"/>
                <a:gridCol w="30175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Total Return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CAGR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Sharpe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Max DD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D1520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AD1520"/>
                          </a:solidFill>
                        </a:rPr>
                        <a:t>Long High Ghost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D1520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AD1520"/>
                          </a:solidFill>
                        </a:rPr>
                        <a:t>~220%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H2 mechanism: attention premium + growth narrative extrapolation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C3B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5C3B"/>
                          </a:solidFill>
                        </a:rPr>
                        <a:t>Ghost Barbell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C3B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5C3B"/>
                          </a:solidFill>
                        </a:rPr>
                        <a:t>+216.9%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+17.1%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0.84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−37.4%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Long both extremes — strongest risk-adjusted return of all strategies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A52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7A52"/>
                          </a:solidFill>
                        </a:rPr>
                        <a:t>Long Low Ghost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A52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7A52"/>
                          </a:solidFill>
                        </a:rPr>
                        <a:t>~120%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Quality signal: genuine hirers outperform over the long run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SPY Buy &amp; Hold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+180.1%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+15.2%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0.82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−33.7%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Passive benchmark — Ghost Barbell beats on return and Sharpe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Universe (EW)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+139.4%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+12.7%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0.64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−39.4%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i="1" lang="en-US" sz="1000" u="none" cap="none" strike="noStrike">
                          <a:solidFill>
                            <a:srgbClr val="4E6057"/>
                          </a:solidFill>
                        </a:rPr>
                        <a:t>Equal-weight universe — sampling-bias diagnostic vs SPY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Long / Short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D152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AD1520"/>
                          </a:solidFill>
                        </a:rPr>
                        <a:t>−22.1%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D152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AD1520"/>
                          </a:solidFill>
                        </a:rPr>
                        <a:t>−3.4%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D152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AD1520"/>
                          </a:solidFill>
                        </a:rPr>
                        <a:t>−0.32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D152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AD1520"/>
                          </a:solidFill>
                        </a:rPr>
                        <a:t>−43.4%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i="1" lang="en-US" sz="1000" u="none" cap="none" strike="noStrike">
                          <a:solidFill>
                            <a:srgbClr val="4E6057"/>
                          </a:solidFill>
                        </a:rPr>
                        <a:t>Short leg overwhelms — not viable without factor-neutral construction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8" name="Google Shape;638;p17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950"/>
              <a:buFont typeface="Cambria"/>
              <a:buNone/>
            </a:pPr>
            <a:r>
              <a:rPr i="1" lang="en-US" sz="950" u="none" cap="none" strike="noStrike">
                <a:solidFill>
                  <a:srgbClr val="4E6057"/>
                </a:solidFill>
              </a:rPr>
              <a:t>— = data in truncated output; chart-derived estimate shown.  Ghost Barbell (+217%, Sharpe 0.84) is the best-documented outperformer vs SPY (+180%, Sharpe 0.82).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8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8"/>
          <p:cNvSpPr/>
          <p:nvPr/>
        </p:nvSpPr>
        <p:spPr>
          <a:xfrm>
            <a:off x="457200" y="13716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5C3B"/>
                </a:solidFill>
              </a:rPr>
              <a:t>STRATEGY PERFORMANCE BY CONCENTRATION LEVEL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646" name="Google Shape;646;p18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4E6057"/>
                </a:solidFill>
              </a:rPr>
              <a:t>5% vs 10% vs 25% portfolio concentration  —  Sharpe ratio and max drawdown by strategy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647" name="Google Shape;647;p18"/>
          <p:cNvSpPr/>
          <p:nvPr/>
        </p:nvSpPr>
        <p:spPr>
          <a:xfrm>
            <a:off x="274320" y="4731783"/>
            <a:ext cx="8595300" cy="1554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8"/>
          <p:cNvSpPr/>
          <p:nvPr/>
        </p:nvSpPr>
        <p:spPr>
          <a:xfrm>
            <a:off x="457200" y="4740927"/>
            <a:ext cx="8321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mbria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</a:rPr>
              <a:t>Higher concentration (5%) sharpens return differences; Ghost Barbell and Long High Ghost are robust across all concentration levels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8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pic>
        <p:nvPicPr>
          <p:cNvPr id="651" name="Google Shape;651;p18"/>
          <p:cNvPicPr preferRelativeResize="0"/>
          <p:nvPr/>
        </p:nvPicPr>
        <p:blipFill rotWithShape="1">
          <a:blip r:embed="rId3">
            <a:alphaModFix/>
          </a:blip>
          <a:srcRect b="55406" l="0" r="0" t="23003"/>
          <a:stretch/>
        </p:blipFill>
        <p:spPr>
          <a:xfrm>
            <a:off x="462950" y="2776497"/>
            <a:ext cx="5809767" cy="1900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18"/>
          <p:cNvPicPr preferRelativeResize="0"/>
          <p:nvPr/>
        </p:nvPicPr>
        <p:blipFill rotWithShape="1">
          <a:blip r:embed="rId3">
            <a:alphaModFix/>
          </a:blip>
          <a:srcRect b="34760" l="33515" r="30617" t="44745"/>
          <a:stretch/>
        </p:blipFill>
        <p:spPr>
          <a:xfrm>
            <a:off x="6678199" y="2812897"/>
            <a:ext cx="2105801" cy="1822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18"/>
          <p:cNvPicPr preferRelativeResize="0"/>
          <p:nvPr/>
        </p:nvPicPr>
        <p:blipFill rotWithShape="1">
          <a:blip r:embed="rId3">
            <a:alphaModFix/>
          </a:blip>
          <a:srcRect b="77565" l="0" r="0" t="0"/>
          <a:stretch/>
        </p:blipFill>
        <p:spPr>
          <a:xfrm>
            <a:off x="462950" y="849200"/>
            <a:ext cx="5809767" cy="1974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18"/>
          <p:cNvPicPr preferRelativeResize="0"/>
          <p:nvPr/>
        </p:nvPicPr>
        <p:blipFill rotWithShape="1">
          <a:blip r:embed="rId3">
            <a:alphaModFix/>
          </a:blip>
          <a:srcRect b="34760" l="0" r="66851" t="44745"/>
          <a:stretch/>
        </p:blipFill>
        <p:spPr>
          <a:xfrm>
            <a:off x="6728430" y="1030132"/>
            <a:ext cx="1864729" cy="1746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d93e1c57a8_2_51"/>
          <p:cNvSpPr/>
          <p:nvPr/>
        </p:nvSpPr>
        <p:spPr>
          <a:xfrm>
            <a:off x="0" y="0"/>
            <a:ext cx="9144000" cy="822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d93e1c57a8_2_51"/>
          <p:cNvSpPr/>
          <p:nvPr/>
        </p:nvSpPr>
        <p:spPr>
          <a:xfrm>
            <a:off x="457200" y="137160"/>
            <a:ext cx="804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5C3B"/>
                </a:solidFill>
              </a:rPr>
              <a:t>STRATEGY PERFORMANCE BY CONCENTRATION LEVEL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662" name="Google Shape;662;g3d93e1c57a8_2_51"/>
          <p:cNvSpPr/>
          <p:nvPr/>
        </p:nvSpPr>
        <p:spPr>
          <a:xfrm>
            <a:off x="274320" y="4846320"/>
            <a:ext cx="8595300" cy="1554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d93e1c57a8_2_51"/>
          <p:cNvSpPr/>
          <p:nvPr/>
        </p:nvSpPr>
        <p:spPr>
          <a:xfrm>
            <a:off x="457200" y="4855464"/>
            <a:ext cx="8321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mbria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</a:rPr>
              <a:t>Higher concentration (5%) sharpens return differences; Ghost Barbell and Long High Ghost are robust across all concentration levels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sp>
        <p:nvSpPr>
          <p:cNvPr id="664" name="Google Shape;664;g3d93e1c57a8_2_51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d93e1c57a8_2_51"/>
          <p:cNvSpPr/>
          <p:nvPr/>
        </p:nvSpPr>
        <p:spPr>
          <a:xfrm>
            <a:off x="365760" y="5001768"/>
            <a:ext cx="8412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pic>
        <p:nvPicPr>
          <p:cNvPr id="666" name="Google Shape;666;g3d93e1c57a8_2_51"/>
          <p:cNvPicPr preferRelativeResize="0"/>
          <p:nvPr/>
        </p:nvPicPr>
        <p:blipFill rotWithShape="1">
          <a:blip r:embed="rId3">
            <a:alphaModFix/>
          </a:blip>
          <a:srcRect b="0" l="0" r="0" t="67383"/>
          <a:stretch/>
        </p:blipFill>
        <p:spPr>
          <a:xfrm>
            <a:off x="242937" y="432904"/>
            <a:ext cx="8658076" cy="427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D28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9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9"/>
          <p:cNvSpPr/>
          <p:nvPr/>
        </p:nvSpPr>
        <p:spPr>
          <a:xfrm>
            <a:off x="457200" y="457200"/>
            <a:ext cx="1828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8000"/>
              <a:buFont typeface="Times New Roman"/>
              <a:buNone/>
            </a:pPr>
            <a:r>
              <a:rPr b="1" i="0" lang="en-US" sz="8000" u="none" cap="none" strike="noStrike">
                <a:solidFill>
                  <a:srgbClr val="005C3B"/>
                </a:solidFill>
              </a:rPr>
              <a:t>04</a:t>
            </a:r>
            <a:endParaRPr i="0" sz="8000" u="none" cap="none" strike="noStrike">
              <a:solidFill>
                <a:schemeClr val="dk1"/>
              </a:solidFill>
            </a:endParaRPr>
          </a:p>
        </p:txBody>
      </p:sp>
      <p:sp>
        <p:nvSpPr>
          <p:cNvPr id="674" name="Google Shape;674;p19"/>
          <p:cNvSpPr/>
          <p:nvPr/>
        </p:nvSpPr>
        <p:spPr>
          <a:xfrm>
            <a:off x="457200" y="192024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Robustness, Stability</a:t>
            </a:r>
            <a:endParaRPr i="0" sz="36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&amp; Limitations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675" name="Google Shape;675;p19"/>
          <p:cNvCxnSpPr/>
          <p:nvPr/>
        </p:nvCxnSpPr>
        <p:spPr>
          <a:xfrm>
            <a:off x="457200" y="3090672"/>
            <a:ext cx="7772400" cy="0"/>
          </a:xfrm>
          <a:prstGeom prst="straightConnector1">
            <a:avLst/>
          </a:prstGeom>
          <a:noFill/>
          <a:ln cap="flat" cmpd="sng" w="152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6" name="Google Shape;676;p19"/>
          <p:cNvSpPr/>
          <p:nvPr/>
        </p:nvSpPr>
        <p:spPr>
          <a:xfrm>
            <a:off x="457200" y="321868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400"/>
              <a:buFont typeface="Cambria"/>
              <a:buNone/>
            </a:pPr>
            <a:r>
              <a:rPr i="0" lang="en-US" sz="1400" u="none" cap="none" strike="noStrike">
                <a:solidFill>
                  <a:srgbClr val="7BAF96"/>
                </a:solidFill>
              </a:rPr>
              <a:t>Failure modes · data constraints · out-of-sample caveats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677" name="Google Shape;677;p19"/>
          <p:cNvSpPr/>
          <p:nvPr/>
        </p:nvSpPr>
        <p:spPr>
          <a:xfrm>
            <a:off x="5029200" y="4663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d93e1c57a8_3_327"/>
          <p:cNvSpPr/>
          <p:nvPr/>
        </p:nvSpPr>
        <p:spPr>
          <a:xfrm>
            <a:off x="0" y="0"/>
            <a:ext cx="9144000" cy="82200"/>
          </a:xfrm>
          <a:prstGeom prst="rect">
            <a:avLst/>
          </a:prstGeom>
          <a:solidFill>
            <a:srgbClr val="005C3B"/>
          </a:solidFill>
          <a:ln cap="flat" cmpd="sng" w="95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d93e1c57a8_3_327"/>
          <p:cNvSpPr/>
          <p:nvPr/>
        </p:nvSpPr>
        <p:spPr>
          <a:xfrm>
            <a:off x="457200" y="228623"/>
            <a:ext cx="8046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  <a:latin typeface="Arial"/>
                <a:ea typeface="Arial"/>
                <a:cs typeface="Arial"/>
                <a:sym typeface="Arial"/>
              </a:rPr>
              <a:t>MODEL ACCURACY DIAGNOSTICS</a:t>
            </a:r>
            <a:endParaRPr/>
          </a:p>
        </p:txBody>
      </p:sp>
      <p:sp>
        <p:nvSpPr>
          <p:cNvPr id="684" name="Google Shape;684;g3d93e1c57a8_3_327"/>
          <p:cNvSpPr/>
          <p:nvPr/>
        </p:nvSpPr>
        <p:spPr>
          <a:xfrm>
            <a:off x="457200" y="620000"/>
            <a:ext cx="80466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E6057"/>
                </a:solidFill>
                <a:latin typeface="Arial"/>
                <a:ea typeface="Arial"/>
                <a:cs typeface="Arial"/>
                <a:sym typeface="Arial"/>
              </a:rPr>
              <a:t>Does the model actually predict hiring? Test set performance across multiple metrics</a:t>
            </a:r>
            <a:endParaRPr/>
          </a:p>
        </p:txBody>
      </p:sp>
      <p:sp>
        <p:nvSpPr>
          <p:cNvPr id="685" name="Google Shape;685;g3d93e1c57a8_3_327"/>
          <p:cNvSpPr/>
          <p:nvPr/>
        </p:nvSpPr>
        <p:spPr>
          <a:xfrm>
            <a:off x="457200" y="980000"/>
            <a:ext cx="2560200" cy="138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d93e1c57a8_3_327"/>
          <p:cNvSpPr/>
          <p:nvPr/>
        </p:nvSpPr>
        <p:spPr>
          <a:xfrm>
            <a:off x="457200" y="980000"/>
            <a:ext cx="2560200" cy="54900"/>
          </a:xfrm>
          <a:prstGeom prst="rect">
            <a:avLst/>
          </a:prstGeom>
          <a:solidFill>
            <a:srgbClr val="AD1520"/>
          </a:solidFill>
          <a:ln cap="flat" cmpd="sng" w="9525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d93e1c57a8_3_327"/>
          <p:cNvSpPr/>
          <p:nvPr/>
        </p:nvSpPr>
        <p:spPr>
          <a:xfrm>
            <a:off x="517475" y="1090000"/>
            <a:ext cx="24402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AD1520"/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  <a:endParaRPr/>
          </a:p>
        </p:txBody>
      </p:sp>
      <p:sp>
        <p:nvSpPr>
          <p:cNvPr id="688" name="Google Shape;688;g3d93e1c57a8_3_327"/>
          <p:cNvSpPr/>
          <p:nvPr/>
        </p:nvSpPr>
        <p:spPr>
          <a:xfrm>
            <a:off x="548640" y="1790000"/>
            <a:ext cx="23775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of predictions within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±5 actual hires</a:t>
            </a:r>
            <a:endParaRPr/>
          </a:p>
        </p:txBody>
      </p:sp>
      <p:sp>
        <p:nvSpPr>
          <p:cNvPr id="689" name="Google Shape;689;g3d93e1c57a8_3_327"/>
          <p:cNvSpPr/>
          <p:nvPr/>
        </p:nvSpPr>
        <p:spPr>
          <a:xfrm>
            <a:off x="3291840" y="980000"/>
            <a:ext cx="2560200" cy="138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g3d93e1c57a8_3_327"/>
          <p:cNvSpPr/>
          <p:nvPr/>
        </p:nvSpPr>
        <p:spPr>
          <a:xfrm>
            <a:off x="3291840" y="980000"/>
            <a:ext cx="2560200" cy="54900"/>
          </a:xfrm>
          <a:prstGeom prst="rect">
            <a:avLst/>
          </a:prstGeom>
          <a:solidFill>
            <a:srgbClr val="1F6095"/>
          </a:solidFill>
          <a:ln cap="flat" cmpd="sng" w="9525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g3d93e1c57a8_3_327"/>
          <p:cNvSpPr/>
          <p:nvPr/>
        </p:nvSpPr>
        <p:spPr>
          <a:xfrm>
            <a:off x="3352115" y="1090000"/>
            <a:ext cx="24402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1F6095"/>
                </a:solidFill>
                <a:latin typeface="Arial"/>
                <a:ea typeface="Arial"/>
                <a:cs typeface="Arial"/>
                <a:sym typeface="Arial"/>
              </a:rPr>
              <a:t>0.70</a:t>
            </a:r>
            <a:endParaRPr/>
          </a:p>
        </p:txBody>
      </p:sp>
      <p:sp>
        <p:nvSpPr>
          <p:cNvPr id="692" name="Google Shape;692;g3d93e1c57a8_3_327"/>
          <p:cNvSpPr/>
          <p:nvPr/>
        </p:nvSpPr>
        <p:spPr>
          <a:xfrm>
            <a:off x="3383280" y="1790000"/>
            <a:ext cx="23775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Spearman rank correlation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on test (rank quality)</a:t>
            </a:r>
            <a:endParaRPr/>
          </a:p>
        </p:txBody>
      </p:sp>
      <p:sp>
        <p:nvSpPr>
          <p:cNvPr id="693" name="Google Shape;693;g3d93e1c57a8_3_327"/>
          <p:cNvSpPr/>
          <p:nvPr/>
        </p:nvSpPr>
        <p:spPr>
          <a:xfrm>
            <a:off x="6126480" y="980000"/>
            <a:ext cx="2560200" cy="138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3d93e1c57a8_3_327"/>
          <p:cNvSpPr/>
          <p:nvPr/>
        </p:nvSpPr>
        <p:spPr>
          <a:xfrm>
            <a:off x="6126480" y="980000"/>
            <a:ext cx="2560200" cy="54900"/>
          </a:xfrm>
          <a:prstGeom prst="rect">
            <a:avLst/>
          </a:prstGeom>
          <a:solidFill>
            <a:srgbClr val="002145"/>
          </a:solidFill>
          <a:ln cap="flat" cmpd="sng" w="9525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g3d93e1c57a8_3_327"/>
          <p:cNvSpPr/>
          <p:nvPr/>
        </p:nvSpPr>
        <p:spPr>
          <a:xfrm>
            <a:off x="6186755" y="1090000"/>
            <a:ext cx="24402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002145"/>
                </a:solidFill>
                <a:latin typeface="Arial"/>
                <a:ea typeface="Arial"/>
                <a:cs typeface="Arial"/>
                <a:sym typeface="Arial"/>
              </a:rPr>
              <a:t>−0.26</a:t>
            </a:r>
            <a:endParaRPr/>
          </a:p>
        </p:txBody>
      </p:sp>
      <p:sp>
        <p:nvSpPr>
          <p:cNvPr id="696" name="Google Shape;696;g3d93e1c57a8_3_327"/>
          <p:cNvSpPr/>
          <p:nvPr/>
        </p:nvSpPr>
        <p:spPr>
          <a:xfrm>
            <a:off x="6217920" y="1790000"/>
            <a:ext cx="23775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Naive baseline R² on test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(always predict mean)</a:t>
            </a:r>
            <a:endParaRPr/>
          </a:p>
        </p:txBody>
      </p:sp>
      <p:sp>
        <p:nvSpPr>
          <p:cNvPr id="697" name="Google Shape;697;g3d93e1c57a8_3_327"/>
          <p:cNvSpPr/>
          <p:nvPr/>
        </p:nvSpPr>
        <p:spPr>
          <a:xfrm>
            <a:off x="457200" y="2550000"/>
            <a:ext cx="8229600" cy="2000100"/>
          </a:xfrm>
          <a:prstGeom prst="rect">
            <a:avLst/>
          </a:prstGeom>
          <a:solidFill>
            <a:srgbClr val="D4EDE2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3d93e1c57a8_3_327"/>
          <p:cNvSpPr/>
          <p:nvPr/>
        </p:nvSpPr>
        <p:spPr>
          <a:xfrm>
            <a:off x="457200" y="2550000"/>
            <a:ext cx="91500" cy="2000100"/>
          </a:xfrm>
          <a:prstGeom prst="rect">
            <a:avLst/>
          </a:prstGeom>
          <a:solidFill>
            <a:srgbClr val="005C3B"/>
          </a:solidFill>
          <a:ln cap="flat" cmpd="sng" w="95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g3d93e1c57a8_3_327"/>
          <p:cNvSpPr/>
          <p:nvPr/>
        </p:nvSpPr>
        <p:spPr>
          <a:xfrm>
            <a:off x="658368" y="2600000"/>
            <a:ext cx="7818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  <a:latin typeface="Arial"/>
                <a:ea typeface="Arial"/>
                <a:cs typeface="Arial"/>
                <a:sym typeface="Arial"/>
              </a:rPr>
              <a:t>What These Numbers Mean</a:t>
            </a:r>
            <a:endParaRPr/>
          </a:p>
        </p:txBody>
      </p:sp>
      <p:sp>
        <p:nvSpPr>
          <p:cNvPr id="700" name="Google Shape;700;g3d93e1c57a8_3_327"/>
          <p:cNvSpPr/>
          <p:nvPr/>
        </p:nvSpPr>
        <p:spPr>
          <a:xfrm>
            <a:off x="658375" y="2950000"/>
            <a:ext cx="7818000" cy="1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Spearman rho = 0.70 means the model correctly rank-orders companies -- the ghost score uses relative ranking, not exact counts, so this is the metric that matters most</a:t>
            </a:r>
            <a:endParaRPr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Naive baseline R2 = -0.26: always predicting the training mean performs worse than random on test -- the model captures genuine firm-level signal</a:t>
            </a:r>
            <a:endParaRPr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Calibration is strong in deciles 1-9 (actual/predicted 0.77-1.11x); top-decile large hirers under-predicted by ~24% -- acceptable since the ghost score targets low-fill firms</a:t>
            </a:r>
            <a:endParaRPr/>
          </a:p>
        </p:txBody>
      </p:sp>
      <p:sp>
        <p:nvSpPr>
          <p:cNvPr id="701" name="Google Shape;701;g3d93e1c57a8_3_327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3D28"/>
          </a:solidFill>
          <a:ln cap="flat" cmpd="sng" w="9525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g3d93e1c57a8_3_327"/>
          <p:cNvSpPr/>
          <p:nvPr/>
        </p:nvSpPr>
        <p:spPr>
          <a:xfrm>
            <a:off x="365760" y="5001768"/>
            <a:ext cx="8412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d93e1c57a8_3_414"/>
          <p:cNvSpPr/>
          <p:nvPr/>
        </p:nvSpPr>
        <p:spPr>
          <a:xfrm>
            <a:off x="0" y="0"/>
            <a:ext cx="9144000" cy="82200"/>
          </a:xfrm>
          <a:prstGeom prst="rect">
            <a:avLst/>
          </a:prstGeom>
          <a:solidFill>
            <a:srgbClr val="005C3B"/>
          </a:solidFill>
          <a:ln cap="flat" cmpd="sng" w="95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g3d93e1c57a8_3_414"/>
          <p:cNvSpPr/>
          <p:nvPr/>
        </p:nvSpPr>
        <p:spPr>
          <a:xfrm>
            <a:off x="457200" y="228623"/>
            <a:ext cx="8046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  <a:latin typeface="Arial"/>
                <a:ea typeface="Arial"/>
                <a:cs typeface="Arial"/>
                <a:sym typeface="Arial"/>
              </a:rPr>
              <a:t>COMPANY CASE STUDIES</a:t>
            </a:r>
            <a:endParaRPr/>
          </a:p>
        </p:txBody>
      </p:sp>
      <p:sp>
        <p:nvSpPr>
          <p:cNvPr id="709" name="Google Shape;709;g3d93e1c57a8_3_414"/>
          <p:cNvSpPr/>
          <p:nvPr/>
        </p:nvSpPr>
        <p:spPr>
          <a:xfrm>
            <a:off x="457200" y="620000"/>
            <a:ext cx="80466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E6057"/>
                </a:solidFill>
                <a:latin typeface="Arial"/>
                <a:ea typeface="Arial"/>
                <a:cs typeface="Arial"/>
                <a:sym typeface="Arial"/>
              </a:rPr>
              <a:t>Three firms that illustrate the signal - two confirmed ghosts and one instructive model miss</a:t>
            </a:r>
            <a:endParaRPr/>
          </a:p>
        </p:txBody>
      </p:sp>
      <p:sp>
        <p:nvSpPr>
          <p:cNvPr id="710" name="Google Shape;710;g3d93e1c57a8_3_414"/>
          <p:cNvSpPr/>
          <p:nvPr/>
        </p:nvSpPr>
        <p:spPr>
          <a:xfrm>
            <a:off x="457200" y="960000"/>
            <a:ext cx="2560200" cy="3699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g3d93e1c57a8_3_414"/>
          <p:cNvSpPr/>
          <p:nvPr/>
        </p:nvSpPr>
        <p:spPr>
          <a:xfrm>
            <a:off x="457200" y="960000"/>
            <a:ext cx="2560200" cy="54900"/>
          </a:xfrm>
          <a:prstGeom prst="rect">
            <a:avLst/>
          </a:prstGeom>
          <a:solidFill>
            <a:srgbClr val="AD1520"/>
          </a:solidFill>
          <a:ln cap="flat" cmpd="sng" w="9525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g3d93e1c57a8_3_414"/>
          <p:cNvSpPr/>
          <p:nvPr/>
        </p:nvSpPr>
        <p:spPr>
          <a:xfrm>
            <a:off x="548640" y="1040000"/>
            <a:ext cx="2377500" cy="3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D1520"/>
                </a:solidFill>
                <a:latin typeface="Arial"/>
                <a:ea typeface="Arial"/>
                <a:cs typeface="Arial"/>
                <a:sym typeface="Arial"/>
              </a:rPr>
              <a:t>AutoZone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AZO  |  Ghost Confirmed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Avg postings/quarter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AD1520"/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Actual fill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AD1520"/>
                </a:solidFill>
                <a:latin typeface="Arial"/>
                <a:ea typeface="Arial"/>
                <a:cs typeface="Arial"/>
                <a:sym typeface="Arial"/>
              </a:rPr>
              <a:t>3.9%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Predicted fill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AD1520"/>
                </a:solidFill>
                <a:latin typeface="Arial"/>
                <a:ea typeface="Arial"/>
                <a:cs typeface="Arial"/>
                <a:sym typeface="Arial"/>
              </a:rPr>
              <a:t>3.7%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E6057"/>
                </a:solidFill>
                <a:latin typeface="Arial"/>
                <a:ea typeface="Arial"/>
                <a:cs typeface="Arial"/>
                <a:sym typeface="Arial"/>
              </a:rPr>
              <a:t>Model and empirical fill rates agree perfectly. Flagged ghost all 20 quarters. Strongest validation case.</a:t>
            </a:r>
            <a:endParaRPr/>
          </a:p>
        </p:txBody>
      </p:sp>
      <p:sp>
        <p:nvSpPr>
          <p:cNvPr id="713" name="Google Shape;713;g3d93e1c57a8_3_414"/>
          <p:cNvSpPr/>
          <p:nvPr/>
        </p:nvSpPr>
        <p:spPr>
          <a:xfrm>
            <a:off x="3291840" y="960000"/>
            <a:ext cx="2560200" cy="3699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g3d93e1c57a8_3_414"/>
          <p:cNvSpPr/>
          <p:nvPr/>
        </p:nvSpPr>
        <p:spPr>
          <a:xfrm>
            <a:off x="3291840" y="960000"/>
            <a:ext cx="2560200" cy="54900"/>
          </a:xfrm>
          <a:prstGeom prst="rect">
            <a:avLst/>
          </a:prstGeom>
          <a:solidFill>
            <a:srgbClr val="1F6095"/>
          </a:solidFill>
          <a:ln cap="flat" cmpd="sng" w="9525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g3d93e1c57a8_3_414"/>
          <p:cNvSpPr/>
          <p:nvPr/>
        </p:nvSpPr>
        <p:spPr>
          <a:xfrm>
            <a:off x="3383280" y="1040000"/>
            <a:ext cx="2377500" cy="3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6095"/>
                </a:solidFill>
                <a:latin typeface="Arial"/>
                <a:ea typeface="Arial"/>
                <a:cs typeface="Arial"/>
                <a:sym typeface="Arial"/>
              </a:rPr>
              <a:t>H&amp;R Block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HRB  |  Highest Ghost Score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Ghost score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6095"/>
                </a:solidFill>
                <a:latin typeface="Arial"/>
                <a:ea typeface="Arial"/>
                <a:cs typeface="Arial"/>
                <a:sym typeface="Arial"/>
              </a:rPr>
              <a:t>0.131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Quarters flagged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6095"/>
                </a:solidFill>
                <a:latin typeface="Arial"/>
                <a:ea typeface="Arial"/>
                <a:cs typeface="Arial"/>
                <a:sym typeface="Arial"/>
              </a:rPr>
              <a:t>21 / 21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Avg postings/quarter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6095"/>
                </a:solidFill>
                <a:latin typeface="Arial"/>
                <a:ea typeface="Arial"/>
                <a:cs typeface="Arial"/>
                <a:sym typeface="Arial"/>
              </a:rPr>
              <a:t>105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E6057"/>
                </a:solidFill>
                <a:latin typeface="Arial"/>
                <a:ea typeface="Arial"/>
                <a:cs typeface="Arial"/>
                <a:sym typeface="Arial"/>
              </a:rPr>
              <a:t>Persistent structural ghost. Posts heavily pre-tax season but doesn't convert. Flagged every quarter in dataset.</a:t>
            </a:r>
            <a:endParaRPr/>
          </a:p>
        </p:txBody>
      </p:sp>
      <p:sp>
        <p:nvSpPr>
          <p:cNvPr id="716" name="Google Shape;716;g3d93e1c57a8_3_414"/>
          <p:cNvSpPr/>
          <p:nvPr/>
        </p:nvSpPr>
        <p:spPr>
          <a:xfrm>
            <a:off x="6126480" y="960000"/>
            <a:ext cx="2560200" cy="3699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4E605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g3d93e1c57a8_3_414"/>
          <p:cNvSpPr/>
          <p:nvPr/>
        </p:nvSpPr>
        <p:spPr>
          <a:xfrm>
            <a:off x="6126480" y="960000"/>
            <a:ext cx="2560200" cy="54900"/>
          </a:xfrm>
          <a:prstGeom prst="rect">
            <a:avLst/>
          </a:prstGeom>
          <a:solidFill>
            <a:srgbClr val="4E6057"/>
          </a:solidFill>
          <a:ln cap="flat" cmpd="sng" w="9525">
            <a:solidFill>
              <a:srgbClr val="4E6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g3d93e1c57a8_3_414"/>
          <p:cNvSpPr/>
          <p:nvPr/>
        </p:nvSpPr>
        <p:spPr>
          <a:xfrm>
            <a:off x="6217920" y="1040000"/>
            <a:ext cx="2377500" cy="3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E6057"/>
                </a:solidFill>
                <a:latin typeface="Arial"/>
                <a:ea typeface="Arial"/>
                <a:cs typeface="Arial"/>
                <a:sym typeface="Arial"/>
              </a:rPr>
              <a:t>Amazon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AMZN  |  Instructive Miss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Predicted fill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E6057"/>
                </a:solidFill>
                <a:latin typeface="Arial"/>
                <a:ea typeface="Arial"/>
                <a:cs typeface="Arial"/>
                <a:sym typeface="Arial"/>
              </a:rPr>
              <a:t>0.47x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Actual fill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E6057"/>
                </a:solidFill>
                <a:latin typeface="Arial"/>
                <a:ea typeface="Arial"/>
                <a:cs typeface="Arial"/>
                <a:sym typeface="Arial"/>
              </a:rPr>
              <a:t>1.11x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Avg postings/quarter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E6057"/>
                </a:solidFill>
                <a:latin typeface="Arial"/>
                <a:ea typeface="Arial"/>
                <a:cs typeface="Arial"/>
                <a:sym typeface="Arial"/>
              </a:rPr>
              <a:t>211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E6057"/>
                </a:solidFill>
                <a:latin typeface="Arial"/>
                <a:ea typeface="Arial"/>
                <a:cs typeface="Arial"/>
                <a:sym typeface="Arial"/>
              </a:rPr>
              <a:t>Model under-predicted by 2.4x. Hiring surges driven by strategic decisions not visible in posting patterns alone.</a:t>
            </a:r>
            <a:endParaRPr/>
          </a:p>
        </p:txBody>
      </p:sp>
      <p:sp>
        <p:nvSpPr>
          <p:cNvPr id="719" name="Google Shape;719;g3d93e1c57a8_3_414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3D28"/>
          </a:solidFill>
          <a:ln cap="flat" cmpd="sng" w="9525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g3d93e1c57a8_3_414"/>
          <p:cNvSpPr/>
          <p:nvPr/>
        </p:nvSpPr>
        <p:spPr>
          <a:xfrm>
            <a:off x="365760" y="5001768"/>
            <a:ext cx="8412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0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LIMITATIONS &amp; FAILURE MODES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728" name="Google Shape;728;p20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Honest assessment: what we can and cannot claim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729" name="Google Shape;729;p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0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731" name="Google Shape;731;p20"/>
          <p:cNvSpPr/>
          <p:nvPr/>
        </p:nvSpPr>
        <p:spPr>
          <a:xfrm>
            <a:off x="457200" y="960120"/>
            <a:ext cx="411480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0"/>
          <p:cNvSpPr/>
          <p:nvPr/>
        </p:nvSpPr>
        <p:spPr>
          <a:xfrm>
            <a:off x="457200" y="960120"/>
            <a:ext cx="4114800" cy="54864"/>
          </a:xfrm>
          <a:prstGeom prst="rect">
            <a:avLst/>
          </a:prstGeom>
          <a:solidFill>
            <a:srgbClr val="9A6F00"/>
          </a:solidFill>
          <a:ln cap="flat" cmpd="sng" w="1270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0"/>
          <p:cNvSpPr/>
          <p:nvPr/>
        </p:nvSpPr>
        <p:spPr>
          <a:xfrm>
            <a:off x="594360" y="105156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9A6F00"/>
                </a:solidFill>
              </a:rPr>
              <a:t>Hire Proxy Noise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3474720" y="10515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9A6F00"/>
                </a:solidFill>
              </a:rPr>
              <a:t>Severity: Medium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594360" y="1344168"/>
            <a:ext cx="38404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LinkedIn profile start dates undercount actual hires — profiles are delayed, especially post-layoff. All firms appear more ghost-like in absolute terms. Relative rankings are more reliable than absolute scores.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736" name="Google Shape;736;p20"/>
          <p:cNvSpPr/>
          <p:nvPr/>
        </p:nvSpPr>
        <p:spPr>
          <a:xfrm>
            <a:off x="4754880" y="960120"/>
            <a:ext cx="411480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0"/>
          <p:cNvSpPr/>
          <p:nvPr/>
        </p:nvSpPr>
        <p:spPr>
          <a:xfrm>
            <a:off x="4754880" y="960120"/>
            <a:ext cx="4114800" cy="54864"/>
          </a:xfrm>
          <a:prstGeom prst="rect">
            <a:avLst/>
          </a:prstGeom>
          <a:solidFill>
            <a:srgbClr val="9A6F00"/>
          </a:solidFill>
          <a:ln cap="flat" cmpd="sng" w="1270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0"/>
          <p:cNvSpPr/>
          <p:nvPr/>
        </p:nvSpPr>
        <p:spPr>
          <a:xfrm>
            <a:off x="4892040" y="105156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9A6F00"/>
                </a:solidFill>
              </a:rPr>
              <a:t>Survivorship Bias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739" name="Google Shape;739;p20"/>
          <p:cNvSpPr/>
          <p:nvPr/>
        </p:nvSpPr>
        <p:spPr>
          <a:xfrm>
            <a:off x="7772400" y="10515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9A6F00"/>
                </a:solidFill>
              </a:rPr>
              <a:t>Severity: Medium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740" name="Google Shape;740;p20"/>
          <p:cNvSpPr/>
          <p:nvPr/>
        </p:nvSpPr>
        <p:spPr>
          <a:xfrm>
            <a:off x="4892040" y="1344168"/>
            <a:ext cx="38404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Only firms posting on Revelio-scraped platforms are visible. Private-channel hirers and referral-heavy firms are systematically excluded, biasing our ghost rate estimates.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741" name="Google Shape;741;p20"/>
          <p:cNvSpPr/>
          <p:nvPr/>
        </p:nvSpPr>
        <p:spPr>
          <a:xfrm>
            <a:off x="457200" y="2258568"/>
            <a:ext cx="411480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0"/>
          <p:cNvSpPr/>
          <p:nvPr/>
        </p:nvSpPr>
        <p:spPr>
          <a:xfrm>
            <a:off x="457200" y="2258568"/>
            <a:ext cx="4114800" cy="54864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0"/>
          <p:cNvSpPr/>
          <p:nvPr/>
        </p:nvSpPr>
        <p:spPr>
          <a:xfrm>
            <a:off x="594360" y="235000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5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07A52"/>
                </a:solidFill>
              </a:rPr>
              <a:t>Look-Ahead Caution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744" name="Google Shape;744;p20"/>
          <p:cNvSpPr/>
          <p:nvPr/>
        </p:nvSpPr>
        <p:spPr>
          <a:xfrm>
            <a:off x="3474720" y="235000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A52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007A52"/>
                </a:solidFill>
              </a:rPr>
              <a:t>Severity: Low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745" name="Google Shape;745;p20"/>
          <p:cNvSpPr/>
          <p:nvPr/>
        </p:nvSpPr>
        <p:spPr>
          <a:xfrm>
            <a:off x="594360" y="2642616"/>
            <a:ext cx="38404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Walk-forward backtest uses strict Q+1 prediction with no data leakage. Ghost score percentile ranking is recalculated quarterly in practice.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746" name="Google Shape;746;p20"/>
          <p:cNvSpPr/>
          <p:nvPr/>
        </p:nvSpPr>
        <p:spPr>
          <a:xfrm>
            <a:off x="4754880" y="2258568"/>
            <a:ext cx="411480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0"/>
          <p:cNvSpPr/>
          <p:nvPr/>
        </p:nvSpPr>
        <p:spPr>
          <a:xfrm>
            <a:off x="4754880" y="2258568"/>
            <a:ext cx="4114800" cy="54864"/>
          </a:xfrm>
          <a:prstGeom prst="rect">
            <a:avLst/>
          </a:prstGeom>
          <a:solidFill>
            <a:srgbClr val="9A6F00"/>
          </a:solidFill>
          <a:ln cap="flat" cmpd="sng" w="1270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0"/>
          <p:cNvSpPr/>
          <p:nvPr/>
        </p:nvSpPr>
        <p:spPr>
          <a:xfrm>
            <a:off x="4892040" y="235000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9A6F00"/>
                </a:solidFill>
              </a:rPr>
              <a:t>Market Regime Dependence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749" name="Google Shape;749;p20"/>
          <p:cNvSpPr/>
          <p:nvPr/>
        </p:nvSpPr>
        <p:spPr>
          <a:xfrm>
            <a:off x="7772400" y="235000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9A6F00"/>
                </a:solidFill>
              </a:rPr>
              <a:t>Severity: Medium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750" name="Google Shape;750;p20"/>
          <p:cNvSpPr/>
          <p:nvPr/>
        </p:nvSpPr>
        <p:spPr>
          <a:xfrm>
            <a:off x="4892040" y="2642616"/>
            <a:ext cx="38404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Our backtest covers 2019–2026 — predominantly a bull-market period. The behavioural attention premium (H2) is likely stronger in risk-on environments. Bear-market performance is untested.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751" name="Google Shape;751;p20"/>
          <p:cNvSpPr/>
          <p:nvPr/>
        </p:nvSpPr>
        <p:spPr>
          <a:xfrm>
            <a:off x="457200" y="3557016"/>
            <a:ext cx="411480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0"/>
          <p:cNvSpPr/>
          <p:nvPr/>
        </p:nvSpPr>
        <p:spPr>
          <a:xfrm>
            <a:off x="457200" y="3557016"/>
            <a:ext cx="4114800" cy="54864"/>
          </a:xfrm>
          <a:prstGeom prst="rect">
            <a:avLst/>
          </a:prstGeom>
          <a:solidFill>
            <a:srgbClr val="AD1520"/>
          </a:solidFill>
          <a:ln cap="flat" cmpd="sng" w="1270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0"/>
          <p:cNvSpPr/>
          <p:nvPr/>
        </p:nvSpPr>
        <p:spPr>
          <a:xfrm>
            <a:off x="594360" y="3648456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152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AD1520"/>
                </a:solidFill>
              </a:rPr>
              <a:t>Short Leg Failure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754" name="Google Shape;754;p20"/>
          <p:cNvSpPr/>
          <p:nvPr/>
        </p:nvSpPr>
        <p:spPr>
          <a:xfrm>
            <a:off x="3474720" y="364845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D1520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AD1520"/>
                </a:solidFill>
              </a:rPr>
              <a:t>Severity: High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755" name="Google Shape;755;p20"/>
          <p:cNvSpPr/>
          <p:nvPr/>
        </p:nvSpPr>
        <p:spPr>
          <a:xfrm>
            <a:off x="594360" y="3941064"/>
            <a:ext cx="38404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Long/Short produces −22.1% return, Sharpe −0.32, max drawdown −43.4%. Market-wide upward drift overwhelms any fundamental short signal — shorting ghost firms requires factor-neutral construction.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756" name="Google Shape;756;p20"/>
          <p:cNvSpPr/>
          <p:nvPr/>
        </p:nvSpPr>
        <p:spPr>
          <a:xfrm>
            <a:off x="4754880" y="3557016"/>
            <a:ext cx="411480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0"/>
          <p:cNvSpPr/>
          <p:nvPr/>
        </p:nvSpPr>
        <p:spPr>
          <a:xfrm>
            <a:off x="4754880" y="3557016"/>
            <a:ext cx="4114800" cy="54864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0"/>
          <p:cNvSpPr/>
          <p:nvPr/>
        </p:nvSpPr>
        <p:spPr>
          <a:xfrm>
            <a:off x="4892040" y="3648456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5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07A52"/>
                </a:solidFill>
              </a:rPr>
              <a:t>Temporal Pooling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759" name="Google Shape;759;p20"/>
          <p:cNvSpPr/>
          <p:nvPr/>
        </p:nvSpPr>
        <p:spPr>
          <a:xfrm>
            <a:off x="7772400" y="364845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A52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007A52"/>
                </a:solidFill>
              </a:rPr>
              <a:t>Severity: Low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760" name="Google Shape;760;p20"/>
          <p:cNvSpPr/>
          <p:nvPr/>
        </p:nvSpPr>
        <p:spPr>
          <a:xfrm>
            <a:off x="4892040" y="3941064"/>
            <a:ext cx="38404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Ghost behaviour is cyclical — firms that ghost in one quarter but genuinely hire the next get averaged. Quarter-specific scores address this, but are noisier for firms with &lt;5 postings per quarter.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D28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1"/>
          <p:cNvSpPr/>
          <p:nvPr/>
        </p:nvSpPr>
        <p:spPr>
          <a:xfrm>
            <a:off x="457200" y="457200"/>
            <a:ext cx="1828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8000"/>
              <a:buFont typeface="Times New Roman"/>
              <a:buNone/>
            </a:pPr>
            <a:r>
              <a:rPr b="1" i="0" lang="en-US" sz="8000" u="none" cap="none" strike="noStrike">
                <a:solidFill>
                  <a:srgbClr val="005C3B"/>
                </a:solidFill>
              </a:rPr>
              <a:t>05</a:t>
            </a:r>
            <a:endParaRPr i="0" sz="8000" u="none" cap="none" strike="noStrike">
              <a:solidFill>
                <a:schemeClr val="dk1"/>
              </a:solidFill>
            </a:endParaRPr>
          </a:p>
        </p:txBody>
      </p:sp>
      <p:sp>
        <p:nvSpPr>
          <p:cNvPr id="768" name="Google Shape;768;p21"/>
          <p:cNvSpPr/>
          <p:nvPr/>
        </p:nvSpPr>
        <p:spPr>
          <a:xfrm>
            <a:off x="457200" y="192024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Implications for Financial</a:t>
            </a:r>
            <a:endParaRPr i="0" sz="36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Decision-Making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769" name="Google Shape;769;p21"/>
          <p:cNvCxnSpPr/>
          <p:nvPr/>
        </p:nvCxnSpPr>
        <p:spPr>
          <a:xfrm>
            <a:off x="457200" y="3090672"/>
            <a:ext cx="7772400" cy="0"/>
          </a:xfrm>
          <a:prstGeom prst="straightConnector1">
            <a:avLst/>
          </a:prstGeom>
          <a:noFill/>
          <a:ln cap="flat" cmpd="sng" w="152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0" name="Google Shape;770;p21"/>
          <p:cNvSpPr/>
          <p:nvPr/>
        </p:nvSpPr>
        <p:spPr>
          <a:xfrm>
            <a:off x="457200" y="321868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400"/>
              <a:buFont typeface="Cambria"/>
              <a:buNone/>
            </a:pPr>
            <a:r>
              <a:rPr i="0" lang="en-US" sz="1400" u="none" cap="none" strike="noStrike">
                <a:solidFill>
                  <a:srgbClr val="7BAF96"/>
                </a:solidFill>
              </a:rPr>
              <a:t>Trading signals · institutional relevance · next steps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771" name="Google Shape;771;p21"/>
          <p:cNvSpPr/>
          <p:nvPr/>
        </p:nvSpPr>
        <p:spPr>
          <a:xfrm>
            <a:off x="5029200" y="4663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2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IMPLICATIONS &amp; NEXT STEPS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779" name="Google Shape;779;p22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What our results mean for investors, researchers, and practitioners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780" name="Google Shape;780;p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2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782" name="Google Shape;782;p22"/>
          <p:cNvSpPr/>
          <p:nvPr/>
        </p:nvSpPr>
        <p:spPr>
          <a:xfrm>
            <a:off x="457200" y="9601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5C3B"/>
                </a:solidFill>
              </a:rPr>
              <a:t>For Investors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783" name="Google Shape;783;p22"/>
          <p:cNvSpPr/>
          <p:nvPr/>
        </p:nvSpPr>
        <p:spPr>
          <a:xfrm>
            <a:off x="457200" y="1307592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2"/>
          <p:cNvSpPr/>
          <p:nvPr/>
        </p:nvSpPr>
        <p:spPr>
          <a:xfrm>
            <a:off x="457200" y="1307592"/>
            <a:ext cx="91440" cy="795528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2"/>
          <p:cNvSpPr/>
          <p:nvPr/>
        </p:nvSpPr>
        <p:spPr>
          <a:xfrm>
            <a:off x="658368" y="13716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5C3B"/>
                </a:solidFill>
              </a:rPr>
              <a:t>Ghost Intensity as Factor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786" name="Google Shape;786;p22"/>
          <p:cNvSpPr/>
          <p:nvPr/>
        </p:nvSpPr>
        <p:spPr>
          <a:xfrm>
            <a:off x="658368" y="165506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Add ghost score as a signal in multi-factor models; complements size, value, and momentum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787" name="Google Shape;787;p22"/>
          <p:cNvSpPr/>
          <p:nvPr/>
        </p:nvSpPr>
        <p:spPr>
          <a:xfrm>
            <a:off x="457200" y="2194560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2"/>
          <p:cNvSpPr/>
          <p:nvPr/>
        </p:nvSpPr>
        <p:spPr>
          <a:xfrm>
            <a:off x="457200" y="2194560"/>
            <a:ext cx="91440" cy="795528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2"/>
          <p:cNvSpPr/>
          <p:nvPr/>
        </p:nvSpPr>
        <p:spPr>
          <a:xfrm>
            <a:off x="658368" y="22585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5C3B"/>
                </a:solidFill>
              </a:rPr>
              <a:t>Long-Bias Strategies Work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790" name="Google Shape;790;p22"/>
          <p:cNvSpPr/>
          <p:nvPr/>
        </p:nvSpPr>
        <p:spPr>
          <a:xfrm>
            <a:off x="658368" y="254203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Ghost Barbell (+216.9%, Sharpe 0.84) beats SPY (+180.1%, 0.82); robust across 5/10/25% concentration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791" name="Google Shape;791;p22"/>
          <p:cNvSpPr/>
          <p:nvPr/>
        </p:nvSpPr>
        <p:spPr>
          <a:xfrm>
            <a:off x="457200" y="3081528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2"/>
          <p:cNvSpPr/>
          <p:nvPr/>
        </p:nvSpPr>
        <p:spPr>
          <a:xfrm>
            <a:off x="457200" y="3081528"/>
            <a:ext cx="91440" cy="795528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2"/>
          <p:cNvSpPr/>
          <p:nvPr/>
        </p:nvSpPr>
        <p:spPr>
          <a:xfrm>
            <a:off x="658368" y="314553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5C3B"/>
                </a:solidFill>
              </a:rPr>
              <a:t>Avoid Naked Shorts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794" name="Google Shape;794;p22"/>
          <p:cNvSpPr/>
          <p:nvPr/>
        </p:nvSpPr>
        <p:spPr>
          <a:xfrm>
            <a:off x="658368" y="34290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Short-only strategies are punished by market drift; use only within factor-neutral portfolios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795" name="Google Shape;795;p22"/>
          <p:cNvSpPr/>
          <p:nvPr/>
        </p:nvSpPr>
        <p:spPr>
          <a:xfrm>
            <a:off x="457200" y="3968496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2"/>
          <p:cNvSpPr/>
          <p:nvPr/>
        </p:nvSpPr>
        <p:spPr>
          <a:xfrm>
            <a:off x="457200" y="3968496"/>
            <a:ext cx="91440" cy="795528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2"/>
          <p:cNvSpPr/>
          <p:nvPr/>
        </p:nvSpPr>
        <p:spPr>
          <a:xfrm>
            <a:off x="658368" y="40325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5C3B"/>
                </a:solidFill>
              </a:rPr>
              <a:t>Monitoring Use Case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798" name="Google Shape;798;p22"/>
          <p:cNvSpPr/>
          <p:nvPr/>
        </p:nvSpPr>
        <p:spPr>
          <a:xfrm>
            <a:off x="658368" y="431596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Ghost intensity changes can flag potential earnings misses before analyst consensus updates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799" name="Google Shape;799;p22"/>
          <p:cNvSpPr/>
          <p:nvPr/>
        </p:nvSpPr>
        <p:spPr>
          <a:xfrm>
            <a:off x="4754880" y="9601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2145"/>
                </a:solidFill>
              </a:rPr>
              <a:t>Next Steps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800" name="Google Shape;800;p22"/>
          <p:cNvSpPr/>
          <p:nvPr/>
        </p:nvSpPr>
        <p:spPr>
          <a:xfrm>
            <a:off x="4754880" y="1307592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2"/>
          <p:cNvSpPr/>
          <p:nvPr/>
        </p:nvSpPr>
        <p:spPr>
          <a:xfrm>
            <a:off x="4754880" y="1307592"/>
            <a:ext cx="91440" cy="795528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22"/>
          <p:cNvSpPr/>
          <p:nvPr/>
        </p:nvSpPr>
        <p:spPr>
          <a:xfrm>
            <a:off x="4956048" y="13716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2145"/>
                </a:solidFill>
              </a:rPr>
              <a:t>Earnings Surprise Test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03" name="Google Shape;803;p22"/>
          <p:cNvSpPr/>
          <p:nvPr/>
        </p:nvSpPr>
        <p:spPr>
          <a:xfrm>
            <a:off x="4956048" y="165506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Regress analyst forecast errors on ghost intensity — test the earnings mechanism directly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804" name="Google Shape;804;p22"/>
          <p:cNvSpPr/>
          <p:nvPr/>
        </p:nvSpPr>
        <p:spPr>
          <a:xfrm>
            <a:off x="4754880" y="2194560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2"/>
          <p:cNvSpPr/>
          <p:nvPr/>
        </p:nvSpPr>
        <p:spPr>
          <a:xfrm>
            <a:off x="4754880" y="2194560"/>
            <a:ext cx="91440" cy="795528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2"/>
          <p:cNvSpPr/>
          <p:nvPr/>
        </p:nvSpPr>
        <p:spPr>
          <a:xfrm>
            <a:off x="4956048" y="22585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2145"/>
                </a:solidFill>
              </a:rPr>
              <a:t>Fama-MacBeth Regressions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07" name="Google Shape;807;p22"/>
          <p:cNvSpPr/>
          <p:nvPr/>
        </p:nvSpPr>
        <p:spPr>
          <a:xfrm>
            <a:off x="4956048" y="254203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Control for size, value, momentum; isolate the incremental alpha of ghost intensity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808" name="Google Shape;808;p22"/>
          <p:cNvSpPr/>
          <p:nvPr/>
        </p:nvSpPr>
        <p:spPr>
          <a:xfrm>
            <a:off x="4754880" y="3081528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2"/>
          <p:cNvSpPr/>
          <p:nvPr/>
        </p:nvSpPr>
        <p:spPr>
          <a:xfrm>
            <a:off x="4754880" y="3081528"/>
            <a:ext cx="91440" cy="795528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2"/>
          <p:cNvSpPr/>
          <p:nvPr/>
        </p:nvSpPr>
        <p:spPr>
          <a:xfrm>
            <a:off x="4956048" y="314553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2145"/>
                </a:solidFill>
              </a:rPr>
              <a:t>Factor-Neutral L/S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11" name="Google Shape;811;p22"/>
          <p:cNvSpPr/>
          <p:nvPr/>
        </p:nvSpPr>
        <p:spPr>
          <a:xfrm>
            <a:off x="4956048" y="34290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Construct long-short with hedged market and factor exposure to make the short leg viable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812" name="Google Shape;812;p22"/>
          <p:cNvSpPr/>
          <p:nvPr/>
        </p:nvSpPr>
        <p:spPr>
          <a:xfrm>
            <a:off x="4754880" y="3968496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2"/>
          <p:cNvSpPr/>
          <p:nvPr/>
        </p:nvSpPr>
        <p:spPr>
          <a:xfrm>
            <a:off x="4754880" y="3968496"/>
            <a:ext cx="91440" cy="795528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2"/>
          <p:cNvSpPr/>
          <p:nvPr/>
        </p:nvSpPr>
        <p:spPr>
          <a:xfrm>
            <a:off x="4956048" y="40325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2145"/>
                </a:solidFill>
              </a:rPr>
              <a:t>Real-Time Score API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15" name="Google Shape;815;p22"/>
          <p:cNvSpPr/>
          <p:nvPr/>
        </p:nvSpPr>
        <p:spPr>
          <a:xfrm>
            <a:off x="4956048" y="431596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Integrate with live Revelio data for dynamic portfolio rebalancing and alerting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D28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3"/>
          <p:cNvSpPr/>
          <p:nvPr/>
        </p:nvSpPr>
        <p:spPr>
          <a:xfrm>
            <a:off x="502920" y="50292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</a:rPr>
              <a:t>Thank You</a:t>
            </a:r>
            <a:endParaRPr i="0" sz="5200" u="none" cap="none" strike="noStrike">
              <a:solidFill>
                <a:schemeClr val="dk1"/>
              </a:solidFill>
            </a:endParaRPr>
          </a:p>
        </p:txBody>
      </p:sp>
      <p:sp>
        <p:nvSpPr>
          <p:cNvPr id="823" name="Google Shape;823;p23"/>
          <p:cNvSpPr/>
          <p:nvPr/>
        </p:nvSpPr>
        <p:spPr>
          <a:xfrm>
            <a:off x="502920" y="15727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2200"/>
              <a:buFont typeface="Cambria"/>
              <a:buNone/>
            </a:pPr>
            <a:r>
              <a:rPr i="0" lang="en-US" sz="2200" u="none" cap="none" strike="noStrike">
                <a:solidFill>
                  <a:srgbClr val="D4EDE2"/>
                </a:solidFill>
              </a:rPr>
              <a:t>Questions &amp; Discussion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824" name="Google Shape;824;p23"/>
          <p:cNvCxnSpPr/>
          <p:nvPr/>
        </p:nvCxnSpPr>
        <p:spPr>
          <a:xfrm>
            <a:off x="502920" y="2212848"/>
            <a:ext cx="8138160" cy="0"/>
          </a:xfrm>
          <a:prstGeom prst="straightConnector1">
            <a:avLst/>
          </a:prstGeom>
          <a:noFill/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5" name="Google Shape;825;p23"/>
          <p:cNvSpPr/>
          <p:nvPr/>
        </p:nvSpPr>
        <p:spPr>
          <a:xfrm>
            <a:off x="502920" y="2432304"/>
            <a:ext cx="91440" cy="34747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3"/>
          <p:cNvSpPr/>
          <p:nvPr/>
        </p:nvSpPr>
        <p:spPr>
          <a:xfrm>
            <a:off x="713232" y="243230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D4EDE2"/>
                </a:solidFill>
              </a:rPr>
              <a:t>Ghost Intensity Signal: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27" name="Google Shape;827;p23"/>
          <p:cNvSpPr/>
          <p:nvPr/>
        </p:nvSpPr>
        <p:spPr>
          <a:xfrm>
            <a:off x="2944368" y="2432304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100"/>
              <a:buFont typeface="Cambria"/>
              <a:buNone/>
            </a:pPr>
            <a:r>
              <a:rPr i="0" lang="en-US" sz="1100" u="none" cap="none" strike="noStrike">
                <a:solidFill>
                  <a:srgbClr val="7BAF96"/>
                </a:solidFill>
              </a:rPr>
              <a:t>XGBoost-predicted fill rate detects systematic non-hiring behaviour at the firm-quarter level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28" name="Google Shape;828;p23"/>
          <p:cNvSpPr/>
          <p:nvPr/>
        </p:nvSpPr>
        <p:spPr>
          <a:xfrm>
            <a:off x="502920" y="3026664"/>
            <a:ext cx="91440" cy="34747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3"/>
          <p:cNvSpPr/>
          <p:nvPr/>
        </p:nvSpPr>
        <p:spPr>
          <a:xfrm>
            <a:off x="713232" y="302666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D4EDE2"/>
                </a:solidFill>
              </a:rPr>
              <a:t>Walk-Forward Backtest: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30" name="Google Shape;830;p23"/>
          <p:cNvSpPr/>
          <p:nvPr/>
        </p:nvSpPr>
        <p:spPr>
          <a:xfrm>
            <a:off x="2944368" y="3026664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100"/>
              <a:buFont typeface="Cambria"/>
              <a:buNone/>
            </a:pPr>
            <a:r>
              <a:rPr i="0" lang="en-US" sz="1100" u="none" cap="none" strike="noStrike">
                <a:solidFill>
                  <a:srgbClr val="7BAF96"/>
                </a:solidFill>
              </a:rPr>
              <a:t>Ghost Barbell (+216.9%, Sharpe 0.84) and Long High Ghost (~220%) both beat SPY (+180.1%)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31" name="Google Shape;831;p23"/>
          <p:cNvSpPr/>
          <p:nvPr/>
        </p:nvSpPr>
        <p:spPr>
          <a:xfrm>
            <a:off x="502920" y="3621024"/>
            <a:ext cx="91440" cy="34747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3"/>
          <p:cNvSpPr/>
          <p:nvPr/>
        </p:nvSpPr>
        <p:spPr>
          <a:xfrm>
            <a:off x="713232" y="362102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D4EDE2"/>
                </a:solidFill>
              </a:rPr>
              <a:t>GMM Validation: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33" name="Google Shape;833;p23"/>
          <p:cNvSpPr/>
          <p:nvPr/>
        </p:nvSpPr>
        <p:spPr>
          <a:xfrm>
            <a:off x="2944368" y="3621024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100"/>
              <a:buFont typeface="Cambria"/>
              <a:buNone/>
            </a:pPr>
            <a:r>
              <a:rPr i="0" lang="en-US" sz="1100" u="none" cap="none" strike="noStrike">
                <a:solidFill>
                  <a:srgbClr val="7BAF96"/>
                </a:solidFill>
              </a:rPr>
              <a:t>k=7 BIC-optimal: clusters 3 &amp; 4 show 44–50% ghost rates; consistent across concentrations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34" name="Google Shape;834;p23"/>
          <p:cNvSpPr/>
          <p:nvPr/>
        </p:nvSpPr>
        <p:spPr>
          <a:xfrm>
            <a:off x="502920" y="4215384"/>
            <a:ext cx="91440" cy="34747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3"/>
          <p:cNvSpPr/>
          <p:nvPr/>
        </p:nvSpPr>
        <p:spPr>
          <a:xfrm>
            <a:off x="713232" y="421538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D4EDE2"/>
                </a:solidFill>
              </a:rPr>
              <a:t>Ghost Premium Explanation: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36" name="Google Shape;836;p23"/>
          <p:cNvSpPr/>
          <p:nvPr/>
        </p:nvSpPr>
        <p:spPr>
          <a:xfrm>
            <a:off x="2944368" y="4215384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100"/>
              <a:buFont typeface="Cambria"/>
              <a:buNone/>
            </a:pPr>
            <a:r>
              <a:rPr i="0" lang="en-US" sz="1100" u="none" cap="none" strike="noStrike">
                <a:solidFill>
                  <a:srgbClr val="7BAF96"/>
                </a:solidFill>
              </a:rPr>
              <a:t>H2 mechanism: attention premium + limits to arbitrage; H1 correction likely at 3–5 yr horizon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37" name="Google Shape;837;p23"/>
          <p:cNvSpPr/>
          <p:nvPr/>
        </p:nvSpPr>
        <p:spPr>
          <a:xfrm>
            <a:off x="5565670" y="109345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7BAF96"/>
                </a:solidFill>
              </a:rPr>
              <a:t>COMM 486I  ·  Group 6  ·  UBC Sauder School of Business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4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4"/>
          <p:cNvSpPr/>
          <p:nvPr/>
        </p:nvSpPr>
        <p:spPr>
          <a:xfrm>
            <a:off x="457200" y="15544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2145"/>
                </a:solidFill>
              </a:rPr>
              <a:t>APPENDIX A  —  XGBoost Feature Importance (Gain)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845" name="Google Shape;845;p24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4E6057"/>
                </a:solidFill>
              </a:rPr>
              <a:t>Information gain contributed by each feature across all splits. Complements SHAP mean |SHAP| analysis shown on slide 11.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846" name="Google Shape;8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868680"/>
            <a:ext cx="6949440" cy="3913632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4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5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5"/>
          <p:cNvSpPr/>
          <p:nvPr/>
        </p:nvSpPr>
        <p:spPr>
          <a:xfrm>
            <a:off x="457200" y="15544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2145"/>
                </a:solidFill>
              </a:rPr>
              <a:t>APPENDIX B  —  SHAP Feature Importance (Mean |SHAP|)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856" name="Google Shape;856;p25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4E6057"/>
                </a:solidFill>
              </a:rPr>
              <a:t>Mean absolute SHAP values on 886 test samples. Summarises magnitude ranking without directional information — see slide 11 beeswarm for full direction and distribution.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857" name="Google Shape;8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868680"/>
            <a:ext cx="6949440" cy="3913632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5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2026-04-24T20:44:45Z</dcterms:created>
  <dc:creator>Group 6 — COMM 486I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1CB3B137F6CE4AF63DD6EB69D6F848FA_42</vt:lpwstr>
  </property>
  <property fmtid="{D5CDD505-2E9C-101B-9397-08002B2CF9AE}" pid="3" name="KSOProductBuildVer">
    <vt:lpwstr>1033-6.11.0.8885</vt:lpwstr>
  </property>
</Properties>
</file>